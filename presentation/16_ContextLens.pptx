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Questions</c:v>
                </c:pt>
              </c:strCache>
            </c:strRef>
          </c:tx>
          <c:spPr>
            <a:solidFill>
              <a:schemeClr val="accent1"/>
            </a:solidFill>
            <a:ln w="9525" cap="flat">
              <a:solidFill>
                <a:srgbClr val="F9F9F9"/>
              </a:solidFill>
              <a:prstDash val="solid"/>
              <a:round/>
            </a:ln>
            <a:effectLst/>
          </c:spPr>
          <c:dPt>
            <c:idx val="0"/>
            <c:bubble3D val="0"/>
            <c:spPr>
              <a:solidFill>
                <a:srgbClr val="C97700"/>
              </a:solidFill>
              <a:ln w="19050" cap="flat">
                <a:solidFill>
                  <a:srgbClr val="FFFFFF"/>
                </a:solidFill>
                <a:prstDash val="solid"/>
                <a:round/>
              </a:ln>
              <a:effectLst/>
            </c:spPr>
          </c:dPt>
          <c:dPt>
            <c:idx val="1"/>
            <c:bubble3D val="0"/>
            <c:spPr>
              <a:solidFill>
                <a:srgbClr val="0E9C86"/>
              </a:solidFill>
              <a:ln w="19050" cap="flat">
                <a:solidFill>
                  <a:srgbClr val="FFFFFF"/>
                </a:solidFill>
                <a:prstDash val="solid"/>
                <a:round/>
              </a:ln>
              <a:effectLst/>
            </c:spPr>
          </c:dPt>
          <c:dPt>
            <c:idx val="2"/>
            <c:bubble3D val="0"/>
            <c:spPr>
              <a:solidFill>
                <a:srgbClr val="7656E0"/>
              </a:solidFill>
              <a:ln w="19050" cap="flat">
                <a:solidFill>
                  <a:srgbClr val="FFFFFF"/>
                </a:solidFill>
                <a:prstDash val="solid"/>
                <a:round/>
              </a:ln>
              <a:effectLst/>
            </c:spPr>
          </c:dPt>
          <c:dPt>
            <c:idx val="3"/>
            <c:bubble3D val="0"/>
            <c:spPr>
              <a:solidFill>
                <a:srgbClr val="E0474C"/>
              </a:solidFill>
              <a:ln w="19050" cap="flat">
                <a:solidFill>
                  <a:srgbClr val="FFFFFF"/>
                </a:solidFill>
                <a:prstDash val="solid"/>
                <a:round/>
              </a:ln>
              <a:effectLst/>
            </c:spPr>
          </c:dPt>
          <c:dPt>
            <c:idx val="4"/>
            <c:bubble3D val="0"/>
            <c:spPr>
              <a:solidFill>
                <a:srgbClr val="94A3B8"/>
              </a:solidFill>
              <a:ln w="19050" cap="flat">
                <a:solidFill>
                  <a:srgbClr val="FFFFFF"/>
                </a:solidFill>
                <a:prstDash val="solid"/>
                <a:round/>
              </a:ln>
              <a:effectLst/>
            </c:spPr>
          </c:dPt>
          <c:dPt>
            <c:idx val="5"/>
            <c:bubble3D val="0"/>
            <c:spPr>
              <a:solidFill>
                <a:srgbClr val="3E4A8C"/>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Direct factual</c:v>
                </c:pt>
                <c:pt idx="1">
                  <c:v>Procedural</c:v>
                </c:pt>
                <c:pt idx="2">
                  <c:v>Eligibility</c:v>
                </c:pt>
                <c:pt idx="3">
                  <c:v>Conditional</c:v>
                </c:pt>
                <c:pt idx="4">
                  <c:v>Numerical</c:v>
                </c:pt>
                <c:pt idx="5">
                  <c:v>Multi-part</c:v>
                </c:pt>
              </c:strCache>
            </c:strRef>
          </c:cat>
          <c:val>
            <c:numRef>
              <c:f>Sheet1!$B$2:$B$7</c:f>
              <c:numCache>
                <c:ptCount val="6"/>
                <c:pt idx="0">
                  <c:v>15</c:v>
                </c:pt>
                <c:pt idx="1">
                  <c:v>10</c:v>
                </c:pt>
                <c:pt idx="2">
                  <c:v>10</c:v>
                </c:pt>
                <c:pt idx="3">
                  <c:v>5</c:v>
                </c:pt>
                <c:pt idx="4">
                  <c:v>5</c:v>
                </c:pt>
                <c:pt idx="5">
                  <c:v>5</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Good morning. We are Group 16 — Tarang Kumar and Inderneel Saunik. Our project is ContextLens, for Assignment 3: a small RAG system on real domain documents, used as an instrument to answer one question — if we retrieve more passages, do the answers actually get better?
We used the official IIT Roorkee PG and PhD admission brochures, 62 pages, built a 50-question benchmark, and generated and scored 275 answers across Top-1, Top-3, Top-5 and Top-10 retrieval plus two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RAG system has one dial most people set by feel: K, the number of chunks we retrieve and paste into the prompt.
The usual instinct is "more is safer" — a bigger K means the passage with the answer is more likely to be in there. But each extra chunk also brings noise, near-duplicates, a longer prompt and therefore more latency and cost, and more chances for the model to mix up sources.
So whether more context helps is an empirical question, not an assumption. That is what this project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Our research question: does increasing the number of retrieved chunks always improve answer quality?
H1 — accuracy improves with K but with diminishing returns. H2 — more chunks raise how many required facts are in the context, but each extra chunk is less likely to be relevant; hallucination should move with K too. H3 — response time grows roughly linearly, because generation cost scales with prompt length.
The four required metrics: accuracy is required-fact coverage on a 0/1/2 scale; context relevance is fact recall of the retrieved text; hallucination is the share of answer claims not supported by the retrieved context; response time is end-to-end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Our documents are the two official IIT Roorkee admission brochures: the PG Information Brochure 2026, 25 pages, and the PhD brochure, 37 pages — 62 pages of dense, rule-heavy text, which is exactly where RAG is useful.
The benchmark has 50 questions in six categories: 15 direct factual, 10 procedural, 10 eligibility, and 5 each of conditional, numerical and multi-part. Each has a ground truth, a list of required facts, and a source document and page.
Honest caveat: the questions were generated from the PDFs, not written by domain experts. So we added an automatic gold-page check: 25 questions are supported on the cited page, 18 are found on another page, and 7 are not found in the extracted text at all. We report on the full set and on the validated subset.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The pipeline has six stages. We extract text with PyMuPDF, repair hyphenation and keep paragraph structure. We chunk into 500-word passages with 80-word overlap, paragraph-aware. Chunks are embedded with all-MiniLM-L6-v2 — 384 dimensions — into an exact FAISS inner-product index, which is cosine similarity on normalised vectors.
Retrieval — highlighted — is where the experiment lives: Top-K with K of 1, 3, 5 and 10, plus a No-RAG baseline and a gold-page oracle that hands the model only the validated page.
Generation uses Qwen3-4B-Instruct running locally on MLX in 4-bit, temperature 0, with a prompt that requires [S#] citations or an explicit "not enough evidence" abstention.
Evaluation is rule-based: required-fact coverage, fact recall of the context, claim-level support checking for hallucination, citation validity, and latency.
Key design choice: the chunk set and index are built once and reused for every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a controlled, paired experiment. The independent variable is K — 1, 3, 5, 10 — with No-RAG and gold-page as reference points. Everything in the middle column is held fixed: same documents, same chunks, same index, same model, prompt, decoding settings and evaluator.
Every question is answered under every condition, so we compare conditions within the same question and use the Wilcoxon signed-rank test with Holm correction for multiple comparisons.
In total, 275 answers: 50 questions × 5 conditions, plus 25 gold-page runs for the questions that have a validated page. The full run took about two and a half hours on a local MLX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These are the real numbers from run full-50q-2026-10-12, 50 questions per condition.
Accuracy: 32% at Top-1, 51% at Top-3, 55% at Top-5, 59% at Top-10. Note the dashed line: No-RAG scores 37%, so Top-1 is actually below no retrieval. The jump from K=1 to K=3 is significant after Holm correction (p = 0.014); from K=3 to K=10 we gain only 8 more points and that is not significant.
Context relevance: fact recall rises from 46% to 87% — but per-chunk precision falls from 78% to 50%, so half of the Top-10 chunks carry no required fact. That's the noise.
Hallucination — unsupported claims — drops from 54% to 7%. More evidence means more of what the model says is grounded. This is opposite to the naive "more noise, more hallucination" intuition, for this dataset.
Response time: median 7.0 s to 51.5 s, 7.4× — every pairwise difference is significant. Prompts grow from about 1.1k to 8.7k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Four cases from the raw runs.
Q003 — under-retrieval. Asked for the full form of FTRS, the single top chunk didn't contain it and the model correctly abstained. At K=3 it answered "Full-Time Research Scholar". Without retrieval, the model confidently invented "Female Teacher, Research Scholar" — a real hallucination.
Q040 — more context, less focus. Top-3 got full marks. Top-10 did retrieve the gold page, but only 40% of its chunks were relevant, the answer grew to 177 words across several programmes, and one required fact was no longer matched.
Q041 — a failure of our own evaluator. At K=3 the model said the page count is not stated, yet scored 2/2 because "25" appeared in a page range. This is why we call the metrics heuristic and want human evaluation.
Q037 — the answer isn't in the brochures; every K abstained, which is the right behaviour but scores 0.
Two headline observations: Top-1 is below No-RAG overall, and on the 25 validated questions the gold-page oracle reaches 72% in 3.7 seconds, while Top-10 reaches 70% in 49 seconds — precision of retrieval matters more than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Summarising. Does more context always help? It depends on the metric.
Accuracy: significant gain up to K=3, then a plateau — H1 supported. Context: recall keeps rising but precision keeps falling — H2 supported. Hallucination, measured as unsupported claims, falls steadily — for this dataset, more evidence made answers more grounded, not less. Latency grows roughly linearly with K — H3 supported.
Limitations: one narrow domain of two documents; a lightweight embedding model with no re-ranker; rule-based lexical scoring that we have shown can misfire; questions generated from the PDFs; a single fixed chunking setting; and 50 questions on one 4-billion-parameter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To conclude: K is a hyperparameter to tune, not to maximise.
One — more context did help here, but accuracy flattened after K=3 while latency kept growing almost linearly.
Two — on the same 25 validated questions, the gold-page oracle matched Top-10 accuracy, 72% versus 70%, in about a thirteenth of the time, so improving retrieval precision is worth more than raising K.
Three — for this corpus, K = 3 to 5 is the practical sweet spot, highlighted in the lens.
Future work: adaptive K, re-ranking with stronger embeddings, context compression at high K, human or LLM-judge evaluation, and multi-hop questions across more domains. Code, data and results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We're happy to take questions, and we can run a live query in the dashboard to show how the answer changes from Top-1 to Top-10.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2.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taranggg/MTech-AIML-Project_16_ContextLens"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taranggg/MTech-AIML-Project_16_ContextLens" TargetMode="Externa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nsGlow"/>
          <p:cNvSpPr/>
          <p:nvPr/>
        </p:nvSpPr>
        <p:spPr>
          <a:xfrm>
            <a:off x="7140550" y="1334110"/>
            <a:ext cx="3824021" cy="3824021"/>
          </a:xfrm>
          <a:prstGeom prst="ellipse">
            <a:avLst/>
          </a:prstGeom>
          <a:solidFill>
            <a:srgbClr val="C97700">
              <a:alpha val="12000"/>
            </a:srgbClr>
          </a:solidFill>
          <a:ln/>
        </p:spPr>
      </p:sp>
      <p:sp>
        <p:nvSpPr>
          <p:cNvPr id="3" name="!!lensInner"/>
          <p:cNvSpPr/>
          <p:nvPr/>
        </p:nvSpPr>
        <p:spPr>
          <a:xfrm>
            <a:off x="7513625" y="1707185"/>
            <a:ext cx="3077870" cy="3077870"/>
          </a:xfrm>
          <a:prstGeom prst="ellipse">
            <a:avLst/>
          </a:prstGeom>
          <a:ln w="12700">
            <a:solidFill>
              <a:srgbClr val="0E9C86">
                <a:alpha val="45000"/>
              </a:srgbClr>
            </a:solidFill>
            <a:prstDash val="solid"/>
          </a:ln>
        </p:spPr>
      </p:sp>
      <p:sp>
        <p:nvSpPr>
          <p:cNvPr id="4" name="!!lensRing"/>
          <p:cNvSpPr/>
          <p:nvPr/>
        </p:nvSpPr>
        <p:spPr>
          <a:xfrm>
            <a:off x="6720840" y="914400"/>
            <a:ext cx="4663440" cy="4663440"/>
          </a:xfrm>
          <a:prstGeom prst="ellipse">
            <a:avLst/>
          </a:prstGeom>
          <a:ln w="38100">
            <a:solidFill>
              <a:srgbClr val="C97700"/>
            </a:solidFill>
            <a:prstDash val="solid"/>
          </a:ln>
        </p:spPr>
      </p:sp>
      <p:sp>
        <p:nvSpPr>
          <p:cNvPr id="5" name="!!lensGlint"/>
          <p:cNvSpPr/>
          <p:nvPr/>
        </p:nvSpPr>
        <p:spPr>
          <a:xfrm>
            <a:off x="10538115" y="1434125"/>
            <a:ext cx="326441" cy="326441"/>
          </a:xfrm>
          <a:prstGeom prst="ellipse">
            <a:avLst/>
          </a:prstGeom>
          <a:solidFill>
            <a:srgbClr val="C97700"/>
          </a:solidFill>
          <a:ln/>
        </p:spPr>
      </p:sp>
      <p:sp>
        <p:nvSpPr>
          <p:cNvPr id="6" name="lensLabel"/>
          <p:cNvSpPr txBox="1"/>
          <p:nvPr/>
        </p:nvSpPr>
        <p:spPr>
          <a:xfrm>
            <a:off x="8138160" y="1965960"/>
            <a:ext cx="1828800" cy="274320"/>
          </a:xfrm>
          <a:prstGeom prst="rect">
            <a:avLst/>
          </a:prstGeom>
          <a:noFill/>
          <a:ln/>
        </p:spPr>
        <p:txBody>
          <a:bodyPr wrap="square" lIns="0" tIns="0" rIns="0" bIns="0" rtlCol="0" anchor="t"/>
          <a:lstStyle/>
          <a:p>
            <a:pPr algn="ctr" indent="0" marL="0">
              <a:buNone/>
            </a:pPr>
            <a:r>
              <a:rPr lang="en-US" sz="1100" spc="300" kern="0" dirty="0">
                <a:solidFill>
                  <a:srgbClr val="565B75"/>
                </a:solidFill>
                <a:latin typeface="Consolas" pitchFamily="34" charset="0"/>
                <a:ea typeface="Consolas" pitchFamily="34" charset="-122"/>
                <a:cs typeface="Consolas" pitchFamily="34" charset="-120"/>
              </a:rPr>
              <a:t>RETRIEVAL DEPTH</a:t>
            </a:r>
            <a:endParaRPr lang="en-US" sz="1100" dirty="0"/>
          </a:p>
        </p:txBody>
      </p:sp>
      <p:sp>
        <p:nvSpPr>
          <p:cNvPr id="7" name="!!k1"/>
          <p:cNvSpPr/>
          <p:nvPr/>
        </p:nvSpPr>
        <p:spPr>
          <a:xfrm>
            <a:off x="7909560" y="2514600"/>
            <a:ext cx="1051560" cy="47548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500" b="1" dirty="0">
                <a:solidFill>
                  <a:srgbClr val="C97700"/>
                </a:solidFill>
                <a:latin typeface="Consolas" pitchFamily="34" charset="0"/>
                <a:ea typeface="Consolas" pitchFamily="34" charset="-122"/>
                <a:cs typeface="Consolas" pitchFamily="34" charset="-120"/>
              </a:rPr>
              <a:t>K = 1</a:t>
            </a:r>
            <a:endParaRPr lang="en-US" sz="1500" dirty="0"/>
          </a:p>
        </p:txBody>
      </p:sp>
      <p:sp>
        <p:nvSpPr>
          <p:cNvPr id="8" name="!!k3"/>
          <p:cNvSpPr/>
          <p:nvPr/>
        </p:nvSpPr>
        <p:spPr>
          <a:xfrm>
            <a:off x="9098280" y="2514600"/>
            <a:ext cx="1051560" cy="47548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500" b="1" dirty="0">
                <a:solidFill>
                  <a:srgbClr val="C97700"/>
                </a:solidFill>
                <a:latin typeface="Consolas" pitchFamily="34" charset="0"/>
                <a:ea typeface="Consolas" pitchFamily="34" charset="-122"/>
                <a:cs typeface="Consolas" pitchFamily="34" charset="-120"/>
              </a:rPr>
              <a:t>K = 3</a:t>
            </a:r>
            <a:endParaRPr lang="en-US" sz="1500" dirty="0"/>
          </a:p>
        </p:txBody>
      </p:sp>
      <p:sp>
        <p:nvSpPr>
          <p:cNvPr id="9" name="!!k5"/>
          <p:cNvSpPr/>
          <p:nvPr/>
        </p:nvSpPr>
        <p:spPr>
          <a:xfrm>
            <a:off x="7909560" y="3154680"/>
            <a:ext cx="1051560" cy="47548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500" b="1" dirty="0">
                <a:solidFill>
                  <a:srgbClr val="C97700"/>
                </a:solidFill>
                <a:latin typeface="Consolas" pitchFamily="34" charset="0"/>
                <a:ea typeface="Consolas" pitchFamily="34" charset="-122"/>
                <a:cs typeface="Consolas" pitchFamily="34" charset="-120"/>
              </a:rPr>
              <a:t>K = 5</a:t>
            </a:r>
            <a:endParaRPr lang="en-US" sz="1500" dirty="0"/>
          </a:p>
        </p:txBody>
      </p:sp>
      <p:sp>
        <p:nvSpPr>
          <p:cNvPr id="10" name="!!k10"/>
          <p:cNvSpPr/>
          <p:nvPr/>
        </p:nvSpPr>
        <p:spPr>
          <a:xfrm>
            <a:off x="9098280" y="3154680"/>
            <a:ext cx="1051560" cy="47548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500" b="1" dirty="0">
                <a:solidFill>
                  <a:srgbClr val="C97700"/>
                </a:solidFill>
                <a:latin typeface="Consolas" pitchFamily="34" charset="0"/>
                <a:ea typeface="Consolas" pitchFamily="34" charset="-122"/>
                <a:cs typeface="Consolas" pitchFamily="34" charset="-120"/>
              </a:rPr>
              <a:t>K = 10</a:t>
            </a:r>
            <a:endParaRPr lang="en-US" sz="1500" dirty="0"/>
          </a:p>
        </p:txBody>
      </p:sp>
      <p:sp>
        <p:nvSpPr>
          <p:cNvPr id="11" name="lensQ"/>
          <p:cNvSpPr txBox="1"/>
          <p:nvPr/>
        </p:nvSpPr>
        <p:spPr>
          <a:xfrm>
            <a:off x="7863840" y="3840480"/>
            <a:ext cx="2377440" cy="320040"/>
          </a:xfrm>
          <a:prstGeom prst="rect">
            <a:avLst/>
          </a:prstGeom>
          <a:noFill/>
          <a:ln/>
        </p:spPr>
        <p:txBody>
          <a:bodyPr wrap="square" lIns="0" tIns="0" rIns="0" bIns="0" rtlCol="0" anchor="t"/>
          <a:lstStyle/>
          <a:p>
            <a:pPr algn="ctr" indent="0" marL="0">
              <a:buNone/>
            </a:pPr>
            <a:r>
              <a:rPr lang="en-US" sz="1500" i="1" dirty="0">
                <a:solidFill>
                  <a:srgbClr val="16182B"/>
                </a:solidFill>
                <a:latin typeface="Cambria" pitchFamily="34" charset="0"/>
                <a:ea typeface="Cambria" pitchFamily="34" charset="-122"/>
                <a:cs typeface="Cambria" pitchFamily="34" charset="-120"/>
              </a:rPr>
              <a:t>which one answers best?</a:t>
            </a:r>
            <a:endParaRPr lang="en-US" sz="1500" dirty="0"/>
          </a:p>
        </p:txBody>
      </p:sp>
      <p:sp>
        <p:nvSpPr>
          <p:cNvPr id="12" name="!!eyebrow"/>
          <p:cNvSpPr txBox="1"/>
          <p:nvPr/>
        </p:nvSpPr>
        <p:spPr>
          <a:xfrm>
            <a:off x="548640" y="1417320"/>
            <a:ext cx="5943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M.TECH AIML  ·  MINI-PROJECT  ·  GROUP 16</a:t>
            </a:r>
            <a:endParaRPr lang="en-US" sz="1200" dirty="0"/>
          </a:p>
        </p:txBody>
      </p:sp>
      <p:sp>
        <p:nvSpPr>
          <p:cNvPr id="13" name="!!title"/>
          <p:cNvSpPr txBox="1"/>
          <p:nvPr/>
        </p:nvSpPr>
        <p:spPr>
          <a:xfrm>
            <a:off x="548640" y="1783080"/>
            <a:ext cx="6217920" cy="1051560"/>
          </a:xfrm>
          <a:prstGeom prst="rect">
            <a:avLst/>
          </a:prstGeom>
          <a:noFill/>
          <a:ln/>
        </p:spPr>
        <p:txBody>
          <a:bodyPr wrap="square" lIns="0" tIns="0" rIns="0" bIns="0" rtlCol="0" anchor="t"/>
          <a:lstStyle/>
          <a:p>
            <a:pPr indent="0" marL="0">
              <a:buNone/>
            </a:pPr>
            <a:r>
              <a:rPr lang="en-US" sz="6600" b="1" dirty="0">
                <a:solidFill>
                  <a:srgbClr val="16182B"/>
                </a:solidFill>
                <a:latin typeface="Cambria" pitchFamily="34" charset="0"/>
                <a:ea typeface="Cambria" pitchFamily="34" charset="-122"/>
                <a:cs typeface="Cambria" pitchFamily="34" charset="-120"/>
              </a:rPr>
              <a:t>ContextLens</a:t>
            </a:r>
            <a:endParaRPr lang="en-US" sz="6600" dirty="0"/>
          </a:p>
        </p:txBody>
      </p:sp>
      <p:sp>
        <p:nvSpPr>
          <p:cNvPr id="14" name="subtitle"/>
          <p:cNvSpPr txBox="1"/>
          <p:nvPr/>
        </p:nvSpPr>
        <p:spPr>
          <a:xfrm>
            <a:off x="548640" y="2926080"/>
            <a:ext cx="5852160" cy="822960"/>
          </a:xfrm>
          <a:prstGeom prst="rect">
            <a:avLst/>
          </a:prstGeom>
          <a:noFill/>
          <a:ln/>
        </p:spPr>
        <p:txBody>
          <a:bodyPr wrap="square" lIns="0" tIns="0" rIns="0" bIns="0" rtlCol="0" anchor="t"/>
          <a:lstStyle/>
          <a:p>
            <a:pPr indent="0" marL="0">
              <a:buNone/>
            </a:pPr>
            <a:r>
              <a:rPr lang="en-US" sz="2400" dirty="0">
                <a:solidFill>
                  <a:srgbClr val="3A3F5C"/>
                </a:solidFill>
                <a:latin typeface="Calibri" pitchFamily="34" charset="0"/>
                <a:ea typeface="Calibri" pitchFamily="34" charset="-122"/>
                <a:cs typeface="Calibri" pitchFamily="34" charset="-120"/>
              </a:rPr>
              <a:t>Does more retrieved context make RAG answers better?</a:t>
            </a:r>
            <a:endParaRPr lang="en-US" sz="2400" dirty="0"/>
          </a:p>
        </p:txBody>
      </p:sp>
      <p:sp>
        <p:nvSpPr>
          <p:cNvPr id="15" name="stat0"/>
          <p:cNvSpPr txBox="1"/>
          <p:nvPr/>
        </p:nvSpPr>
        <p:spPr>
          <a:xfrm>
            <a:off x="548640" y="4069080"/>
            <a:ext cx="1828800" cy="548640"/>
          </a:xfrm>
          <a:prstGeom prst="rect">
            <a:avLst/>
          </a:prstGeom>
          <a:noFill/>
          <a:ln/>
        </p:spPr>
        <p:txBody>
          <a:bodyPr wrap="square" lIns="0" tIns="0" rIns="0" bIns="0" rtlCol="0" anchor="t"/>
          <a:lstStyle/>
          <a:p>
            <a:pPr indent="0" marL="0">
              <a:buNone/>
            </a:pPr>
            <a:r>
              <a:rPr lang="en-US" sz="3600" b="1" dirty="0">
                <a:solidFill>
                  <a:srgbClr val="C97700"/>
                </a:solidFill>
                <a:latin typeface="Cambria" pitchFamily="34" charset="0"/>
                <a:ea typeface="Cambria" pitchFamily="34" charset="-122"/>
                <a:cs typeface="Cambria" pitchFamily="34" charset="-120"/>
              </a:rPr>
              <a:t>62</a:t>
            </a:r>
            <a:endParaRPr lang="en-US" sz="3600" dirty="0"/>
          </a:p>
        </p:txBody>
      </p:sp>
      <p:sp>
        <p:nvSpPr>
          <p:cNvPr id="16" name="statl0"/>
          <p:cNvSpPr txBox="1"/>
          <p:nvPr/>
        </p:nvSpPr>
        <p:spPr>
          <a:xfrm>
            <a:off x="548640" y="4617720"/>
            <a:ext cx="1828800" cy="45720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pages of official</a:t>
            </a:r>
            <a:endParaRPr lang="en-US" sz="1200" dirty="0"/>
          </a:p>
          <a:p>
            <a:pPr indent="0" marL="0">
              <a:buNone/>
            </a:pPr>
            <a:r>
              <a:rPr lang="en-US" sz="1200" dirty="0">
                <a:solidFill>
                  <a:srgbClr val="565B75"/>
                </a:solidFill>
                <a:latin typeface="Calibri" pitchFamily="34" charset="0"/>
                <a:ea typeface="Calibri" pitchFamily="34" charset="-122"/>
                <a:cs typeface="Calibri" pitchFamily="34" charset="-120"/>
              </a:rPr>
              <a:t>IIT Roorkee brochures</a:t>
            </a:r>
            <a:endParaRPr lang="en-US" sz="1200" dirty="0"/>
          </a:p>
        </p:txBody>
      </p:sp>
      <p:sp>
        <p:nvSpPr>
          <p:cNvPr id="17" name="stat1"/>
          <p:cNvSpPr txBox="1"/>
          <p:nvPr/>
        </p:nvSpPr>
        <p:spPr>
          <a:xfrm>
            <a:off x="2514600" y="4069080"/>
            <a:ext cx="1828800" cy="548640"/>
          </a:xfrm>
          <a:prstGeom prst="rect">
            <a:avLst/>
          </a:prstGeom>
          <a:noFill/>
          <a:ln/>
        </p:spPr>
        <p:txBody>
          <a:bodyPr wrap="square" lIns="0" tIns="0" rIns="0" bIns="0" rtlCol="0" anchor="t"/>
          <a:lstStyle/>
          <a:p>
            <a:pPr indent="0" marL="0">
              <a:buNone/>
            </a:pPr>
            <a:r>
              <a:rPr lang="en-US" sz="3600" b="1" dirty="0">
                <a:solidFill>
                  <a:srgbClr val="C97700"/>
                </a:solidFill>
                <a:latin typeface="Cambria" pitchFamily="34" charset="0"/>
                <a:ea typeface="Cambria" pitchFamily="34" charset="-122"/>
                <a:cs typeface="Cambria" pitchFamily="34" charset="-120"/>
              </a:rPr>
              <a:t>50</a:t>
            </a:r>
            <a:endParaRPr lang="en-US" sz="3600" dirty="0"/>
          </a:p>
        </p:txBody>
      </p:sp>
      <p:sp>
        <p:nvSpPr>
          <p:cNvPr id="18" name="statl1"/>
          <p:cNvSpPr txBox="1"/>
          <p:nvPr/>
        </p:nvSpPr>
        <p:spPr>
          <a:xfrm>
            <a:off x="2514600" y="4617720"/>
            <a:ext cx="1828800" cy="45720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benchmark</a:t>
            </a:r>
            <a:endParaRPr lang="en-US" sz="1200" dirty="0"/>
          </a:p>
          <a:p>
            <a:pPr indent="0" marL="0">
              <a:buNone/>
            </a:pPr>
            <a:r>
              <a:rPr lang="en-US" sz="1200" dirty="0">
                <a:solidFill>
                  <a:srgbClr val="565B75"/>
                </a:solidFill>
                <a:latin typeface="Calibri" pitchFamily="34" charset="0"/>
                <a:ea typeface="Calibri" pitchFamily="34" charset="-122"/>
                <a:cs typeface="Calibri" pitchFamily="34" charset="-120"/>
              </a:rPr>
              <a:t>questions</a:t>
            </a:r>
            <a:endParaRPr lang="en-US" sz="1200" dirty="0"/>
          </a:p>
        </p:txBody>
      </p:sp>
      <p:sp>
        <p:nvSpPr>
          <p:cNvPr id="19" name="stat2"/>
          <p:cNvSpPr txBox="1"/>
          <p:nvPr/>
        </p:nvSpPr>
        <p:spPr>
          <a:xfrm>
            <a:off x="4480560" y="4069080"/>
            <a:ext cx="1828800" cy="548640"/>
          </a:xfrm>
          <a:prstGeom prst="rect">
            <a:avLst/>
          </a:prstGeom>
          <a:noFill/>
          <a:ln/>
        </p:spPr>
        <p:txBody>
          <a:bodyPr wrap="square" lIns="0" tIns="0" rIns="0" bIns="0" rtlCol="0" anchor="t"/>
          <a:lstStyle/>
          <a:p>
            <a:pPr indent="0" marL="0">
              <a:buNone/>
            </a:pPr>
            <a:r>
              <a:rPr lang="en-US" sz="3600" b="1" dirty="0">
                <a:solidFill>
                  <a:srgbClr val="C97700"/>
                </a:solidFill>
                <a:latin typeface="Cambria" pitchFamily="34" charset="0"/>
                <a:ea typeface="Cambria" pitchFamily="34" charset="-122"/>
                <a:cs typeface="Cambria" pitchFamily="34" charset="-120"/>
              </a:rPr>
              <a:t>275</a:t>
            </a:r>
            <a:endParaRPr lang="en-US" sz="3600" dirty="0"/>
          </a:p>
        </p:txBody>
      </p:sp>
      <p:sp>
        <p:nvSpPr>
          <p:cNvPr id="20" name="statl2"/>
          <p:cNvSpPr txBox="1"/>
          <p:nvPr/>
        </p:nvSpPr>
        <p:spPr>
          <a:xfrm>
            <a:off x="4480560" y="4617720"/>
            <a:ext cx="1828800" cy="45720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answers generated</a:t>
            </a:r>
            <a:endParaRPr lang="en-US" sz="1200" dirty="0"/>
          </a:p>
          <a:p>
            <a:pPr indent="0" marL="0">
              <a:buNone/>
            </a:pPr>
            <a:r>
              <a:rPr lang="en-US" sz="1200" dirty="0">
                <a:solidFill>
                  <a:srgbClr val="565B75"/>
                </a:solidFill>
                <a:latin typeface="Calibri" pitchFamily="34" charset="0"/>
                <a:ea typeface="Calibri" pitchFamily="34" charset="-122"/>
                <a:cs typeface="Calibri" pitchFamily="34" charset="-120"/>
              </a:rPr>
              <a:t>and scored</a:t>
            </a:r>
            <a:endParaRPr lang="en-US" sz="1200" dirty="0"/>
          </a:p>
        </p:txBody>
      </p:sp>
      <p:sp>
        <p:nvSpPr>
          <p:cNvPr id="21" name="teamL"/>
          <p:cNvSpPr txBox="1"/>
          <p:nvPr/>
        </p:nvSpPr>
        <p:spPr>
          <a:xfrm>
            <a:off x="548640" y="5440680"/>
            <a:ext cx="1828800" cy="228600"/>
          </a:xfrm>
          <a:prstGeom prst="rect">
            <a:avLst/>
          </a:prstGeom>
          <a:noFill/>
          <a:ln/>
        </p:spPr>
        <p:txBody>
          <a:bodyPr wrap="square" lIns="0" tIns="0" rIns="0" bIns="0" rtlCol="0" anchor="t"/>
          <a:lstStyle/>
          <a:p>
            <a:pPr indent="0" marL="0">
              <a:buNone/>
            </a:pPr>
            <a:r>
              <a:rPr lang="en-US" sz="1100" spc="300" kern="0" dirty="0">
                <a:solidFill>
                  <a:srgbClr val="8A8EA6"/>
                </a:solidFill>
                <a:latin typeface="Consolas" pitchFamily="34" charset="0"/>
                <a:ea typeface="Consolas" pitchFamily="34" charset="-122"/>
                <a:cs typeface="Consolas" pitchFamily="34" charset="-120"/>
              </a:rPr>
              <a:t>TEAM</a:t>
            </a:r>
            <a:endParaRPr lang="en-US" sz="1100" dirty="0"/>
          </a:p>
        </p:txBody>
      </p:sp>
      <p:sp>
        <p:nvSpPr>
          <p:cNvPr id="22" name="team"/>
          <p:cNvSpPr txBox="1"/>
          <p:nvPr/>
        </p:nvSpPr>
        <p:spPr>
          <a:xfrm>
            <a:off x="548640" y="5669280"/>
            <a:ext cx="5943600" cy="365760"/>
          </a:xfrm>
          <a:prstGeom prst="rect">
            <a:avLst/>
          </a:prstGeom>
          <a:noFill/>
          <a:ln/>
        </p:spPr>
        <p:txBody>
          <a:bodyPr wrap="square" lIns="0" tIns="0" rIns="0" bIns="0" rtlCol="0" anchor="t"/>
          <a:lstStyle/>
          <a:p>
            <a:pPr indent="0" marL="0">
              <a:buNone/>
            </a:pPr>
            <a:r>
              <a:rPr lang="en-US" sz="1800" b="1" dirty="0">
                <a:solidFill>
                  <a:srgbClr val="16182B"/>
                </a:solidFill>
                <a:latin typeface="Calibri" pitchFamily="34" charset="0"/>
                <a:ea typeface="Calibri" pitchFamily="34" charset="-122"/>
                <a:cs typeface="Calibri" pitchFamily="34" charset="-120"/>
              </a:rPr>
              <a:t>Tarang Kumar   ·   Inderneel Saunik</a:t>
            </a:r>
            <a:endParaRPr lang="en-US" sz="1800" dirty="0"/>
          </a:p>
        </p:txBody>
      </p:sp>
      <p:sp>
        <p:nvSpPr>
          <p:cNvPr id="23"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24"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01 / 11</a:t>
            </a:r>
            <a:endParaRPr lang="en-US" sz="1000" dirty="0"/>
          </a:p>
        </p:txBody>
      </p:sp>
      <p:sp>
        <p:nvSpPr>
          <p:cNvPr id="25" name="!!dot1"/>
          <p:cNvSpPr/>
          <p:nvPr/>
        </p:nvSpPr>
        <p:spPr>
          <a:xfrm>
            <a:off x="9646920" y="6451092"/>
            <a:ext cx="365760" cy="91440"/>
          </a:xfrm>
          <a:prstGeom prst="roundRect">
            <a:avLst>
              <a:gd name="adj" fmla="val 50000"/>
            </a:avLst>
          </a:prstGeom>
          <a:solidFill>
            <a:srgbClr val="C97700"/>
          </a:solidFill>
          <a:ln/>
        </p:spPr>
      </p:sp>
      <p:sp>
        <p:nvSpPr>
          <p:cNvPr id="26" name="!!dot2"/>
          <p:cNvSpPr/>
          <p:nvPr/>
        </p:nvSpPr>
        <p:spPr>
          <a:xfrm>
            <a:off x="10104120" y="6451092"/>
            <a:ext cx="91440" cy="91440"/>
          </a:xfrm>
          <a:prstGeom prst="roundRect">
            <a:avLst>
              <a:gd name="adj" fmla="val 50000"/>
            </a:avLst>
          </a:prstGeom>
          <a:solidFill>
            <a:srgbClr val="D9DCE8"/>
          </a:solidFill>
          <a:ln/>
        </p:spPr>
      </p:sp>
      <p:sp>
        <p:nvSpPr>
          <p:cNvPr id="27" name="!!dot3"/>
          <p:cNvSpPr/>
          <p:nvPr/>
        </p:nvSpPr>
        <p:spPr>
          <a:xfrm>
            <a:off x="10287000" y="6451092"/>
            <a:ext cx="91440" cy="91440"/>
          </a:xfrm>
          <a:prstGeom prst="roundRect">
            <a:avLst>
              <a:gd name="adj" fmla="val 50000"/>
            </a:avLst>
          </a:prstGeom>
          <a:solidFill>
            <a:srgbClr val="D9DCE8"/>
          </a:solidFill>
          <a:ln/>
        </p:spPr>
      </p:sp>
      <p:sp>
        <p:nvSpPr>
          <p:cNvPr id="28" name="!!dot4"/>
          <p:cNvSpPr/>
          <p:nvPr/>
        </p:nvSpPr>
        <p:spPr>
          <a:xfrm>
            <a:off x="10469880" y="6451092"/>
            <a:ext cx="91440" cy="91440"/>
          </a:xfrm>
          <a:prstGeom prst="roundRect">
            <a:avLst>
              <a:gd name="adj" fmla="val 50000"/>
            </a:avLst>
          </a:prstGeom>
          <a:solidFill>
            <a:srgbClr val="D9DCE8"/>
          </a:solidFill>
          <a:ln/>
        </p:spPr>
      </p:sp>
      <p:sp>
        <p:nvSpPr>
          <p:cNvPr id="29" name="!!dot5"/>
          <p:cNvSpPr/>
          <p:nvPr/>
        </p:nvSpPr>
        <p:spPr>
          <a:xfrm>
            <a:off x="10652760" y="6451092"/>
            <a:ext cx="91440" cy="91440"/>
          </a:xfrm>
          <a:prstGeom prst="roundRect">
            <a:avLst>
              <a:gd name="adj" fmla="val 50000"/>
            </a:avLst>
          </a:prstGeom>
          <a:solidFill>
            <a:srgbClr val="D9DCE8"/>
          </a:solidFill>
          <a:ln/>
        </p:spPr>
      </p:sp>
      <p:sp>
        <p:nvSpPr>
          <p:cNvPr id="30" name="!!dot6"/>
          <p:cNvSpPr/>
          <p:nvPr/>
        </p:nvSpPr>
        <p:spPr>
          <a:xfrm>
            <a:off x="10835640" y="6451092"/>
            <a:ext cx="91440" cy="91440"/>
          </a:xfrm>
          <a:prstGeom prst="roundRect">
            <a:avLst>
              <a:gd name="adj" fmla="val 50000"/>
            </a:avLst>
          </a:prstGeom>
          <a:solidFill>
            <a:srgbClr val="D9DCE8"/>
          </a:solidFill>
          <a:ln/>
        </p:spPr>
      </p:sp>
      <p:sp>
        <p:nvSpPr>
          <p:cNvPr id="31" name="!!dot7"/>
          <p:cNvSpPr/>
          <p:nvPr/>
        </p:nvSpPr>
        <p:spPr>
          <a:xfrm>
            <a:off x="11018520" y="6451092"/>
            <a:ext cx="91440" cy="91440"/>
          </a:xfrm>
          <a:prstGeom prst="roundRect">
            <a:avLst>
              <a:gd name="adj" fmla="val 50000"/>
            </a:avLst>
          </a:prstGeom>
          <a:solidFill>
            <a:srgbClr val="D9DCE8"/>
          </a:solidFill>
          <a:ln/>
        </p:spPr>
      </p:sp>
      <p:sp>
        <p:nvSpPr>
          <p:cNvPr id="32" name="!!dot8"/>
          <p:cNvSpPr/>
          <p:nvPr/>
        </p:nvSpPr>
        <p:spPr>
          <a:xfrm>
            <a:off x="11201400" y="6451092"/>
            <a:ext cx="91440" cy="91440"/>
          </a:xfrm>
          <a:prstGeom prst="roundRect">
            <a:avLst>
              <a:gd name="adj" fmla="val 50000"/>
            </a:avLst>
          </a:prstGeom>
          <a:solidFill>
            <a:srgbClr val="D9DCE8"/>
          </a:solidFill>
          <a:ln/>
        </p:spPr>
      </p:sp>
      <p:sp>
        <p:nvSpPr>
          <p:cNvPr id="33" name="!!dot9"/>
          <p:cNvSpPr/>
          <p:nvPr/>
        </p:nvSpPr>
        <p:spPr>
          <a:xfrm>
            <a:off x="11384280" y="6451092"/>
            <a:ext cx="91440" cy="91440"/>
          </a:xfrm>
          <a:prstGeom prst="roundRect">
            <a:avLst>
              <a:gd name="adj" fmla="val 50000"/>
            </a:avLst>
          </a:prstGeom>
          <a:solidFill>
            <a:srgbClr val="D9DCE8"/>
          </a:solidFill>
          <a:ln/>
        </p:spPr>
      </p:sp>
      <p:sp>
        <p:nvSpPr>
          <p:cNvPr id="34" name="!!dot10"/>
          <p:cNvSpPr/>
          <p:nvPr/>
        </p:nvSpPr>
        <p:spPr>
          <a:xfrm>
            <a:off x="11567160" y="6451092"/>
            <a:ext cx="91440" cy="91440"/>
          </a:xfrm>
          <a:prstGeom prst="roundRect">
            <a:avLst>
              <a:gd name="adj" fmla="val 50000"/>
            </a:avLst>
          </a:prstGeom>
          <a:solidFill>
            <a:srgbClr val="D9DCE8"/>
          </a:solidFill>
          <a:ln/>
        </p:spPr>
      </p:sp>
      <p:sp>
        <p:nvSpPr>
          <p:cNvPr id="35" name="!!dot11"/>
          <p:cNvSpPr/>
          <p:nvPr/>
        </p:nvSpPr>
        <p:spPr>
          <a:xfrm>
            <a:off x="11750040" y="6451092"/>
            <a:ext cx="91440" cy="91440"/>
          </a:xfrm>
          <a:prstGeom prst="roundRect">
            <a:avLst>
              <a:gd name="adj" fmla="val 50000"/>
            </a:avLst>
          </a:prstGeom>
          <a:solidFill>
            <a:srgbClr val="D9DCE8"/>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8"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14"/>
                                        </p:tgtEl>
                                        <p:attrNameLst>
                                          <p:attrName>style.visibility</p:attrName>
                                        </p:attrNameLst>
                                      </p:cBhvr>
                                      <p:to>
                                        <p:strVal val="visible"/>
                                      </p:to>
                                    </p:set>
                                    <p:animEffect transition="in" filter="fade">
                                      <p:cBhvr>
                                        <p:cTn id="6" dur="500"/>
                                        <p:tgtEl>
                                          <p:spTgt spid="14"/>
                                        </p:tgtEl>
                                      </p:cBhvr>
                                    </p:animEffect>
                                    <p:anim calcmode="lin" valueType="num">
                                      <p:cBhvr>
                                        <p:cTn id="7" dur="500" decel="100000" fill="hold"/>
                                        <p:tgtEl>
                                          <p:spTgt spid="14"/>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14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anim calcmode="lin" valueType="num">
                                      <p:cBhvr>
                                        <p:cTn id="11" dur="500" decel="100000" fill="hold"/>
                                        <p:tgtEl>
                                          <p:spTgt spid="15"/>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14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anim calcmode="lin" valueType="num">
                                      <p:cBhvr>
                                        <p:cTn id="15" dur="500" decel="100000" fill="hold"/>
                                        <p:tgtEl>
                                          <p:spTgt spid="16"/>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28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decel="100000" fill="hold"/>
                                        <p:tgtEl>
                                          <p:spTgt spid="17"/>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28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anim calcmode="lin" valueType="num">
                                      <p:cBhvr>
                                        <p:cTn id="23" dur="500" decel="100000" fill="hold"/>
                                        <p:tgtEl>
                                          <p:spTgt spid="18"/>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42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anim calcmode="lin" valueType="num">
                                      <p:cBhvr>
                                        <p:cTn id="27" dur="500" decel="100000" fill="hold"/>
                                        <p:tgtEl>
                                          <p:spTgt spid="19"/>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42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anim calcmode="lin" valueType="num">
                                      <p:cBhvr>
                                        <p:cTn id="31" dur="500" decel="100000" fill="hold"/>
                                        <p:tgtEl>
                                          <p:spTgt spid="20"/>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56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p:cTn id="35" dur="500" decel="100000" fill="hold"/>
                                        <p:tgtEl>
                                          <p:spTgt spid="21"/>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56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500"/>
                                        <p:tgtEl>
                                          <p:spTgt spid="22"/>
                                        </p:tgtEl>
                                      </p:cBhvr>
                                    </p:animEffect>
                                    <p:anim calcmode="lin" valueType="num">
                                      <p:cBhvr>
                                        <p:cTn id="39" dur="500" decel="100000" fill="hold"/>
                                        <p:tgtEl>
                                          <p:spTgt spid="22"/>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70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500"/>
                                        <p:tgtEl>
                                          <p:spTgt spid="6"/>
                                        </p:tgtEl>
                                      </p:cBhvr>
                                    </p:animEffect>
                                    <p:anim calcmode="lin" valueType="num">
                                      <p:cBhvr>
                                        <p:cTn id="43" dur="500" decel="100000" fill="hold"/>
                                        <p:tgtEl>
                                          <p:spTgt spid="6"/>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84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decel="100000" fill="hold"/>
                                        <p:tgtEl>
                                          <p:spTgt spid="1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6" grpId="0" animBg="1"/>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02  ·  REAL-WORLD PROBLEM</a:t>
            </a:r>
            <a:endParaRPr lang="en-US" sz="1200" dirty="0"/>
          </a:p>
        </p:txBody>
      </p:sp>
      <p:sp>
        <p:nvSpPr>
          <p:cNvPr id="3" name="!!title"/>
          <p:cNvSpPr txBox="1"/>
          <p:nvPr/>
        </p:nvSpPr>
        <p:spPr>
          <a:xfrm>
            <a:off x="548640" y="804672"/>
            <a:ext cx="1042416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RAG assumes more context means better answers</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02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365760" cy="91440"/>
          </a:xfrm>
          <a:prstGeom prst="roundRect">
            <a:avLst>
              <a:gd name="adj" fmla="val 50000"/>
            </a:avLst>
          </a:prstGeom>
          <a:solidFill>
            <a:srgbClr val="C97700"/>
          </a:solidFill>
          <a:ln/>
        </p:spPr>
      </p:sp>
      <p:sp>
        <p:nvSpPr>
          <p:cNvPr id="8" name="!!dot3"/>
          <p:cNvSpPr/>
          <p:nvPr/>
        </p:nvSpPr>
        <p:spPr>
          <a:xfrm>
            <a:off x="10287000" y="6451092"/>
            <a:ext cx="91440" cy="91440"/>
          </a:xfrm>
          <a:prstGeom prst="roundRect">
            <a:avLst>
              <a:gd name="adj" fmla="val 50000"/>
            </a:avLst>
          </a:prstGeom>
          <a:solidFill>
            <a:srgbClr val="D9DCE8"/>
          </a:solidFill>
          <a:ln/>
        </p:spPr>
      </p:sp>
      <p:sp>
        <p:nvSpPr>
          <p:cNvPr id="9" name="!!dot4"/>
          <p:cNvSpPr/>
          <p:nvPr/>
        </p:nvSpPr>
        <p:spPr>
          <a:xfrm>
            <a:off x="10469880" y="6451092"/>
            <a:ext cx="91440" cy="91440"/>
          </a:xfrm>
          <a:prstGeom prst="roundRect">
            <a:avLst>
              <a:gd name="adj" fmla="val 50000"/>
            </a:avLst>
          </a:prstGeom>
          <a:solidFill>
            <a:srgbClr val="D9DCE8"/>
          </a:solidFill>
          <a:ln/>
        </p:spPr>
      </p:sp>
      <p:sp>
        <p:nvSpPr>
          <p:cNvPr id="10" name="!!dot5"/>
          <p:cNvSpPr/>
          <p:nvPr/>
        </p:nvSpPr>
        <p:spPr>
          <a:xfrm>
            <a:off x="10652760" y="6451092"/>
            <a:ext cx="91440" cy="91440"/>
          </a:xfrm>
          <a:prstGeom prst="roundRect">
            <a:avLst>
              <a:gd name="adj" fmla="val 50000"/>
            </a:avLst>
          </a:prstGeom>
          <a:solidFill>
            <a:srgbClr val="D9DCE8"/>
          </a:solidFill>
          <a:ln/>
        </p:spPr>
      </p:sp>
      <p:sp>
        <p:nvSpPr>
          <p:cNvPr id="11" name="!!dot6"/>
          <p:cNvSpPr/>
          <p:nvPr/>
        </p:nvSpPr>
        <p:spPr>
          <a:xfrm>
            <a:off x="10835640" y="6451092"/>
            <a:ext cx="91440" cy="91440"/>
          </a:xfrm>
          <a:prstGeom prst="roundRect">
            <a:avLst>
              <a:gd name="adj" fmla="val 50000"/>
            </a:avLst>
          </a:prstGeom>
          <a:solidFill>
            <a:srgbClr val="D9DCE8"/>
          </a:solidFill>
          <a:ln/>
        </p:spPr>
      </p:sp>
      <p:sp>
        <p:nvSpPr>
          <p:cNvPr id="12" name="!!dot7"/>
          <p:cNvSpPr/>
          <p:nvPr/>
        </p:nvSpPr>
        <p:spPr>
          <a:xfrm>
            <a:off x="11018520" y="6451092"/>
            <a:ext cx="91440" cy="91440"/>
          </a:xfrm>
          <a:prstGeom prst="roundRect">
            <a:avLst>
              <a:gd name="adj" fmla="val 50000"/>
            </a:avLst>
          </a:prstGeom>
          <a:solidFill>
            <a:srgbClr val="D9DCE8"/>
          </a:solidFill>
          <a:ln/>
        </p:spPr>
      </p:sp>
      <p:sp>
        <p:nvSpPr>
          <p:cNvPr id="13" name="!!dot8"/>
          <p:cNvSpPr/>
          <p:nvPr/>
        </p:nvSpPr>
        <p:spPr>
          <a:xfrm>
            <a:off x="11201400" y="6451092"/>
            <a:ext cx="91440" cy="91440"/>
          </a:xfrm>
          <a:prstGeom prst="roundRect">
            <a:avLst>
              <a:gd name="adj" fmla="val 50000"/>
            </a:avLst>
          </a:prstGeom>
          <a:solidFill>
            <a:srgbClr val="D9DCE8"/>
          </a:solidFill>
          <a:ln/>
        </p:spPr>
      </p:sp>
      <p:sp>
        <p:nvSpPr>
          <p:cNvPr id="14" name="!!dot9"/>
          <p:cNvSpPr/>
          <p:nvPr/>
        </p:nvSpPr>
        <p:spPr>
          <a:xfrm>
            <a:off x="11384280" y="6451092"/>
            <a:ext cx="91440" cy="91440"/>
          </a:xfrm>
          <a:prstGeom prst="roundRect">
            <a:avLst>
              <a:gd name="adj" fmla="val 50000"/>
            </a:avLst>
          </a:prstGeom>
          <a:solidFill>
            <a:srgbClr val="D9DCE8"/>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pQ"/>
          <p:cNvSpPr/>
          <p:nvPr/>
        </p:nvSpPr>
        <p:spPr>
          <a:xfrm>
            <a:off x="548640" y="2514600"/>
            <a:ext cx="2148840" cy="731520"/>
          </a:xfrm>
          <a:prstGeom prst="roundRect">
            <a:avLst>
              <a:gd name="adj" fmla="val 17500"/>
            </a:avLst>
          </a:prstGeom>
          <a:solidFill>
            <a:srgbClr val="EEF0F7"/>
          </a:solidFill>
          <a:ln w="9525">
            <a:solidFill>
              <a:srgbClr val="D9DCE8"/>
            </a:solidFill>
            <a:prstDash val="solid"/>
          </a:ln>
          <a:effectLst>
            <a:outerShdw sx="100000" sy="100000" kx="0" ky="0" algn="bl" rotWithShape="0" blurRad="177800" dist="50800" dir="5400000">
              <a:srgbClr val="1B2140">
                <a:alpha val="10000"/>
              </a:srgbClr>
            </a:outerShdw>
          </a:effectLst>
        </p:spPr>
      </p:sp>
      <p:pic>
        <p:nvPicPr>
          <p:cNvPr id="18" name="pQ_i" descr="preencoded.png">    </p:cNvPr>
          <p:cNvPicPr>
            <a:picLocks noChangeAspect="1"/>
          </p:cNvPicPr>
          <p:nvPr/>
        </p:nvPicPr>
        <p:blipFill>
          <a:blip r:embed="rId1"/>
          <a:stretch>
            <a:fillRect/>
          </a:stretch>
        </p:blipFill>
        <p:spPr>
          <a:xfrm>
            <a:off x="749808" y="2724912"/>
            <a:ext cx="310896" cy="310896"/>
          </a:xfrm>
          <a:prstGeom prst="rect">
            <a:avLst/>
          </a:prstGeom>
        </p:spPr>
      </p:pic>
      <p:sp>
        <p:nvSpPr>
          <p:cNvPr id="19" name="pQ_t"/>
          <p:cNvSpPr txBox="1"/>
          <p:nvPr/>
        </p:nvSpPr>
        <p:spPr>
          <a:xfrm>
            <a:off x="1170432" y="2724912"/>
            <a:ext cx="1417320" cy="329184"/>
          </a:xfrm>
          <a:prstGeom prst="rect">
            <a:avLst/>
          </a:prstGeom>
          <a:noFill/>
          <a:ln/>
        </p:spPr>
        <p:txBody>
          <a:bodyPr wrap="square" lIns="0" tIns="0" rIns="0" bIns="0" rtlCol="0" anchor="ctr"/>
          <a:lstStyle/>
          <a:p>
            <a:pPr indent="0" marL="0">
              <a:buNone/>
            </a:pPr>
            <a:r>
              <a:rPr lang="en-US" sz="1600" b="1" dirty="0">
                <a:solidFill>
                  <a:srgbClr val="16182B"/>
                </a:solidFill>
                <a:latin typeface="Calibri" pitchFamily="34" charset="0"/>
                <a:ea typeface="Calibri" pitchFamily="34" charset="-122"/>
                <a:cs typeface="Calibri" pitchFamily="34" charset="-120"/>
              </a:rPr>
              <a:t>Question</a:t>
            </a:r>
            <a:endParaRPr lang="en-US" sz="1600" dirty="0"/>
          </a:p>
        </p:txBody>
      </p:sp>
      <p:sp>
        <p:nvSpPr>
          <p:cNvPr id="20" name="pL"/>
          <p:cNvSpPr/>
          <p:nvPr/>
        </p:nvSpPr>
        <p:spPr>
          <a:xfrm>
            <a:off x="6766560" y="2514600"/>
            <a:ext cx="2103120" cy="731520"/>
          </a:xfrm>
          <a:prstGeom prst="roundRect">
            <a:avLst>
              <a:gd name="adj" fmla="val 17500"/>
            </a:avLst>
          </a:prstGeom>
          <a:solidFill>
            <a:srgbClr val="EEF0F7"/>
          </a:solidFill>
          <a:ln w="9525">
            <a:solidFill>
              <a:srgbClr val="D9DCE8"/>
            </a:solidFill>
            <a:prstDash val="solid"/>
          </a:ln>
          <a:effectLst>
            <a:outerShdw sx="100000" sy="100000" kx="0" ky="0" algn="bl" rotWithShape="0" blurRad="177800" dist="50800" dir="5400000">
              <a:srgbClr val="1B2140">
                <a:alpha val="10000"/>
              </a:srgbClr>
            </a:outerShdw>
          </a:effectLst>
        </p:spPr>
      </p:sp>
      <p:pic>
        <p:nvPicPr>
          <p:cNvPr id="21" name="pL_i" descr="preencoded.png">    </p:cNvPr>
          <p:cNvPicPr>
            <a:picLocks noChangeAspect="1"/>
          </p:cNvPicPr>
          <p:nvPr/>
        </p:nvPicPr>
        <p:blipFill>
          <a:blip r:embed="rId2"/>
          <a:stretch>
            <a:fillRect/>
          </a:stretch>
        </p:blipFill>
        <p:spPr>
          <a:xfrm>
            <a:off x="6967728" y="2724912"/>
            <a:ext cx="310896" cy="310896"/>
          </a:xfrm>
          <a:prstGeom prst="rect">
            <a:avLst/>
          </a:prstGeom>
        </p:spPr>
      </p:pic>
      <p:sp>
        <p:nvSpPr>
          <p:cNvPr id="22" name="pL_t"/>
          <p:cNvSpPr txBox="1"/>
          <p:nvPr/>
        </p:nvSpPr>
        <p:spPr>
          <a:xfrm>
            <a:off x="7388352" y="2724912"/>
            <a:ext cx="1371600" cy="329184"/>
          </a:xfrm>
          <a:prstGeom prst="rect">
            <a:avLst/>
          </a:prstGeom>
          <a:noFill/>
          <a:ln/>
        </p:spPr>
        <p:txBody>
          <a:bodyPr wrap="square" lIns="0" tIns="0" rIns="0" bIns="0" rtlCol="0" anchor="ctr"/>
          <a:lstStyle/>
          <a:p>
            <a:pPr indent="0" marL="0">
              <a:buNone/>
            </a:pPr>
            <a:r>
              <a:rPr lang="en-US" sz="1600" b="1" dirty="0">
                <a:solidFill>
                  <a:srgbClr val="16182B"/>
                </a:solidFill>
                <a:latin typeface="Calibri" pitchFamily="34" charset="0"/>
                <a:ea typeface="Calibri" pitchFamily="34" charset="-122"/>
                <a:cs typeface="Calibri" pitchFamily="34" charset="-120"/>
              </a:rPr>
              <a:t>LLM</a:t>
            </a:r>
            <a:endParaRPr lang="en-US" sz="1600" dirty="0"/>
          </a:p>
        </p:txBody>
      </p:sp>
      <p:sp>
        <p:nvSpPr>
          <p:cNvPr id="23" name="pA"/>
          <p:cNvSpPr/>
          <p:nvPr/>
        </p:nvSpPr>
        <p:spPr>
          <a:xfrm>
            <a:off x="9464040" y="2514600"/>
            <a:ext cx="2148840" cy="731520"/>
          </a:xfrm>
          <a:prstGeom prst="roundRect">
            <a:avLst>
              <a:gd name="adj" fmla="val 17500"/>
            </a:avLst>
          </a:prstGeom>
          <a:solidFill>
            <a:srgbClr val="EEF0F7"/>
          </a:solidFill>
          <a:ln w="9525">
            <a:solidFill>
              <a:srgbClr val="D9DCE8"/>
            </a:solidFill>
            <a:prstDash val="solid"/>
          </a:ln>
          <a:effectLst>
            <a:outerShdw sx="100000" sy="100000" kx="0" ky="0" algn="bl" rotWithShape="0" blurRad="177800" dist="50800" dir="5400000">
              <a:srgbClr val="1B2140">
                <a:alpha val="10000"/>
              </a:srgbClr>
            </a:outerShdw>
          </a:effectLst>
        </p:spPr>
      </p:sp>
      <p:pic>
        <p:nvPicPr>
          <p:cNvPr id="24" name="pA_i" descr="preencoded.png">    </p:cNvPr>
          <p:cNvPicPr>
            <a:picLocks noChangeAspect="1"/>
          </p:cNvPicPr>
          <p:nvPr/>
        </p:nvPicPr>
        <p:blipFill>
          <a:blip r:embed="rId3"/>
          <a:stretch>
            <a:fillRect/>
          </a:stretch>
        </p:blipFill>
        <p:spPr>
          <a:xfrm>
            <a:off x="9665208" y="2724912"/>
            <a:ext cx="310896" cy="310896"/>
          </a:xfrm>
          <a:prstGeom prst="rect">
            <a:avLst/>
          </a:prstGeom>
        </p:spPr>
      </p:pic>
      <p:sp>
        <p:nvSpPr>
          <p:cNvPr id="25" name="pA_t"/>
          <p:cNvSpPr txBox="1"/>
          <p:nvPr/>
        </p:nvSpPr>
        <p:spPr>
          <a:xfrm>
            <a:off x="10085832" y="2724912"/>
            <a:ext cx="1417320" cy="329184"/>
          </a:xfrm>
          <a:prstGeom prst="rect">
            <a:avLst/>
          </a:prstGeom>
          <a:noFill/>
          <a:ln/>
        </p:spPr>
        <p:txBody>
          <a:bodyPr wrap="square" lIns="0" tIns="0" rIns="0" bIns="0" rtlCol="0" anchor="ctr"/>
          <a:lstStyle/>
          <a:p>
            <a:pPr indent="0" marL="0">
              <a:buNone/>
            </a:pPr>
            <a:r>
              <a:rPr lang="en-US" sz="1600" b="1" dirty="0">
                <a:solidFill>
                  <a:srgbClr val="16182B"/>
                </a:solidFill>
                <a:latin typeface="Calibri" pitchFamily="34" charset="0"/>
                <a:ea typeface="Calibri" pitchFamily="34" charset="-122"/>
                <a:cs typeface="Calibri" pitchFamily="34" charset="-120"/>
              </a:rPr>
              <a:t>Answer</a:t>
            </a:r>
            <a:endParaRPr lang="en-US" sz="1600" dirty="0"/>
          </a:p>
        </p:txBody>
      </p:sp>
      <p:sp>
        <p:nvSpPr>
          <p:cNvPr id="26" name="!!lensGlow"/>
          <p:cNvSpPr/>
          <p:nvPr/>
        </p:nvSpPr>
        <p:spPr>
          <a:xfrm>
            <a:off x="3790645" y="1961845"/>
            <a:ext cx="1837030" cy="1837030"/>
          </a:xfrm>
          <a:prstGeom prst="ellipse">
            <a:avLst/>
          </a:prstGeom>
          <a:solidFill>
            <a:srgbClr val="C97700">
              <a:alpha val="9000"/>
            </a:srgbClr>
          </a:solidFill>
          <a:ln/>
        </p:spPr>
      </p:sp>
      <p:sp>
        <p:nvSpPr>
          <p:cNvPr id="27" name="!!lensInner"/>
          <p:cNvSpPr/>
          <p:nvPr/>
        </p:nvSpPr>
        <p:spPr>
          <a:xfrm>
            <a:off x="3969868" y="2141068"/>
            <a:ext cx="1478585" cy="1478585"/>
          </a:xfrm>
          <a:prstGeom prst="ellipse">
            <a:avLst/>
          </a:prstGeom>
          <a:ln w="12700">
            <a:solidFill>
              <a:srgbClr val="0E9C86">
                <a:alpha val="45000"/>
              </a:srgbClr>
            </a:solidFill>
            <a:prstDash val="solid"/>
          </a:ln>
        </p:spPr>
      </p:sp>
      <p:sp>
        <p:nvSpPr>
          <p:cNvPr id="28" name="!!lensRing"/>
          <p:cNvSpPr/>
          <p:nvPr/>
        </p:nvSpPr>
        <p:spPr>
          <a:xfrm>
            <a:off x="3589020" y="1760220"/>
            <a:ext cx="2240280" cy="2240280"/>
          </a:xfrm>
          <a:prstGeom prst="ellipse">
            <a:avLst/>
          </a:prstGeom>
          <a:ln w="31750">
            <a:solidFill>
              <a:srgbClr val="C97700"/>
            </a:solidFill>
            <a:prstDash val="solid"/>
          </a:ln>
        </p:spPr>
      </p:sp>
      <p:sp>
        <p:nvSpPr>
          <p:cNvPr id="29" name="!!lensGlint"/>
          <p:cNvSpPr/>
          <p:nvPr/>
        </p:nvSpPr>
        <p:spPr>
          <a:xfrm>
            <a:off x="5422809" y="2009892"/>
            <a:ext cx="156820" cy="156820"/>
          </a:xfrm>
          <a:prstGeom prst="ellipse">
            <a:avLst/>
          </a:prstGeom>
          <a:solidFill>
            <a:srgbClr val="C97700"/>
          </a:solidFill>
          <a:ln/>
        </p:spPr>
      </p:sp>
      <p:sp>
        <p:nvSpPr>
          <p:cNvPr id="30" name="pR"/>
          <p:cNvSpPr txBox="1"/>
          <p:nvPr/>
        </p:nvSpPr>
        <p:spPr>
          <a:xfrm>
            <a:off x="3749040" y="2313432"/>
            <a:ext cx="1920240" cy="365760"/>
          </a:xfrm>
          <a:prstGeom prst="rect">
            <a:avLst/>
          </a:prstGeom>
          <a:noFill/>
          <a:ln/>
        </p:spPr>
        <p:txBody>
          <a:bodyPr wrap="square" lIns="0" tIns="0" rIns="0" bIns="0" rtlCol="0" anchor="t"/>
          <a:lstStyle/>
          <a:p>
            <a:pPr algn="ctr" indent="0" marL="0">
              <a:buNone/>
            </a:pPr>
            <a:r>
              <a:rPr lang="en-US" sz="1600" b="1" dirty="0">
                <a:solidFill>
                  <a:srgbClr val="16182B"/>
                </a:solidFill>
                <a:latin typeface="Calibri" pitchFamily="34" charset="0"/>
                <a:ea typeface="Calibri" pitchFamily="34" charset="-122"/>
                <a:cs typeface="Calibri" pitchFamily="34" charset="-120"/>
              </a:rPr>
              <a:t>Top-K retrieval</a:t>
            </a:r>
            <a:endParaRPr lang="en-US" sz="1600" dirty="0"/>
          </a:p>
        </p:txBody>
      </p:sp>
      <p:sp>
        <p:nvSpPr>
          <p:cNvPr id="31" name="!!k1"/>
          <p:cNvSpPr/>
          <p:nvPr/>
        </p:nvSpPr>
        <p:spPr>
          <a:xfrm>
            <a:off x="3730752" y="2834640"/>
            <a:ext cx="457200" cy="29260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900" b="1" dirty="0">
                <a:solidFill>
                  <a:srgbClr val="C97700"/>
                </a:solidFill>
                <a:latin typeface="Consolas" pitchFamily="34" charset="0"/>
                <a:ea typeface="Consolas" pitchFamily="34" charset="-122"/>
                <a:cs typeface="Consolas" pitchFamily="34" charset="-120"/>
              </a:rPr>
              <a:t>K=1</a:t>
            </a:r>
            <a:endParaRPr lang="en-US" sz="900" dirty="0"/>
          </a:p>
        </p:txBody>
      </p:sp>
      <p:sp>
        <p:nvSpPr>
          <p:cNvPr id="32" name="!!k3"/>
          <p:cNvSpPr/>
          <p:nvPr/>
        </p:nvSpPr>
        <p:spPr>
          <a:xfrm>
            <a:off x="4233672" y="2834640"/>
            <a:ext cx="457200" cy="29260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900" b="1" dirty="0">
                <a:solidFill>
                  <a:srgbClr val="C97700"/>
                </a:solidFill>
                <a:latin typeface="Consolas" pitchFamily="34" charset="0"/>
                <a:ea typeface="Consolas" pitchFamily="34" charset="-122"/>
                <a:cs typeface="Consolas" pitchFamily="34" charset="-120"/>
              </a:rPr>
              <a:t>K=3</a:t>
            </a:r>
            <a:endParaRPr lang="en-US" sz="900" dirty="0"/>
          </a:p>
        </p:txBody>
      </p:sp>
      <p:sp>
        <p:nvSpPr>
          <p:cNvPr id="33" name="!!k5"/>
          <p:cNvSpPr/>
          <p:nvPr/>
        </p:nvSpPr>
        <p:spPr>
          <a:xfrm>
            <a:off x="4736592" y="2834640"/>
            <a:ext cx="457200" cy="29260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900" b="1" dirty="0">
                <a:solidFill>
                  <a:srgbClr val="C97700"/>
                </a:solidFill>
                <a:latin typeface="Consolas" pitchFamily="34" charset="0"/>
                <a:ea typeface="Consolas" pitchFamily="34" charset="-122"/>
                <a:cs typeface="Consolas" pitchFamily="34" charset="-120"/>
              </a:rPr>
              <a:t>K=5</a:t>
            </a:r>
            <a:endParaRPr lang="en-US" sz="900" dirty="0"/>
          </a:p>
        </p:txBody>
      </p:sp>
      <p:sp>
        <p:nvSpPr>
          <p:cNvPr id="34" name="!!k10"/>
          <p:cNvSpPr/>
          <p:nvPr/>
        </p:nvSpPr>
        <p:spPr>
          <a:xfrm>
            <a:off x="5239512" y="2834640"/>
            <a:ext cx="457200" cy="29260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900" b="1" dirty="0">
                <a:solidFill>
                  <a:srgbClr val="C97700"/>
                </a:solidFill>
                <a:latin typeface="Consolas" pitchFamily="34" charset="0"/>
                <a:ea typeface="Consolas" pitchFamily="34" charset="-122"/>
                <a:cs typeface="Consolas" pitchFamily="34" charset="-120"/>
              </a:rPr>
              <a:t>K=10</a:t>
            </a:r>
            <a:endParaRPr lang="en-US" sz="900" dirty="0"/>
          </a:p>
        </p:txBody>
      </p:sp>
      <p:sp>
        <p:nvSpPr>
          <p:cNvPr id="35" name="pRq"/>
          <p:cNvSpPr txBox="1"/>
          <p:nvPr/>
        </p:nvSpPr>
        <p:spPr>
          <a:xfrm>
            <a:off x="3749040" y="3264408"/>
            <a:ext cx="1920240" cy="320040"/>
          </a:xfrm>
          <a:prstGeom prst="rect">
            <a:avLst/>
          </a:prstGeom>
          <a:noFill/>
          <a:ln/>
        </p:spPr>
        <p:txBody>
          <a:bodyPr wrap="square" lIns="0" tIns="0" rIns="0" bIns="0" rtlCol="0" anchor="t"/>
          <a:lstStyle/>
          <a:p>
            <a:pPr algn="ctr" indent="0" marL="0">
              <a:buNone/>
            </a:pPr>
            <a:r>
              <a:rPr lang="en-US" sz="1500" i="1" dirty="0">
                <a:solidFill>
                  <a:srgbClr val="C97700"/>
                </a:solidFill>
                <a:latin typeface="Cambria" pitchFamily="34" charset="0"/>
                <a:ea typeface="Cambria" pitchFamily="34" charset="-122"/>
                <a:cs typeface="Cambria" pitchFamily="34" charset="-120"/>
              </a:rPr>
              <a:t>K = ?</a:t>
            </a:r>
            <a:endParaRPr lang="en-US" sz="1500" dirty="0"/>
          </a:p>
        </p:txBody>
      </p:sp>
      <p:sp>
        <p:nvSpPr>
          <p:cNvPr id="36" name="a1"/>
          <p:cNvSpPr/>
          <p:nvPr/>
        </p:nvSpPr>
        <p:spPr>
          <a:xfrm>
            <a:off x="2788920" y="2880360"/>
            <a:ext cx="731520" cy="0"/>
          </a:xfrm>
          <a:prstGeom prst="line">
            <a:avLst/>
          </a:prstGeom>
          <a:noFill/>
          <a:ln w="19050">
            <a:solidFill>
              <a:srgbClr val="565B75"/>
            </a:solidFill>
            <a:prstDash val="solid"/>
            <a:tailEnd type="triangle"/>
          </a:ln>
        </p:spPr>
      </p:sp>
      <p:sp>
        <p:nvSpPr>
          <p:cNvPr id="37" name="a2"/>
          <p:cNvSpPr/>
          <p:nvPr/>
        </p:nvSpPr>
        <p:spPr>
          <a:xfrm>
            <a:off x="5897880" y="2880360"/>
            <a:ext cx="777240" cy="0"/>
          </a:xfrm>
          <a:prstGeom prst="line">
            <a:avLst/>
          </a:prstGeom>
          <a:noFill/>
          <a:ln w="19050">
            <a:solidFill>
              <a:srgbClr val="565B75"/>
            </a:solidFill>
            <a:prstDash val="solid"/>
            <a:tailEnd type="triangle"/>
          </a:ln>
        </p:spPr>
      </p:sp>
      <p:sp>
        <p:nvSpPr>
          <p:cNvPr id="38" name="a3"/>
          <p:cNvSpPr/>
          <p:nvPr/>
        </p:nvSpPr>
        <p:spPr>
          <a:xfrm>
            <a:off x="8961120" y="2880360"/>
            <a:ext cx="411480" cy="0"/>
          </a:xfrm>
          <a:prstGeom prst="line">
            <a:avLst/>
          </a:prstGeom>
          <a:noFill/>
          <a:ln w="19050">
            <a:solidFill>
              <a:srgbClr val="565B75"/>
            </a:solidFill>
            <a:prstDash val="solid"/>
            <a:tailEnd type="triangle"/>
          </a:ln>
        </p:spPr>
      </p:sp>
      <p:sp>
        <p:nvSpPr>
          <p:cNvPr id="39" name="cons0"/>
          <p:cNvSpPr/>
          <p:nvPr/>
        </p:nvSpPr>
        <p:spPr>
          <a:xfrm>
            <a:off x="548640" y="4297680"/>
            <a:ext cx="2606040" cy="1508760"/>
          </a:xfrm>
          <a:prstGeom prst="roundRect">
            <a:avLst>
              <a:gd name="adj" fmla="val 8485"/>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40" name="consI0"/>
          <p:cNvSpPr/>
          <p:nvPr/>
        </p:nvSpPr>
        <p:spPr>
          <a:xfrm>
            <a:off x="777240" y="4526280"/>
            <a:ext cx="502920" cy="502920"/>
          </a:xfrm>
          <a:prstGeom prst="ellipse">
            <a:avLst/>
          </a:prstGeom>
          <a:solidFill>
            <a:srgbClr val="0E9C86">
              <a:alpha val="18000"/>
            </a:srgbClr>
          </a:solidFill>
          <a:ln/>
        </p:spPr>
      </p:sp>
      <p:pic>
        <p:nvPicPr>
          <p:cNvPr id="41" name="consI0_i" descr="preencoded.png">    </p:cNvPr>
          <p:cNvPicPr>
            <a:picLocks noChangeAspect="1"/>
          </p:cNvPicPr>
          <p:nvPr/>
        </p:nvPicPr>
        <p:blipFill>
          <a:blip r:embed="rId4"/>
          <a:stretch>
            <a:fillRect/>
          </a:stretch>
        </p:blipFill>
        <p:spPr>
          <a:xfrm>
            <a:off x="897941" y="4646981"/>
            <a:ext cx="261518" cy="261518"/>
          </a:xfrm>
          <a:prstGeom prst="rect">
            <a:avLst/>
          </a:prstGeom>
        </p:spPr>
      </p:pic>
      <p:sp>
        <p:nvSpPr>
          <p:cNvPr id="42" name="consH0"/>
          <p:cNvSpPr txBox="1"/>
          <p:nvPr/>
        </p:nvSpPr>
        <p:spPr>
          <a:xfrm>
            <a:off x="1417320" y="4590288"/>
            <a:ext cx="1645920" cy="36576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More coverage</a:t>
            </a:r>
            <a:endParaRPr lang="en-US" sz="1600" dirty="0"/>
          </a:p>
        </p:txBody>
      </p:sp>
      <p:sp>
        <p:nvSpPr>
          <p:cNvPr id="43" name="consD0"/>
          <p:cNvSpPr txBox="1"/>
          <p:nvPr/>
        </p:nvSpPr>
        <p:spPr>
          <a:xfrm>
            <a:off x="777240" y="5120640"/>
            <a:ext cx="2194560" cy="64008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Better odds that the answer-bearing passage reaches the prompt.</a:t>
            </a:r>
            <a:endParaRPr lang="en-US" sz="1300" dirty="0"/>
          </a:p>
        </p:txBody>
      </p:sp>
      <p:sp>
        <p:nvSpPr>
          <p:cNvPr id="44" name="cons1"/>
          <p:cNvSpPr/>
          <p:nvPr/>
        </p:nvSpPr>
        <p:spPr>
          <a:xfrm>
            <a:off x="3364992" y="4297680"/>
            <a:ext cx="2606040" cy="1508760"/>
          </a:xfrm>
          <a:prstGeom prst="roundRect">
            <a:avLst>
              <a:gd name="adj" fmla="val 8485"/>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45" name="consI1"/>
          <p:cNvSpPr/>
          <p:nvPr/>
        </p:nvSpPr>
        <p:spPr>
          <a:xfrm>
            <a:off x="3593592" y="4526280"/>
            <a:ext cx="502920" cy="502920"/>
          </a:xfrm>
          <a:prstGeom prst="ellipse">
            <a:avLst/>
          </a:prstGeom>
          <a:solidFill>
            <a:srgbClr val="E0474C">
              <a:alpha val="18000"/>
            </a:srgbClr>
          </a:solidFill>
          <a:ln/>
        </p:spPr>
      </p:sp>
      <p:pic>
        <p:nvPicPr>
          <p:cNvPr id="46" name="consI1_i" descr="preencoded.png">    </p:cNvPr>
          <p:cNvPicPr>
            <a:picLocks noChangeAspect="1"/>
          </p:cNvPicPr>
          <p:nvPr/>
        </p:nvPicPr>
        <p:blipFill>
          <a:blip r:embed="rId5"/>
          <a:stretch>
            <a:fillRect/>
          </a:stretch>
        </p:blipFill>
        <p:spPr>
          <a:xfrm>
            <a:off x="3714293" y="4646981"/>
            <a:ext cx="261518" cy="261518"/>
          </a:xfrm>
          <a:prstGeom prst="rect">
            <a:avLst/>
          </a:prstGeom>
        </p:spPr>
      </p:pic>
      <p:sp>
        <p:nvSpPr>
          <p:cNvPr id="47" name="consH1"/>
          <p:cNvSpPr txBox="1"/>
          <p:nvPr/>
        </p:nvSpPr>
        <p:spPr>
          <a:xfrm>
            <a:off x="4233672" y="4590288"/>
            <a:ext cx="1645920" cy="36576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More noise</a:t>
            </a:r>
            <a:endParaRPr lang="en-US" sz="1600" dirty="0"/>
          </a:p>
        </p:txBody>
      </p:sp>
      <p:sp>
        <p:nvSpPr>
          <p:cNvPr id="48" name="consD1"/>
          <p:cNvSpPr txBox="1"/>
          <p:nvPr/>
        </p:nvSpPr>
        <p:spPr>
          <a:xfrm>
            <a:off x="3593592" y="5120640"/>
            <a:ext cx="2194560" cy="64008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Off-topic and near-duplicate chunks compete for attention.</a:t>
            </a:r>
            <a:endParaRPr lang="en-US" sz="1300" dirty="0"/>
          </a:p>
        </p:txBody>
      </p:sp>
      <p:sp>
        <p:nvSpPr>
          <p:cNvPr id="49" name="cons2"/>
          <p:cNvSpPr/>
          <p:nvPr/>
        </p:nvSpPr>
        <p:spPr>
          <a:xfrm>
            <a:off x="6181344" y="4297680"/>
            <a:ext cx="2606040" cy="1508760"/>
          </a:xfrm>
          <a:prstGeom prst="roundRect">
            <a:avLst>
              <a:gd name="adj" fmla="val 8485"/>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50" name="consI2"/>
          <p:cNvSpPr/>
          <p:nvPr/>
        </p:nvSpPr>
        <p:spPr>
          <a:xfrm>
            <a:off x="6409944" y="4526280"/>
            <a:ext cx="502920" cy="502920"/>
          </a:xfrm>
          <a:prstGeom prst="ellipse">
            <a:avLst/>
          </a:prstGeom>
          <a:solidFill>
            <a:srgbClr val="7656E0">
              <a:alpha val="18000"/>
            </a:srgbClr>
          </a:solidFill>
          <a:ln/>
        </p:spPr>
      </p:sp>
      <p:pic>
        <p:nvPicPr>
          <p:cNvPr id="51" name="consI2_i" descr="preencoded.png">    </p:cNvPr>
          <p:cNvPicPr>
            <a:picLocks noChangeAspect="1"/>
          </p:cNvPicPr>
          <p:nvPr/>
        </p:nvPicPr>
        <p:blipFill>
          <a:blip r:embed="rId6"/>
          <a:stretch>
            <a:fillRect/>
          </a:stretch>
        </p:blipFill>
        <p:spPr>
          <a:xfrm>
            <a:off x="6530645" y="4646981"/>
            <a:ext cx="261518" cy="261518"/>
          </a:xfrm>
          <a:prstGeom prst="rect">
            <a:avLst/>
          </a:prstGeom>
        </p:spPr>
      </p:pic>
      <p:sp>
        <p:nvSpPr>
          <p:cNvPr id="52" name="consH2"/>
          <p:cNvSpPr txBox="1"/>
          <p:nvPr/>
        </p:nvSpPr>
        <p:spPr>
          <a:xfrm>
            <a:off x="7050024" y="4590288"/>
            <a:ext cx="1645920" cy="36576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More latency</a:t>
            </a:r>
            <a:endParaRPr lang="en-US" sz="1600" dirty="0"/>
          </a:p>
        </p:txBody>
      </p:sp>
      <p:sp>
        <p:nvSpPr>
          <p:cNvPr id="53" name="consD2"/>
          <p:cNvSpPr txBox="1"/>
          <p:nvPr/>
        </p:nvSpPr>
        <p:spPr>
          <a:xfrm>
            <a:off x="6409944" y="5120640"/>
            <a:ext cx="2194560" cy="64008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Longer prompts mean slower, costlier generation.</a:t>
            </a:r>
            <a:endParaRPr lang="en-US" sz="1300" dirty="0"/>
          </a:p>
        </p:txBody>
      </p:sp>
      <p:sp>
        <p:nvSpPr>
          <p:cNvPr id="54" name="cons3"/>
          <p:cNvSpPr/>
          <p:nvPr/>
        </p:nvSpPr>
        <p:spPr>
          <a:xfrm>
            <a:off x="8997696" y="4297680"/>
            <a:ext cx="2606040" cy="1508760"/>
          </a:xfrm>
          <a:prstGeom prst="roundRect">
            <a:avLst>
              <a:gd name="adj" fmla="val 8485"/>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55" name="consI3"/>
          <p:cNvSpPr/>
          <p:nvPr/>
        </p:nvSpPr>
        <p:spPr>
          <a:xfrm>
            <a:off x="9226296" y="4526280"/>
            <a:ext cx="502920" cy="502920"/>
          </a:xfrm>
          <a:prstGeom prst="ellipse">
            <a:avLst/>
          </a:prstGeom>
          <a:solidFill>
            <a:srgbClr val="E0474C">
              <a:alpha val="18000"/>
            </a:srgbClr>
          </a:solidFill>
          <a:ln/>
        </p:spPr>
      </p:sp>
      <p:pic>
        <p:nvPicPr>
          <p:cNvPr id="56" name="consI3_i" descr="preencoded.png">    </p:cNvPr>
          <p:cNvPicPr>
            <a:picLocks noChangeAspect="1"/>
          </p:cNvPicPr>
          <p:nvPr/>
        </p:nvPicPr>
        <p:blipFill>
          <a:blip r:embed="rId7"/>
          <a:stretch>
            <a:fillRect/>
          </a:stretch>
        </p:blipFill>
        <p:spPr>
          <a:xfrm>
            <a:off x="9346997" y="4646981"/>
            <a:ext cx="261518" cy="261518"/>
          </a:xfrm>
          <a:prstGeom prst="rect">
            <a:avLst/>
          </a:prstGeom>
        </p:spPr>
      </p:pic>
      <p:sp>
        <p:nvSpPr>
          <p:cNvPr id="57" name="consH3"/>
          <p:cNvSpPr txBox="1"/>
          <p:nvPr/>
        </p:nvSpPr>
        <p:spPr>
          <a:xfrm>
            <a:off x="9866376" y="4590288"/>
            <a:ext cx="1645920" cy="36576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More room to drift</a:t>
            </a:r>
            <a:endParaRPr lang="en-US" sz="1600" dirty="0"/>
          </a:p>
        </p:txBody>
      </p:sp>
      <p:sp>
        <p:nvSpPr>
          <p:cNvPr id="58" name="consD3"/>
          <p:cNvSpPr txBox="1"/>
          <p:nvPr/>
        </p:nvSpPr>
        <p:spPr>
          <a:xfrm>
            <a:off x="9226296" y="5120640"/>
            <a:ext cx="2194560" cy="64008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The model can mix sources or ignore the right chunk.</a:t>
            </a:r>
            <a:endParaRPr lang="en-US" sz="1300" dirty="0"/>
          </a:p>
        </p:txBody>
      </p:sp>
      <p:sp>
        <p:nvSpPr>
          <p:cNvPr id="59" name="kicker"/>
          <p:cNvSpPr txBox="1"/>
          <p:nvPr/>
        </p:nvSpPr>
        <p:spPr>
          <a:xfrm>
            <a:off x="548640" y="5925312"/>
            <a:ext cx="7315200" cy="320040"/>
          </a:xfrm>
          <a:prstGeom prst="rect">
            <a:avLst/>
          </a:prstGeom>
          <a:noFill/>
          <a:ln/>
        </p:spPr>
        <p:txBody>
          <a:bodyPr wrap="square" lIns="0" tIns="0" rIns="0" bIns="0" rtlCol="0" anchor="t"/>
          <a:lstStyle/>
          <a:p>
            <a:pPr indent="0" marL="0">
              <a:buNone/>
            </a:pPr>
            <a:r>
              <a:rPr lang="en-US" sz="1500" i="1" dirty="0">
                <a:solidFill>
                  <a:srgbClr val="C97700"/>
                </a:solidFill>
                <a:latin typeface="Cambria" pitchFamily="34" charset="0"/>
                <a:ea typeface="Cambria" pitchFamily="34" charset="-122"/>
                <a:cs typeface="Cambria" pitchFamily="34" charset="-120"/>
              </a:rPr>
              <a:t>Teams usually tune K by instinct. We measure it.</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4"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00"/>
                                        <p:tgtEl>
                                          <p:spTgt spid="17"/>
                                        </p:tgtEl>
                                      </p:cBhvr>
                                    </p:animEffect>
                                    <p:anim calcmode="lin" valueType="num">
                                      <p:cBhvr>
                                        <p:cTn id="7" dur="500" decel="100000" fill="hold"/>
                                        <p:tgtEl>
                                          <p:spTgt spid="17"/>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anim calcmode="lin" valueType="num">
                                      <p:cBhvr>
                                        <p:cTn id="11" dur="500" decel="100000" fill="hold"/>
                                        <p:tgtEl>
                                          <p:spTgt spid="18"/>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anim calcmode="lin" valueType="num">
                                      <p:cBhvr>
                                        <p:cTn id="15" dur="500" decel="100000" fill="hold"/>
                                        <p:tgtEl>
                                          <p:spTgt spid="19"/>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14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anim calcmode="lin" valueType="num">
                                      <p:cBhvr>
                                        <p:cTn id="19" dur="500" decel="100000" fill="hold"/>
                                        <p:tgtEl>
                                          <p:spTgt spid="36"/>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28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anim calcmode="lin" valueType="num">
                                      <p:cBhvr>
                                        <p:cTn id="23" dur="500" decel="100000" fill="hold"/>
                                        <p:tgtEl>
                                          <p:spTgt spid="30"/>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28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500"/>
                                        <p:tgtEl>
                                          <p:spTgt spid="35"/>
                                        </p:tgtEl>
                                      </p:cBhvr>
                                    </p:animEffect>
                                    <p:anim calcmode="lin" valueType="num">
                                      <p:cBhvr>
                                        <p:cTn id="27" dur="500" decel="100000" fill="hold"/>
                                        <p:tgtEl>
                                          <p:spTgt spid="35"/>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420"/>
                                  </p:stCondLst>
                                  <p:childTnLst>
                                    <p:set>
                                      <p:cBhvr>
                                        <p:cTn id="29" dur="1" fill="hold">
                                          <p:stCondLst>
                                            <p:cond delay="0"/>
                                          </p:stCondLst>
                                        </p:cTn>
                                        <p:tgtEl>
                                          <p:spTgt spid="37"/>
                                        </p:tgtEl>
                                        <p:attrNameLst>
                                          <p:attrName>style.visibility</p:attrName>
                                        </p:attrNameLst>
                                      </p:cBhvr>
                                      <p:to>
                                        <p:strVal val="visible"/>
                                      </p:to>
                                    </p:set>
                                    <p:animEffect transition="in" filter="fade">
                                      <p:cBhvr>
                                        <p:cTn id="30" dur="500"/>
                                        <p:tgtEl>
                                          <p:spTgt spid="37"/>
                                        </p:tgtEl>
                                      </p:cBhvr>
                                    </p:animEffect>
                                    <p:anim calcmode="lin" valueType="num">
                                      <p:cBhvr>
                                        <p:cTn id="31" dur="500" decel="100000" fill="hold"/>
                                        <p:tgtEl>
                                          <p:spTgt spid="37"/>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56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p:cTn id="35" dur="500" decel="100000" fill="hold"/>
                                        <p:tgtEl>
                                          <p:spTgt spid="20"/>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56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500"/>
                                        <p:tgtEl>
                                          <p:spTgt spid="21"/>
                                        </p:tgtEl>
                                      </p:cBhvr>
                                    </p:animEffect>
                                    <p:anim calcmode="lin" valueType="num">
                                      <p:cBhvr>
                                        <p:cTn id="39" dur="500" decel="100000" fill="hold"/>
                                        <p:tgtEl>
                                          <p:spTgt spid="21"/>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56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anim calcmode="lin" valueType="num">
                                      <p:cBhvr>
                                        <p:cTn id="43" dur="500" decel="100000" fill="hold"/>
                                        <p:tgtEl>
                                          <p:spTgt spid="22"/>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70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anim calcmode="lin" valueType="num">
                                      <p:cBhvr>
                                        <p:cTn id="47" dur="500" decel="100000" fill="hold"/>
                                        <p:tgtEl>
                                          <p:spTgt spid="38"/>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84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anim calcmode="lin" valueType="num">
                                      <p:cBhvr>
                                        <p:cTn id="51" dur="500" decel="100000" fill="hold"/>
                                        <p:tgtEl>
                                          <p:spTgt spid="23"/>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84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500"/>
                                        <p:tgtEl>
                                          <p:spTgt spid="24"/>
                                        </p:tgtEl>
                                      </p:cBhvr>
                                    </p:animEffect>
                                    <p:anim calcmode="lin" valueType="num">
                                      <p:cBhvr>
                                        <p:cTn id="55" dur="500" decel="100000" fill="hold"/>
                                        <p:tgtEl>
                                          <p:spTgt spid="24"/>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84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500"/>
                                        <p:tgtEl>
                                          <p:spTgt spid="25"/>
                                        </p:tgtEl>
                                      </p:cBhvr>
                                    </p:animEffect>
                                    <p:anim calcmode="lin" valueType="num">
                                      <p:cBhvr>
                                        <p:cTn id="59" dur="500" decel="100000" fill="hold"/>
                                        <p:tgtEl>
                                          <p:spTgt spid="25"/>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98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500"/>
                                        <p:tgtEl>
                                          <p:spTgt spid="39"/>
                                        </p:tgtEl>
                                      </p:cBhvr>
                                    </p:animEffect>
                                    <p:anim calcmode="lin" valueType="num">
                                      <p:cBhvr>
                                        <p:cTn id="63" dur="500" decel="100000" fill="hold"/>
                                        <p:tgtEl>
                                          <p:spTgt spid="39"/>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98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500"/>
                                        <p:tgtEl>
                                          <p:spTgt spid="40"/>
                                        </p:tgtEl>
                                      </p:cBhvr>
                                    </p:animEffect>
                                    <p:anim calcmode="lin" valueType="num">
                                      <p:cBhvr>
                                        <p:cTn id="67" dur="500" decel="100000" fill="hold"/>
                                        <p:tgtEl>
                                          <p:spTgt spid="40"/>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980"/>
                                  </p:stCondLst>
                                  <p:childTnLst>
                                    <p:set>
                                      <p:cBhvr>
                                        <p:cTn id="69" dur="1" fill="hold">
                                          <p:stCondLst>
                                            <p:cond delay="0"/>
                                          </p:stCondLst>
                                        </p:cTn>
                                        <p:tgtEl>
                                          <p:spTgt spid="41"/>
                                        </p:tgtEl>
                                        <p:attrNameLst>
                                          <p:attrName>style.visibility</p:attrName>
                                        </p:attrNameLst>
                                      </p:cBhvr>
                                      <p:to>
                                        <p:strVal val="visible"/>
                                      </p:to>
                                    </p:set>
                                    <p:animEffect transition="in" filter="fade">
                                      <p:cBhvr>
                                        <p:cTn id="70" dur="500"/>
                                        <p:tgtEl>
                                          <p:spTgt spid="41"/>
                                        </p:tgtEl>
                                      </p:cBhvr>
                                    </p:animEffect>
                                    <p:anim calcmode="lin" valueType="num">
                                      <p:cBhvr>
                                        <p:cTn id="71" dur="500" decel="100000" fill="hold"/>
                                        <p:tgtEl>
                                          <p:spTgt spid="41"/>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980"/>
                                  </p:stCondLst>
                                  <p:childTnLst>
                                    <p:set>
                                      <p:cBhvr>
                                        <p:cTn id="73" dur="1" fill="hold">
                                          <p:stCondLst>
                                            <p:cond delay="0"/>
                                          </p:stCondLst>
                                        </p:cTn>
                                        <p:tgtEl>
                                          <p:spTgt spid="42"/>
                                        </p:tgtEl>
                                        <p:attrNameLst>
                                          <p:attrName>style.visibility</p:attrName>
                                        </p:attrNameLst>
                                      </p:cBhvr>
                                      <p:to>
                                        <p:strVal val="visible"/>
                                      </p:to>
                                    </p:set>
                                    <p:animEffect transition="in" filter="fade">
                                      <p:cBhvr>
                                        <p:cTn id="74" dur="500"/>
                                        <p:tgtEl>
                                          <p:spTgt spid="42"/>
                                        </p:tgtEl>
                                      </p:cBhvr>
                                    </p:animEffect>
                                    <p:anim calcmode="lin" valueType="num">
                                      <p:cBhvr>
                                        <p:cTn id="75" dur="500" decel="100000" fill="hold"/>
                                        <p:tgtEl>
                                          <p:spTgt spid="42"/>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98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anim calcmode="lin" valueType="num">
                                      <p:cBhvr>
                                        <p:cTn id="79" dur="500" decel="100000" fill="hold"/>
                                        <p:tgtEl>
                                          <p:spTgt spid="43"/>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112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500"/>
                                        <p:tgtEl>
                                          <p:spTgt spid="44"/>
                                        </p:tgtEl>
                                      </p:cBhvr>
                                    </p:animEffect>
                                    <p:anim calcmode="lin" valueType="num">
                                      <p:cBhvr>
                                        <p:cTn id="83" dur="500" decel="100000" fill="hold"/>
                                        <p:tgtEl>
                                          <p:spTgt spid="44"/>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112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500"/>
                                        <p:tgtEl>
                                          <p:spTgt spid="45"/>
                                        </p:tgtEl>
                                      </p:cBhvr>
                                    </p:animEffect>
                                    <p:anim calcmode="lin" valueType="num">
                                      <p:cBhvr>
                                        <p:cTn id="87" dur="500" decel="100000" fill="hold"/>
                                        <p:tgtEl>
                                          <p:spTgt spid="45"/>
                                        </p:tgtEl>
                                        <p:attrNameLst>
                                          <p:attrName>ppt_y</p:attrName>
                                        </p:attrNameLst>
                                      </p:cBhvr>
                                      <p:tavLst>
                                        <p:tav tm="0">
                                          <p:val>
                                            <p:strVal val="#ppt_y+0.04"/>
                                          </p:val>
                                        </p:tav>
                                        <p:tav tm="100000">
                                          <p:val>
                                            <p:strVal val="#ppt_y"/>
                                          </p:val>
                                        </p:tav>
                                      </p:tavLst>
                                    </p:anim>
                                  </p:childTnLst>
                                </p:cTn>
                              </p:par>
                              <p:par>
                                <p:cTn id="88" presetID="42" presetClass="entr" presetSubtype="0" fill="hold" grpId="0" nodeType="withEffect">
                                  <p:stCondLst>
                                    <p:cond delay="112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500"/>
                                        <p:tgtEl>
                                          <p:spTgt spid="46"/>
                                        </p:tgtEl>
                                      </p:cBhvr>
                                    </p:animEffect>
                                    <p:anim calcmode="lin" valueType="num">
                                      <p:cBhvr>
                                        <p:cTn id="91" dur="500" decel="100000" fill="hold"/>
                                        <p:tgtEl>
                                          <p:spTgt spid="46"/>
                                        </p:tgtEl>
                                        <p:attrNameLst>
                                          <p:attrName>ppt_y</p:attrName>
                                        </p:attrNameLst>
                                      </p:cBhvr>
                                      <p:tavLst>
                                        <p:tav tm="0">
                                          <p:val>
                                            <p:strVal val="#ppt_y+0.04"/>
                                          </p:val>
                                        </p:tav>
                                        <p:tav tm="100000">
                                          <p:val>
                                            <p:strVal val="#ppt_y"/>
                                          </p:val>
                                        </p:tav>
                                      </p:tavLst>
                                    </p:anim>
                                  </p:childTnLst>
                                </p:cTn>
                              </p:par>
                              <p:par>
                                <p:cTn id="92" presetID="42" presetClass="entr" presetSubtype="0" fill="hold" grpId="0" nodeType="withEffect">
                                  <p:stCondLst>
                                    <p:cond delay="1120"/>
                                  </p:stCondLst>
                                  <p:childTnLst>
                                    <p:set>
                                      <p:cBhvr>
                                        <p:cTn id="93" dur="1" fill="hold">
                                          <p:stCondLst>
                                            <p:cond delay="0"/>
                                          </p:stCondLst>
                                        </p:cTn>
                                        <p:tgtEl>
                                          <p:spTgt spid="47"/>
                                        </p:tgtEl>
                                        <p:attrNameLst>
                                          <p:attrName>style.visibility</p:attrName>
                                        </p:attrNameLst>
                                      </p:cBhvr>
                                      <p:to>
                                        <p:strVal val="visible"/>
                                      </p:to>
                                    </p:set>
                                    <p:animEffect transition="in" filter="fade">
                                      <p:cBhvr>
                                        <p:cTn id="94" dur="500"/>
                                        <p:tgtEl>
                                          <p:spTgt spid="47"/>
                                        </p:tgtEl>
                                      </p:cBhvr>
                                    </p:animEffect>
                                    <p:anim calcmode="lin" valueType="num">
                                      <p:cBhvr>
                                        <p:cTn id="95" dur="500" decel="100000" fill="hold"/>
                                        <p:tgtEl>
                                          <p:spTgt spid="47"/>
                                        </p:tgtEl>
                                        <p:attrNameLst>
                                          <p:attrName>ppt_y</p:attrName>
                                        </p:attrNameLst>
                                      </p:cBhvr>
                                      <p:tavLst>
                                        <p:tav tm="0">
                                          <p:val>
                                            <p:strVal val="#ppt_y+0.04"/>
                                          </p:val>
                                        </p:tav>
                                        <p:tav tm="100000">
                                          <p:val>
                                            <p:strVal val="#ppt_y"/>
                                          </p:val>
                                        </p:tav>
                                      </p:tavLst>
                                    </p:anim>
                                  </p:childTnLst>
                                </p:cTn>
                              </p:par>
                              <p:par>
                                <p:cTn id="96" presetID="42" presetClass="entr" presetSubtype="0" fill="hold" grpId="0" nodeType="withEffect">
                                  <p:stCondLst>
                                    <p:cond delay="112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anim calcmode="lin" valueType="num">
                                      <p:cBhvr>
                                        <p:cTn id="99" dur="500" decel="100000" fill="hold"/>
                                        <p:tgtEl>
                                          <p:spTgt spid="48"/>
                                        </p:tgtEl>
                                        <p:attrNameLst>
                                          <p:attrName>ppt_y</p:attrName>
                                        </p:attrNameLst>
                                      </p:cBhvr>
                                      <p:tavLst>
                                        <p:tav tm="0">
                                          <p:val>
                                            <p:strVal val="#ppt_y+0.04"/>
                                          </p:val>
                                        </p:tav>
                                        <p:tav tm="100000">
                                          <p:val>
                                            <p:strVal val="#ppt_y"/>
                                          </p:val>
                                        </p:tav>
                                      </p:tavLst>
                                    </p:anim>
                                  </p:childTnLst>
                                </p:cTn>
                              </p:par>
                              <p:par>
                                <p:cTn id="100" presetID="42" presetClass="entr" presetSubtype="0" fill="hold" grpId="0" nodeType="withEffect">
                                  <p:stCondLst>
                                    <p:cond delay="1260"/>
                                  </p:stCondLst>
                                  <p:childTnLst>
                                    <p:set>
                                      <p:cBhvr>
                                        <p:cTn id="101" dur="1" fill="hold">
                                          <p:stCondLst>
                                            <p:cond delay="0"/>
                                          </p:stCondLst>
                                        </p:cTn>
                                        <p:tgtEl>
                                          <p:spTgt spid="49"/>
                                        </p:tgtEl>
                                        <p:attrNameLst>
                                          <p:attrName>style.visibility</p:attrName>
                                        </p:attrNameLst>
                                      </p:cBhvr>
                                      <p:to>
                                        <p:strVal val="visible"/>
                                      </p:to>
                                    </p:set>
                                    <p:animEffect transition="in" filter="fade">
                                      <p:cBhvr>
                                        <p:cTn id="102" dur="500"/>
                                        <p:tgtEl>
                                          <p:spTgt spid="49"/>
                                        </p:tgtEl>
                                      </p:cBhvr>
                                    </p:animEffect>
                                    <p:anim calcmode="lin" valueType="num">
                                      <p:cBhvr>
                                        <p:cTn id="103" dur="500" decel="100000" fill="hold"/>
                                        <p:tgtEl>
                                          <p:spTgt spid="49"/>
                                        </p:tgtEl>
                                        <p:attrNameLst>
                                          <p:attrName>ppt_y</p:attrName>
                                        </p:attrNameLst>
                                      </p:cBhvr>
                                      <p:tavLst>
                                        <p:tav tm="0">
                                          <p:val>
                                            <p:strVal val="#ppt_y+0.04"/>
                                          </p:val>
                                        </p:tav>
                                        <p:tav tm="100000">
                                          <p:val>
                                            <p:strVal val="#ppt_y"/>
                                          </p:val>
                                        </p:tav>
                                      </p:tavLst>
                                    </p:anim>
                                  </p:childTnLst>
                                </p:cTn>
                              </p:par>
                              <p:par>
                                <p:cTn id="104" presetID="42" presetClass="entr" presetSubtype="0" fill="hold" grpId="0" nodeType="withEffect">
                                  <p:stCondLst>
                                    <p:cond delay="1260"/>
                                  </p:stCondLst>
                                  <p:childTnLst>
                                    <p:set>
                                      <p:cBhvr>
                                        <p:cTn id="105" dur="1" fill="hold">
                                          <p:stCondLst>
                                            <p:cond delay="0"/>
                                          </p:stCondLst>
                                        </p:cTn>
                                        <p:tgtEl>
                                          <p:spTgt spid="50"/>
                                        </p:tgtEl>
                                        <p:attrNameLst>
                                          <p:attrName>style.visibility</p:attrName>
                                        </p:attrNameLst>
                                      </p:cBhvr>
                                      <p:to>
                                        <p:strVal val="visible"/>
                                      </p:to>
                                    </p:set>
                                    <p:animEffect transition="in" filter="fade">
                                      <p:cBhvr>
                                        <p:cTn id="106" dur="500"/>
                                        <p:tgtEl>
                                          <p:spTgt spid="50"/>
                                        </p:tgtEl>
                                      </p:cBhvr>
                                    </p:animEffect>
                                    <p:anim calcmode="lin" valueType="num">
                                      <p:cBhvr>
                                        <p:cTn id="107" dur="500" decel="100000" fill="hold"/>
                                        <p:tgtEl>
                                          <p:spTgt spid="50"/>
                                        </p:tgtEl>
                                        <p:attrNameLst>
                                          <p:attrName>ppt_y</p:attrName>
                                        </p:attrNameLst>
                                      </p:cBhvr>
                                      <p:tavLst>
                                        <p:tav tm="0">
                                          <p:val>
                                            <p:strVal val="#ppt_y+0.04"/>
                                          </p:val>
                                        </p:tav>
                                        <p:tav tm="100000">
                                          <p:val>
                                            <p:strVal val="#ppt_y"/>
                                          </p:val>
                                        </p:tav>
                                      </p:tavLst>
                                    </p:anim>
                                  </p:childTnLst>
                                </p:cTn>
                              </p:par>
                              <p:par>
                                <p:cTn id="108" presetID="42" presetClass="entr" presetSubtype="0" fill="hold" grpId="0" nodeType="withEffect">
                                  <p:stCondLst>
                                    <p:cond delay="1260"/>
                                  </p:stCondLst>
                                  <p:childTnLst>
                                    <p:set>
                                      <p:cBhvr>
                                        <p:cTn id="109" dur="1" fill="hold">
                                          <p:stCondLst>
                                            <p:cond delay="0"/>
                                          </p:stCondLst>
                                        </p:cTn>
                                        <p:tgtEl>
                                          <p:spTgt spid="51"/>
                                        </p:tgtEl>
                                        <p:attrNameLst>
                                          <p:attrName>style.visibility</p:attrName>
                                        </p:attrNameLst>
                                      </p:cBhvr>
                                      <p:to>
                                        <p:strVal val="visible"/>
                                      </p:to>
                                    </p:set>
                                    <p:animEffect transition="in" filter="fade">
                                      <p:cBhvr>
                                        <p:cTn id="110" dur="500"/>
                                        <p:tgtEl>
                                          <p:spTgt spid="51"/>
                                        </p:tgtEl>
                                      </p:cBhvr>
                                    </p:animEffect>
                                    <p:anim calcmode="lin" valueType="num">
                                      <p:cBhvr>
                                        <p:cTn id="111" dur="500" decel="100000" fill="hold"/>
                                        <p:tgtEl>
                                          <p:spTgt spid="51"/>
                                        </p:tgtEl>
                                        <p:attrNameLst>
                                          <p:attrName>ppt_y</p:attrName>
                                        </p:attrNameLst>
                                      </p:cBhvr>
                                      <p:tavLst>
                                        <p:tav tm="0">
                                          <p:val>
                                            <p:strVal val="#ppt_y+0.04"/>
                                          </p:val>
                                        </p:tav>
                                        <p:tav tm="100000">
                                          <p:val>
                                            <p:strVal val="#ppt_y"/>
                                          </p:val>
                                        </p:tav>
                                      </p:tavLst>
                                    </p:anim>
                                  </p:childTnLst>
                                </p:cTn>
                              </p:par>
                              <p:par>
                                <p:cTn id="112" presetID="42" presetClass="entr" presetSubtype="0" fill="hold" grpId="0" nodeType="withEffect">
                                  <p:stCondLst>
                                    <p:cond delay="1260"/>
                                  </p:stCondLst>
                                  <p:childTnLst>
                                    <p:set>
                                      <p:cBhvr>
                                        <p:cTn id="113" dur="1" fill="hold">
                                          <p:stCondLst>
                                            <p:cond delay="0"/>
                                          </p:stCondLst>
                                        </p:cTn>
                                        <p:tgtEl>
                                          <p:spTgt spid="52"/>
                                        </p:tgtEl>
                                        <p:attrNameLst>
                                          <p:attrName>style.visibility</p:attrName>
                                        </p:attrNameLst>
                                      </p:cBhvr>
                                      <p:to>
                                        <p:strVal val="visible"/>
                                      </p:to>
                                    </p:set>
                                    <p:animEffect transition="in" filter="fade">
                                      <p:cBhvr>
                                        <p:cTn id="114" dur="500"/>
                                        <p:tgtEl>
                                          <p:spTgt spid="52"/>
                                        </p:tgtEl>
                                      </p:cBhvr>
                                    </p:animEffect>
                                    <p:anim calcmode="lin" valueType="num">
                                      <p:cBhvr>
                                        <p:cTn id="115" dur="500" decel="100000" fill="hold"/>
                                        <p:tgtEl>
                                          <p:spTgt spid="52"/>
                                        </p:tgtEl>
                                        <p:attrNameLst>
                                          <p:attrName>ppt_y</p:attrName>
                                        </p:attrNameLst>
                                      </p:cBhvr>
                                      <p:tavLst>
                                        <p:tav tm="0">
                                          <p:val>
                                            <p:strVal val="#ppt_y+0.04"/>
                                          </p:val>
                                        </p:tav>
                                        <p:tav tm="100000">
                                          <p:val>
                                            <p:strVal val="#ppt_y"/>
                                          </p:val>
                                        </p:tav>
                                      </p:tavLst>
                                    </p:anim>
                                  </p:childTnLst>
                                </p:cTn>
                              </p:par>
                              <p:par>
                                <p:cTn id="116" presetID="42" presetClass="entr" presetSubtype="0" fill="hold" grpId="0" nodeType="withEffect">
                                  <p:stCondLst>
                                    <p:cond delay="126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500"/>
                                        <p:tgtEl>
                                          <p:spTgt spid="53"/>
                                        </p:tgtEl>
                                      </p:cBhvr>
                                    </p:animEffect>
                                    <p:anim calcmode="lin" valueType="num">
                                      <p:cBhvr>
                                        <p:cTn id="119" dur="500" decel="100000" fill="hold"/>
                                        <p:tgtEl>
                                          <p:spTgt spid="53"/>
                                        </p:tgtEl>
                                        <p:attrNameLst>
                                          <p:attrName>ppt_y</p:attrName>
                                        </p:attrNameLst>
                                      </p:cBhvr>
                                      <p:tavLst>
                                        <p:tav tm="0">
                                          <p:val>
                                            <p:strVal val="#ppt_y+0.04"/>
                                          </p:val>
                                        </p:tav>
                                        <p:tav tm="100000">
                                          <p:val>
                                            <p:strVal val="#ppt_y"/>
                                          </p:val>
                                        </p:tav>
                                      </p:tavLst>
                                    </p:anim>
                                  </p:childTnLst>
                                </p:cTn>
                              </p:par>
                              <p:par>
                                <p:cTn id="120" presetID="42" presetClass="entr" presetSubtype="0" fill="hold" grpId="0" nodeType="withEffect">
                                  <p:stCondLst>
                                    <p:cond delay="140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500"/>
                                        <p:tgtEl>
                                          <p:spTgt spid="54"/>
                                        </p:tgtEl>
                                      </p:cBhvr>
                                    </p:animEffect>
                                    <p:anim calcmode="lin" valueType="num">
                                      <p:cBhvr>
                                        <p:cTn id="123" dur="500" decel="100000" fill="hold"/>
                                        <p:tgtEl>
                                          <p:spTgt spid="54"/>
                                        </p:tgtEl>
                                        <p:attrNameLst>
                                          <p:attrName>ppt_y</p:attrName>
                                        </p:attrNameLst>
                                      </p:cBhvr>
                                      <p:tavLst>
                                        <p:tav tm="0">
                                          <p:val>
                                            <p:strVal val="#ppt_y+0.04"/>
                                          </p:val>
                                        </p:tav>
                                        <p:tav tm="100000">
                                          <p:val>
                                            <p:strVal val="#ppt_y"/>
                                          </p:val>
                                        </p:tav>
                                      </p:tavLst>
                                    </p:anim>
                                  </p:childTnLst>
                                </p:cTn>
                              </p:par>
                              <p:par>
                                <p:cTn id="124" presetID="42" presetClass="entr" presetSubtype="0" fill="hold" grpId="0" nodeType="withEffect">
                                  <p:stCondLst>
                                    <p:cond delay="1400"/>
                                  </p:stCondLst>
                                  <p:childTnLst>
                                    <p:set>
                                      <p:cBhvr>
                                        <p:cTn id="125" dur="1" fill="hold">
                                          <p:stCondLst>
                                            <p:cond delay="0"/>
                                          </p:stCondLst>
                                        </p:cTn>
                                        <p:tgtEl>
                                          <p:spTgt spid="55"/>
                                        </p:tgtEl>
                                        <p:attrNameLst>
                                          <p:attrName>style.visibility</p:attrName>
                                        </p:attrNameLst>
                                      </p:cBhvr>
                                      <p:to>
                                        <p:strVal val="visible"/>
                                      </p:to>
                                    </p:set>
                                    <p:animEffect transition="in" filter="fade">
                                      <p:cBhvr>
                                        <p:cTn id="126" dur="500"/>
                                        <p:tgtEl>
                                          <p:spTgt spid="55"/>
                                        </p:tgtEl>
                                      </p:cBhvr>
                                    </p:animEffect>
                                    <p:anim calcmode="lin" valueType="num">
                                      <p:cBhvr>
                                        <p:cTn id="127" dur="500" decel="100000" fill="hold"/>
                                        <p:tgtEl>
                                          <p:spTgt spid="55"/>
                                        </p:tgtEl>
                                        <p:attrNameLst>
                                          <p:attrName>ppt_y</p:attrName>
                                        </p:attrNameLst>
                                      </p:cBhvr>
                                      <p:tavLst>
                                        <p:tav tm="0">
                                          <p:val>
                                            <p:strVal val="#ppt_y+0.04"/>
                                          </p:val>
                                        </p:tav>
                                        <p:tav tm="100000">
                                          <p:val>
                                            <p:strVal val="#ppt_y"/>
                                          </p:val>
                                        </p:tav>
                                      </p:tavLst>
                                    </p:anim>
                                  </p:childTnLst>
                                </p:cTn>
                              </p:par>
                              <p:par>
                                <p:cTn id="128" presetID="42" presetClass="entr" presetSubtype="0" fill="hold" grpId="0" nodeType="withEffect">
                                  <p:stCondLst>
                                    <p:cond delay="1400"/>
                                  </p:stCondLst>
                                  <p:childTnLst>
                                    <p:set>
                                      <p:cBhvr>
                                        <p:cTn id="129" dur="1" fill="hold">
                                          <p:stCondLst>
                                            <p:cond delay="0"/>
                                          </p:stCondLst>
                                        </p:cTn>
                                        <p:tgtEl>
                                          <p:spTgt spid="56"/>
                                        </p:tgtEl>
                                        <p:attrNameLst>
                                          <p:attrName>style.visibility</p:attrName>
                                        </p:attrNameLst>
                                      </p:cBhvr>
                                      <p:to>
                                        <p:strVal val="visible"/>
                                      </p:to>
                                    </p:set>
                                    <p:animEffect transition="in" filter="fade">
                                      <p:cBhvr>
                                        <p:cTn id="130" dur="500"/>
                                        <p:tgtEl>
                                          <p:spTgt spid="56"/>
                                        </p:tgtEl>
                                      </p:cBhvr>
                                    </p:animEffect>
                                    <p:anim calcmode="lin" valueType="num">
                                      <p:cBhvr>
                                        <p:cTn id="131" dur="500" decel="100000" fill="hold"/>
                                        <p:tgtEl>
                                          <p:spTgt spid="56"/>
                                        </p:tgtEl>
                                        <p:attrNameLst>
                                          <p:attrName>ppt_y</p:attrName>
                                        </p:attrNameLst>
                                      </p:cBhvr>
                                      <p:tavLst>
                                        <p:tav tm="0">
                                          <p:val>
                                            <p:strVal val="#ppt_y+0.04"/>
                                          </p:val>
                                        </p:tav>
                                        <p:tav tm="100000">
                                          <p:val>
                                            <p:strVal val="#ppt_y"/>
                                          </p:val>
                                        </p:tav>
                                      </p:tavLst>
                                    </p:anim>
                                  </p:childTnLst>
                                </p:cTn>
                              </p:par>
                              <p:par>
                                <p:cTn id="132" presetID="42" presetClass="entr" presetSubtype="0" fill="hold" grpId="0" nodeType="withEffect">
                                  <p:stCondLst>
                                    <p:cond delay="1400"/>
                                  </p:stCondLst>
                                  <p:childTnLst>
                                    <p:set>
                                      <p:cBhvr>
                                        <p:cTn id="133" dur="1" fill="hold">
                                          <p:stCondLst>
                                            <p:cond delay="0"/>
                                          </p:stCondLst>
                                        </p:cTn>
                                        <p:tgtEl>
                                          <p:spTgt spid="57"/>
                                        </p:tgtEl>
                                        <p:attrNameLst>
                                          <p:attrName>style.visibility</p:attrName>
                                        </p:attrNameLst>
                                      </p:cBhvr>
                                      <p:to>
                                        <p:strVal val="visible"/>
                                      </p:to>
                                    </p:set>
                                    <p:animEffect transition="in" filter="fade">
                                      <p:cBhvr>
                                        <p:cTn id="134" dur="500"/>
                                        <p:tgtEl>
                                          <p:spTgt spid="57"/>
                                        </p:tgtEl>
                                      </p:cBhvr>
                                    </p:animEffect>
                                    <p:anim calcmode="lin" valueType="num">
                                      <p:cBhvr>
                                        <p:cTn id="135" dur="500" decel="100000" fill="hold"/>
                                        <p:tgtEl>
                                          <p:spTgt spid="57"/>
                                        </p:tgtEl>
                                        <p:attrNameLst>
                                          <p:attrName>ppt_y</p:attrName>
                                        </p:attrNameLst>
                                      </p:cBhvr>
                                      <p:tavLst>
                                        <p:tav tm="0">
                                          <p:val>
                                            <p:strVal val="#ppt_y+0.04"/>
                                          </p:val>
                                        </p:tav>
                                        <p:tav tm="100000">
                                          <p:val>
                                            <p:strVal val="#ppt_y"/>
                                          </p:val>
                                        </p:tav>
                                      </p:tavLst>
                                    </p:anim>
                                  </p:childTnLst>
                                </p:cTn>
                              </p:par>
                              <p:par>
                                <p:cTn id="136" presetID="42" presetClass="entr" presetSubtype="0" fill="hold" grpId="0" nodeType="withEffect">
                                  <p:stCondLst>
                                    <p:cond delay="1400"/>
                                  </p:stCondLst>
                                  <p:childTnLst>
                                    <p:set>
                                      <p:cBhvr>
                                        <p:cTn id="137" dur="1" fill="hold">
                                          <p:stCondLst>
                                            <p:cond delay="0"/>
                                          </p:stCondLst>
                                        </p:cTn>
                                        <p:tgtEl>
                                          <p:spTgt spid="58"/>
                                        </p:tgtEl>
                                        <p:attrNameLst>
                                          <p:attrName>style.visibility</p:attrName>
                                        </p:attrNameLst>
                                      </p:cBhvr>
                                      <p:to>
                                        <p:strVal val="visible"/>
                                      </p:to>
                                    </p:set>
                                    <p:animEffect transition="in" filter="fade">
                                      <p:cBhvr>
                                        <p:cTn id="138" dur="500"/>
                                        <p:tgtEl>
                                          <p:spTgt spid="58"/>
                                        </p:tgtEl>
                                      </p:cBhvr>
                                    </p:animEffect>
                                    <p:anim calcmode="lin" valueType="num">
                                      <p:cBhvr>
                                        <p:cTn id="139" dur="500" decel="100000" fill="hold"/>
                                        <p:tgtEl>
                                          <p:spTgt spid="58"/>
                                        </p:tgtEl>
                                        <p:attrNameLst>
                                          <p:attrName>ppt_y</p:attrName>
                                        </p:attrNameLst>
                                      </p:cBhvr>
                                      <p:tavLst>
                                        <p:tav tm="0">
                                          <p:val>
                                            <p:strVal val="#ppt_y+0.04"/>
                                          </p:val>
                                        </p:tav>
                                        <p:tav tm="100000">
                                          <p:val>
                                            <p:strVal val="#ppt_y"/>
                                          </p:val>
                                        </p:tav>
                                      </p:tavLst>
                                    </p:anim>
                                  </p:childTnLst>
                                </p:cTn>
                              </p:par>
                              <p:par>
                                <p:cTn id="140" presetID="42" presetClass="entr" presetSubtype="0" fill="hold" grpId="0" nodeType="withEffect">
                                  <p:stCondLst>
                                    <p:cond delay="1540"/>
                                  </p:stCondLst>
                                  <p:childTnLst>
                                    <p:set>
                                      <p:cBhvr>
                                        <p:cTn id="141" dur="1" fill="hold">
                                          <p:stCondLst>
                                            <p:cond delay="0"/>
                                          </p:stCondLst>
                                        </p:cTn>
                                        <p:tgtEl>
                                          <p:spTgt spid="59"/>
                                        </p:tgtEl>
                                        <p:attrNameLst>
                                          <p:attrName>style.visibility</p:attrName>
                                        </p:attrNameLst>
                                      </p:cBhvr>
                                      <p:to>
                                        <p:strVal val="visible"/>
                                      </p:to>
                                    </p:set>
                                    <p:animEffect transition="in" filter="fade">
                                      <p:cBhvr>
                                        <p:cTn id="142" dur="500"/>
                                        <p:tgtEl>
                                          <p:spTgt spid="59"/>
                                        </p:tgtEl>
                                      </p:cBhvr>
                                    </p:animEffect>
                                    <p:anim calcmode="lin" valueType="num">
                                      <p:cBhvr>
                                        <p:cTn id="143" dur="500" decel="100000" fill="hold"/>
                                        <p:tgtEl>
                                          <p:spTgt spid="5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36" grpId="0" animBg="1"/>
      <p:bldP spid="30" grpId="0" animBg="1"/>
      <p:bldP spid="35" grpId="0" animBg="1"/>
      <p:bldP spid="37" grpId="0" animBg="1"/>
      <p:bldP spid="20" grpId="0" animBg="1"/>
      <p:bldP spid="22" grpId="0" animBg="1"/>
      <p:bldP spid="38" grpId="0" animBg="1"/>
      <p:bldP spid="23" grpId="0" animBg="1"/>
      <p:bldP spid="25" grpId="0" animBg="1"/>
      <p:bldP spid="39" grpId="0" animBg="1"/>
      <p:bldP spid="40"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7" grpId="0" animBg="1"/>
      <p:bldP spid="58" grpId="0" animBg="1"/>
      <p:bldP spid="5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03  ·  RESEARCH QUESTION &amp; HYPOTHESES</a:t>
            </a:r>
            <a:endParaRPr lang="en-US" sz="1200" dirty="0"/>
          </a:p>
        </p:txBody>
      </p:sp>
      <p:sp>
        <p:nvSpPr>
          <p:cNvPr id="3" name="!!title"/>
          <p:cNvSpPr txBox="1"/>
          <p:nvPr/>
        </p:nvSpPr>
        <p:spPr>
          <a:xfrm>
            <a:off x="548640" y="804672"/>
            <a:ext cx="969264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Does more context always improve answers?</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03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365760" cy="91440"/>
          </a:xfrm>
          <a:prstGeom prst="roundRect">
            <a:avLst>
              <a:gd name="adj" fmla="val 50000"/>
            </a:avLst>
          </a:prstGeom>
          <a:solidFill>
            <a:srgbClr val="C97700"/>
          </a:solidFill>
          <a:ln/>
        </p:spPr>
      </p:sp>
      <p:sp>
        <p:nvSpPr>
          <p:cNvPr id="9" name="!!dot4"/>
          <p:cNvSpPr/>
          <p:nvPr/>
        </p:nvSpPr>
        <p:spPr>
          <a:xfrm>
            <a:off x="10469880" y="6451092"/>
            <a:ext cx="91440" cy="91440"/>
          </a:xfrm>
          <a:prstGeom prst="roundRect">
            <a:avLst>
              <a:gd name="adj" fmla="val 50000"/>
            </a:avLst>
          </a:prstGeom>
          <a:solidFill>
            <a:srgbClr val="D9DCE8"/>
          </a:solidFill>
          <a:ln/>
        </p:spPr>
      </p:sp>
      <p:sp>
        <p:nvSpPr>
          <p:cNvPr id="10" name="!!dot5"/>
          <p:cNvSpPr/>
          <p:nvPr/>
        </p:nvSpPr>
        <p:spPr>
          <a:xfrm>
            <a:off x="10652760" y="6451092"/>
            <a:ext cx="91440" cy="91440"/>
          </a:xfrm>
          <a:prstGeom prst="roundRect">
            <a:avLst>
              <a:gd name="adj" fmla="val 50000"/>
            </a:avLst>
          </a:prstGeom>
          <a:solidFill>
            <a:srgbClr val="D9DCE8"/>
          </a:solidFill>
          <a:ln/>
        </p:spPr>
      </p:sp>
      <p:sp>
        <p:nvSpPr>
          <p:cNvPr id="11" name="!!dot6"/>
          <p:cNvSpPr/>
          <p:nvPr/>
        </p:nvSpPr>
        <p:spPr>
          <a:xfrm>
            <a:off x="10835640" y="6451092"/>
            <a:ext cx="91440" cy="91440"/>
          </a:xfrm>
          <a:prstGeom prst="roundRect">
            <a:avLst>
              <a:gd name="adj" fmla="val 50000"/>
            </a:avLst>
          </a:prstGeom>
          <a:solidFill>
            <a:srgbClr val="D9DCE8"/>
          </a:solidFill>
          <a:ln/>
        </p:spPr>
      </p:sp>
      <p:sp>
        <p:nvSpPr>
          <p:cNvPr id="12" name="!!dot7"/>
          <p:cNvSpPr/>
          <p:nvPr/>
        </p:nvSpPr>
        <p:spPr>
          <a:xfrm>
            <a:off x="11018520" y="6451092"/>
            <a:ext cx="91440" cy="91440"/>
          </a:xfrm>
          <a:prstGeom prst="roundRect">
            <a:avLst>
              <a:gd name="adj" fmla="val 50000"/>
            </a:avLst>
          </a:prstGeom>
          <a:solidFill>
            <a:srgbClr val="D9DCE8"/>
          </a:solidFill>
          <a:ln/>
        </p:spPr>
      </p:sp>
      <p:sp>
        <p:nvSpPr>
          <p:cNvPr id="13" name="!!dot8"/>
          <p:cNvSpPr/>
          <p:nvPr/>
        </p:nvSpPr>
        <p:spPr>
          <a:xfrm>
            <a:off x="11201400" y="6451092"/>
            <a:ext cx="91440" cy="91440"/>
          </a:xfrm>
          <a:prstGeom prst="roundRect">
            <a:avLst>
              <a:gd name="adj" fmla="val 50000"/>
            </a:avLst>
          </a:prstGeom>
          <a:solidFill>
            <a:srgbClr val="D9DCE8"/>
          </a:solidFill>
          <a:ln/>
        </p:spPr>
      </p:sp>
      <p:sp>
        <p:nvSpPr>
          <p:cNvPr id="14" name="!!dot9"/>
          <p:cNvSpPr/>
          <p:nvPr/>
        </p:nvSpPr>
        <p:spPr>
          <a:xfrm>
            <a:off x="11384280" y="6451092"/>
            <a:ext cx="91440" cy="91440"/>
          </a:xfrm>
          <a:prstGeom prst="roundRect">
            <a:avLst>
              <a:gd name="adj" fmla="val 50000"/>
            </a:avLst>
          </a:prstGeom>
          <a:solidFill>
            <a:srgbClr val="D9DCE8"/>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lensGlow"/>
          <p:cNvSpPr/>
          <p:nvPr/>
        </p:nvSpPr>
        <p:spPr>
          <a:xfrm>
            <a:off x="10587380" y="757580"/>
            <a:ext cx="862279" cy="862279"/>
          </a:xfrm>
          <a:prstGeom prst="ellipse">
            <a:avLst/>
          </a:prstGeom>
          <a:solidFill>
            <a:srgbClr val="C97700">
              <a:alpha val="9000"/>
            </a:srgbClr>
          </a:solidFill>
          <a:ln/>
        </p:spPr>
      </p:sp>
      <p:sp>
        <p:nvSpPr>
          <p:cNvPr id="18" name="!!lensInner"/>
          <p:cNvSpPr/>
          <p:nvPr/>
        </p:nvSpPr>
        <p:spPr>
          <a:xfrm>
            <a:off x="10671505" y="841705"/>
            <a:ext cx="694030" cy="694030"/>
          </a:xfrm>
          <a:prstGeom prst="ellipse">
            <a:avLst/>
          </a:prstGeom>
          <a:ln w="12700">
            <a:solidFill>
              <a:srgbClr val="0E9C86">
                <a:alpha val="45000"/>
              </a:srgbClr>
            </a:solidFill>
            <a:prstDash val="solid"/>
          </a:ln>
        </p:spPr>
      </p:sp>
      <p:sp>
        <p:nvSpPr>
          <p:cNvPr id="19" name="!!lensRing"/>
          <p:cNvSpPr/>
          <p:nvPr/>
        </p:nvSpPr>
        <p:spPr>
          <a:xfrm>
            <a:off x="10492740" y="662940"/>
            <a:ext cx="1051560" cy="1051560"/>
          </a:xfrm>
          <a:prstGeom prst="ellipse">
            <a:avLst/>
          </a:prstGeom>
          <a:ln w="25400">
            <a:solidFill>
              <a:srgbClr val="C97700"/>
            </a:solidFill>
            <a:prstDash val="solid"/>
          </a:ln>
        </p:spPr>
      </p:sp>
      <p:sp>
        <p:nvSpPr>
          <p:cNvPr id="20" name="!!lensGlint"/>
          <p:cNvSpPr/>
          <p:nvPr/>
        </p:nvSpPr>
        <p:spPr>
          <a:xfrm>
            <a:off x="11344583" y="771217"/>
            <a:ext cx="91440" cy="91440"/>
          </a:xfrm>
          <a:prstGeom prst="ellipse">
            <a:avLst/>
          </a:prstGeom>
          <a:solidFill>
            <a:srgbClr val="C97700"/>
          </a:solidFill>
          <a:ln/>
        </p:spPr>
      </p:sp>
      <p:sp>
        <p:nvSpPr>
          <p:cNvPr id="21" name="lensMark"/>
          <p:cNvSpPr txBox="1"/>
          <p:nvPr/>
        </p:nvSpPr>
        <p:spPr>
          <a:xfrm>
            <a:off x="10744200" y="896112"/>
            <a:ext cx="548640" cy="566928"/>
          </a:xfrm>
          <a:prstGeom prst="rect">
            <a:avLst/>
          </a:prstGeom>
          <a:noFill/>
          <a:ln/>
        </p:spPr>
        <p:txBody>
          <a:bodyPr wrap="square" lIns="0" tIns="0" rIns="0" bIns="0" rtlCol="0" anchor="ctr"/>
          <a:lstStyle/>
          <a:p>
            <a:pPr algn="ctr" indent="0" marL="0">
              <a:buNone/>
            </a:pPr>
            <a:r>
              <a:rPr lang="en-US" sz="3000" b="1" dirty="0">
                <a:solidFill>
                  <a:srgbClr val="C97700"/>
                </a:solidFill>
                <a:latin typeface="Cambria" pitchFamily="34" charset="0"/>
                <a:ea typeface="Cambria" pitchFamily="34" charset="-122"/>
                <a:cs typeface="Cambria" pitchFamily="34" charset="-120"/>
              </a:rPr>
              <a:t>?</a:t>
            </a:r>
            <a:endParaRPr lang="en-US" sz="3000" dirty="0"/>
          </a:p>
        </p:txBody>
      </p:sp>
      <p:sp>
        <p:nvSpPr>
          <p:cNvPr id="22" name="hyp0"/>
          <p:cNvSpPr/>
          <p:nvPr/>
        </p:nvSpPr>
        <p:spPr>
          <a:xfrm>
            <a:off x="548640" y="1920240"/>
            <a:ext cx="3547872" cy="2514600"/>
          </a:xfrm>
          <a:prstGeom prst="roundRect">
            <a:avLst>
              <a:gd name="adj" fmla="val 5091"/>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23" name="hypT0"/>
          <p:cNvSpPr txBox="1"/>
          <p:nvPr/>
        </p:nvSpPr>
        <p:spPr>
          <a:xfrm>
            <a:off x="822960" y="2148840"/>
            <a:ext cx="731520" cy="457200"/>
          </a:xfrm>
          <a:prstGeom prst="rect">
            <a:avLst/>
          </a:prstGeom>
          <a:noFill/>
          <a:ln/>
        </p:spPr>
        <p:txBody>
          <a:bodyPr wrap="square" lIns="0" tIns="0" rIns="0" bIns="0" rtlCol="0" anchor="t"/>
          <a:lstStyle/>
          <a:p>
            <a:pPr indent="0" marL="0">
              <a:buNone/>
            </a:pPr>
            <a:r>
              <a:rPr lang="en-US" sz="2800" b="1" dirty="0">
                <a:solidFill>
                  <a:srgbClr val="C97700"/>
                </a:solidFill>
                <a:latin typeface="Cambria" pitchFamily="34" charset="0"/>
                <a:ea typeface="Cambria" pitchFamily="34" charset="-122"/>
                <a:cs typeface="Cambria" pitchFamily="34" charset="-120"/>
              </a:rPr>
              <a:t>H1</a:t>
            </a:r>
            <a:endParaRPr lang="en-US" sz="2800" dirty="0"/>
          </a:p>
        </p:txBody>
      </p:sp>
      <p:sp>
        <p:nvSpPr>
          <p:cNvPr id="24" name="hypM0"/>
          <p:cNvSpPr txBox="1"/>
          <p:nvPr/>
        </p:nvSpPr>
        <p:spPr>
          <a:xfrm>
            <a:off x="1508760" y="2267712"/>
            <a:ext cx="2377440" cy="274320"/>
          </a:xfrm>
          <a:prstGeom prst="rect">
            <a:avLst/>
          </a:prstGeom>
          <a:noFill/>
          <a:ln/>
        </p:spPr>
        <p:txBody>
          <a:bodyPr wrap="square" lIns="0" tIns="0" rIns="0" bIns="0" rtlCol="0" anchor="t"/>
          <a:lstStyle/>
          <a:p>
            <a:pPr indent="0" marL="0">
              <a:buNone/>
            </a:pPr>
            <a:r>
              <a:rPr lang="en-US" sz="1100" spc="100" kern="0" dirty="0">
                <a:solidFill>
                  <a:srgbClr val="565B75"/>
                </a:solidFill>
                <a:latin typeface="Consolas" pitchFamily="34" charset="0"/>
                <a:ea typeface="Consolas" pitchFamily="34" charset="-122"/>
                <a:cs typeface="Consolas" pitchFamily="34" charset="-120"/>
              </a:rPr>
              <a:t>ACCURACY</a:t>
            </a:r>
            <a:endParaRPr lang="en-US" sz="1100" dirty="0"/>
          </a:p>
        </p:txBody>
      </p:sp>
      <p:sp>
        <p:nvSpPr>
          <p:cNvPr id="25" name="hypD0"/>
          <p:cNvSpPr txBox="1"/>
          <p:nvPr/>
        </p:nvSpPr>
        <p:spPr>
          <a:xfrm>
            <a:off x="822960" y="2743200"/>
            <a:ext cx="2999232" cy="868680"/>
          </a:xfrm>
          <a:prstGeom prst="rect">
            <a:avLst/>
          </a:prstGeom>
          <a:noFill/>
          <a:ln/>
        </p:spPr>
        <p:txBody>
          <a:bodyPr wrap="square" lIns="0" tIns="0" rIns="0" bIns="0" rtlCol="0" anchor="t"/>
          <a:lstStyle/>
          <a:p>
            <a:pPr indent="0" marL="0">
              <a:buNone/>
            </a:pPr>
            <a:r>
              <a:rPr lang="en-US" sz="1500" dirty="0">
                <a:solidFill>
                  <a:srgbClr val="16182B"/>
                </a:solidFill>
                <a:latin typeface="Calibri" pitchFamily="34" charset="0"/>
                <a:ea typeface="Calibri" pitchFamily="34" charset="-122"/>
                <a:cs typeface="Calibri" pitchFamily="34" charset="-120"/>
              </a:rPr>
              <a:t>Accuracy rises with K, then shows diminishing returns.</a:t>
            </a:r>
            <a:endParaRPr lang="en-US" sz="1500" dirty="0"/>
          </a:p>
        </p:txBody>
      </p:sp>
      <p:sp>
        <p:nvSpPr>
          <p:cNvPr id="26" name="hypAx0"/>
          <p:cNvSpPr/>
          <p:nvPr/>
        </p:nvSpPr>
        <p:spPr>
          <a:xfrm>
            <a:off x="822960" y="4251960"/>
            <a:ext cx="1554480" cy="0"/>
          </a:xfrm>
          <a:prstGeom prst="line">
            <a:avLst/>
          </a:prstGeom>
          <a:noFill/>
          <a:ln w="12700">
            <a:solidFill>
              <a:srgbClr val="D9DCE8"/>
            </a:solidFill>
            <a:prstDash val="solid"/>
          </a:ln>
        </p:spPr>
      </p:sp>
      <p:sp>
        <p:nvSpPr>
          <p:cNvPr id="27" name="hypL0a0"/>
          <p:cNvSpPr/>
          <p:nvPr/>
        </p:nvSpPr>
        <p:spPr>
          <a:xfrm flipV="1">
            <a:off x="822960" y="3895344"/>
            <a:ext cx="512978" cy="274320"/>
          </a:xfrm>
          <a:prstGeom prst="line">
            <a:avLst/>
          </a:prstGeom>
          <a:noFill/>
          <a:ln w="28575">
            <a:solidFill>
              <a:srgbClr val="C97700"/>
            </a:solidFill>
            <a:prstDash val="solid"/>
          </a:ln>
        </p:spPr>
      </p:sp>
      <p:sp>
        <p:nvSpPr>
          <p:cNvPr id="28" name="hypL0a1"/>
          <p:cNvSpPr/>
          <p:nvPr/>
        </p:nvSpPr>
        <p:spPr>
          <a:xfrm flipV="1">
            <a:off x="1335938" y="3824021"/>
            <a:ext cx="512978" cy="71323"/>
          </a:xfrm>
          <a:prstGeom prst="line">
            <a:avLst/>
          </a:prstGeom>
          <a:noFill/>
          <a:ln w="28575">
            <a:solidFill>
              <a:srgbClr val="C97700"/>
            </a:solidFill>
            <a:prstDash val="solid"/>
          </a:ln>
        </p:spPr>
      </p:sp>
      <p:sp>
        <p:nvSpPr>
          <p:cNvPr id="29" name="hypL0a2"/>
          <p:cNvSpPr/>
          <p:nvPr/>
        </p:nvSpPr>
        <p:spPr>
          <a:xfrm flipV="1">
            <a:off x="1848917" y="3791102"/>
            <a:ext cx="528523" cy="32918"/>
          </a:xfrm>
          <a:prstGeom prst="line">
            <a:avLst/>
          </a:prstGeom>
          <a:noFill/>
          <a:ln w="28575">
            <a:solidFill>
              <a:srgbClr val="C97700"/>
            </a:solidFill>
            <a:prstDash val="solid"/>
          </a:ln>
        </p:spPr>
      </p:sp>
      <p:sp>
        <p:nvSpPr>
          <p:cNvPr id="30" name="hypE0"/>
          <p:cNvSpPr txBox="1"/>
          <p:nvPr/>
        </p:nvSpPr>
        <p:spPr>
          <a:xfrm>
            <a:off x="2514600" y="3886200"/>
            <a:ext cx="1371600" cy="411480"/>
          </a:xfrm>
          <a:prstGeom prst="rect">
            <a:avLst/>
          </a:prstGeom>
          <a:noFill/>
          <a:ln/>
        </p:spPr>
        <p:txBody>
          <a:bodyPr wrap="square" lIns="0" tIns="0" rIns="0" bIns="0" rtlCol="0" anchor="t"/>
          <a:lstStyle/>
          <a:p>
            <a:pPr indent="0" marL="0">
              <a:buNone/>
            </a:pPr>
            <a:r>
              <a:rPr lang="en-US" sz="1100" i="1" dirty="0">
                <a:solidFill>
                  <a:srgbClr val="8A8EA6"/>
                </a:solidFill>
                <a:latin typeface="Calibri" pitchFamily="34" charset="0"/>
                <a:ea typeface="Calibri" pitchFamily="34" charset="-122"/>
                <a:cs typeface="Calibri" pitchFamily="34" charset="-120"/>
              </a:rPr>
              <a:t>expected trend as K grows</a:t>
            </a:r>
            <a:endParaRPr lang="en-US" sz="1100" dirty="0"/>
          </a:p>
        </p:txBody>
      </p:sp>
      <p:sp>
        <p:nvSpPr>
          <p:cNvPr id="31" name="hyp1"/>
          <p:cNvSpPr/>
          <p:nvPr/>
        </p:nvSpPr>
        <p:spPr>
          <a:xfrm>
            <a:off x="4325112" y="1920240"/>
            <a:ext cx="3547872" cy="2514600"/>
          </a:xfrm>
          <a:prstGeom prst="roundRect">
            <a:avLst>
              <a:gd name="adj" fmla="val 5091"/>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32" name="hypT1"/>
          <p:cNvSpPr txBox="1"/>
          <p:nvPr/>
        </p:nvSpPr>
        <p:spPr>
          <a:xfrm>
            <a:off x="4599432" y="2148840"/>
            <a:ext cx="731520" cy="457200"/>
          </a:xfrm>
          <a:prstGeom prst="rect">
            <a:avLst/>
          </a:prstGeom>
          <a:noFill/>
          <a:ln/>
        </p:spPr>
        <p:txBody>
          <a:bodyPr wrap="square" lIns="0" tIns="0" rIns="0" bIns="0" rtlCol="0" anchor="t"/>
          <a:lstStyle/>
          <a:p>
            <a:pPr indent="0" marL="0">
              <a:buNone/>
            </a:pPr>
            <a:r>
              <a:rPr lang="en-US" sz="2800" b="1" dirty="0">
                <a:solidFill>
                  <a:srgbClr val="0E9C86"/>
                </a:solidFill>
                <a:latin typeface="Cambria" pitchFamily="34" charset="0"/>
                <a:ea typeface="Cambria" pitchFamily="34" charset="-122"/>
                <a:cs typeface="Cambria" pitchFamily="34" charset="-120"/>
              </a:rPr>
              <a:t>H2</a:t>
            </a:r>
            <a:endParaRPr lang="en-US" sz="2800" dirty="0"/>
          </a:p>
        </p:txBody>
      </p:sp>
      <p:sp>
        <p:nvSpPr>
          <p:cNvPr id="33" name="hypM1"/>
          <p:cNvSpPr txBox="1"/>
          <p:nvPr/>
        </p:nvSpPr>
        <p:spPr>
          <a:xfrm>
            <a:off x="5285232" y="2267712"/>
            <a:ext cx="2377440" cy="274320"/>
          </a:xfrm>
          <a:prstGeom prst="rect">
            <a:avLst/>
          </a:prstGeom>
          <a:noFill/>
          <a:ln/>
        </p:spPr>
        <p:txBody>
          <a:bodyPr wrap="square" lIns="0" tIns="0" rIns="0" bIns="0" rtlCol="0" anchor="t"/>
          <a:lstStyle/>
          <a:p>
            <a:pPr indent="0" marL="0">
              <a:buNone/>
            </a:pPr>
            <a:r>
              <a:rPr lang="en-US" sz="1100" spc="100" kern="0" dirty="0">
                <a:solidFill>
                  <a:srgbClr val="565B75"/>
                </a:solidFill>
                <a:latin typeface="Consolas" pitchFamily="34" charset="0"/>
                <a:ea typeface="Consolas" pitchFamily="34" charset="-122"/>
                <a:cs typeface="Consolas" pitchFamily="34" charset="-120"/>
              </a:rPr>
              <a:t>RELEVANCE &amp; HALLUCINATION</a:t>
            </a:r>
            <a:endParaRPr lang="en-US" sz="1100" dirty="0"/>
          </a:p>
        </p:txBody>
      </p:sp>
      <p:sp>
        <p:nvSpPr>
          <p:cNvPr id="34" name="hypD1"/>
          <p:cNvSpPr txBox="1"/>
          <p:nvPr/>
        </p:nvSpPr>
        <p:spPr>
          <a:xfrm>
            <a:off x="4599432" y="2743200"/>
            <a:ext cx="2999232" cy="868680"/>
          </a:xfrm>
          <a:prstGeom prst="rect">
            <a:avLst/>
          </a:prstGeom>
          <a:noFill/>
          <a:ln/>
        </p:spPr>
        <p:txBody>
          <a:bodyPr wrap="square" lIns="0" tIns="0" rIns="0" bIns="0" rtlCol="0" anchor="t"/>
          <a:lstStyle/>
          <a:p>
            <a:pPr indent="0" marL="0">
              <a:buNone/>
            </a:pPr>
            <a:r>
              <a:rPr lang="en-US" sz="1500" dirty="0">
                <a:solidFill>
                  <a:srgbClr val="16182B"/>
                </a:solidFill>
                <a:latin typeface="Calibri" pitchFamily="34" charset="0"/>
                <a:ea typeface="Calibri" pitchFamily="34" charset="-122"/>
                <a:cs typeface="Calibri" pitchFamily="34" charset="-120"/>
              </a:rPr>
              <a:t>More chunks raise fact recall but dilute precision; hallucination shifts with K.</a:t>
            </a:r>
            <a:endParaRPr lang="en-US" sz="1500" dirty="0"/>
          </a:p>
        </p:txBody>
      </p:sp>
      <p:sp>
        <p:nvSpPr>
          <p:cNvPr id="35" name="hypAx1"/>
          <p:cNvSpPr/>
          <p:nvPr/>
        </p:nvSpPr>
        <p:spPr>
          <a:xfrm>
            <a:off x="4599432" y="4251960"/>
            <a:ext cx="1554480" cy="0"/>
          </a:xfrm>
          <a:prstGeom prst="line">
            <a:avLst/>
          </a:prstGeom>
          <a:noFill/>
          <a:ln w="12700">
            <a:solidFill>
              <a:srgbClr val="D9DCE8"/>
            </a:solidFill>
            <a:prstDash val="solid"/>
          </a:ln>
        </p:spPr>
      </p:sp>
      <p:sp>
        <p:nvSpPr>
          <p:cNvPr id="36" name="hypL1a0"/>
          <p:cNvSpPr/>
          <p:nvPr/>
        </p:nvSpPr>
        <p:spPr>
          <a:xfrm flipV="1">
            <a:off x="4599432" y="3977640"/>
            <a:ext cx="512978" cy="164592"/>
          </a:xfrm>
          <a:prstGeom prst="line">
            <a:avLst/>
          </a:prstGeom>
          <a:noFill/>
          <a:ln w="28575">
            <a:solidFill>
              <a:srgbClr val="0E9C86"/>
            </a:solidFill>
            <a:prstDash val="solid"/>
          </a:ln>
        </p:spPr>
      </p:sp>
      <p:sp>
        <p:nvSpPr>
          <p:cNvPr id="37" name="hypL1a1"/>
          <p:cNvSpPr/>
          <p:nvPr/>
        </p:nvSpPr>
        <p:spPr>
          <a:xfrm flipV="1">
            <a:off x="5112410" y="3867912"/>
            <a:ext cx="512978" cy="109728"/>
          </a:xfrm>
          <a:prstGeom prst="line">
            <a:avLst/>
          </a:prstGeom>
          <a:noFill/>
          <a:ln w="28575">
            <a:solidFill>
              <a:srgbClr val="0E9C86"/>
            </a:solidFill>
            <a:prstDash val="solid"/>
          </a:ln>
        </p:spPr>
      </p:sp>
      <p:sp>
        <p:nvSpPr>
          <p:cNvPr id="38" name="hypL1a2"/>
          <p:cNvSpPr/>
          <p:nvPr/>
        </p:nvSpPr>
        <p:spPr>
          <a:xfrm flipV="1">
            <a:off x="5625389" y="3802075"/>
            <a:ext cx="528523" cy="65837"/>
          </a:xfrm>
          <a:prstGeom prst="line">
            <a:avLst/>
          </a:prstGeom>
          <a:noFill/>
          <a:ln w="28575">
            <a:solidFill>
              <a:srgbClr val="0E9C86"/>
            </a:solidFill>
            <a:prstDash val="solid"/>
          </a:ln>
        </p:spPr>
      </p:sp>
      <p:sp>
        <p:nvSpPr>
          <p:cNvPr id="39" name="hypL1b0"/>
          <p:cNvSpPr/>
          <p:nvPr/>
        </p:nvSpPr>
        <p:spPr>
          <a:xfrm>
            <a:off x="4599432" y="3813048"/>
            <a:ext cx="512978" cy="137160"/>
          </a:xfrm>
          <a:prstGeom prst="line">
            <a:avLst/>
          </a:prstGeom>
          <a:noFill/>
          <a:ln w="28575">
            <a:solidFill>
              <a:srgbClr val="E0474C"/>
            </a:solidFill>
            <a:prstDash val="solid"/>
          </a:ln>
        </p:spPr>
      </p:sp>
      <p:sp>
        <p:nvSpPr>
          <p:cNvPr id="40" name="hypL1b1"/>
          <p:cNvSpPr/>
          <p:nvPr/>
        </p:nvSpPr>
        <p:spPr>
          <a:xfrm>
            <a:off x="5112410" y="3950208"/>
            <a:ext cx="512978" cy="82296"/>
          </a:xfrm>
          <a:prstGeom prst="line">
            <a:avLst/>
          </a:prstGeom>
          <a:noFill/>
          <a:ln w="28575">
            <a:solidFill>
              <a:srgbClr val="E0474C"/>
            </a:solidFill>
            <a:prstDash val="solid"/>
          </a:ln>
        </p:spPr>
      </p:sp>
      <p:sp>
        <p:nvSpPr>
          <p:cNvPr id="41" name="hypL1b2"/>
          <p:cNvSpPr/>
          <p:nvPr/>
        </p:nvSpPr>
        <p:spPr>
          <a:xfrm>
            <a:off x="5625389" y="4032504"/>
            <a:ext cx="528523" cy="82296"/>
          </a:xfrm>
          <a:prstGeom prst="line">
            <a:avLst/>
          </a:prstGeom>
          <a:noFill/>
          <a:ln w="28575">
            <a:solidFill>
              <a:srgbClr val="E0474C"/>
            </a:solidFill>
            <a:prstDash val="solid"/>
          </a:ln>
        </p:spPr>
      </p:sp>
      <p:sp>
        <p:nvSpPr>
          <p:cNvPr id="42" name="hypE1"/>
          <p:cNvSpPr txBox="1"/>
          <p:nvPr/>
        </p:nvSpPr>
        <p:spPr>
          <a:xfrm>
            <a:off x="6291072" y="3886200"/>
            <a:ext cx="1371600" cy="411480"/>
          </a:xfrm>
          <a:prstGeom prst="rect">
            <a:avLst/>
          </a:prstGeom>
          <a:noFill/>
          <a:ln/>
        </p:spPr>
        <p:txBody>
          <a:bodyPr wrap="square" lIns="0" tIns="0" rIns="0" bIns="0" rtlCol="0" anchor="t"/>
          <a:lstStyle/>
          <a:p>
            <a:pPr indent="0" marL="0">
              <a:buNone/>
            </a:pPr>
            <a:r>
              <a:rPr lang="en-US" sz="1100" i="1" dirty="0">
                <a:solidFill>
                  <a:srgbClr val="8A8EA6"/>
                </a:solidFill>
                <a:latin typeface="Calibri" pitchFamily="34" charset="0"/>
                <a:ea typeface="Calibri" pitchFamily="34" charset="-122"/>
                <a:cs typeface="Calibri" pitchFamily="34" charset="-120"/>
              </a:rPr>
              <a:t>expected trend as K grows</a:t>
            </a:r>
            <a:endParaRPr lang="en-US" sz="1100" dirty="0"/>
          </a:p>
        </p:txBody>
      </p:sp>
      <p:sp>
        <p:nvSpPr>
          <p:cNvPr id="43" name="hyp2"/>
          <p:cNvSpPr/>
          <p:nvPr/>
        </p:nvSpPr>
        <p:spPr>
          <a:xfrm>
            <a:off x="8101584" y="1920240"/>
            <a:ext cx="3547872" cy="2514600"/>
          </a:xfrm>
          <a:prstGeom prst="roundRect">
            <a:avLst>
              <a:gd name="adj" fmla="val 5091"/>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44" name="hypT2"/>
          <p:cNvSpPr txBox="1"/>
          <p:nvPr/>
        </p:nvSpPr>
        <p:spPr>
          <a:xfrm>
            <a:off x="8375904" y="2148840"/>
            <a:ext cx="731520" cy="457200"/>
          </a:xfrm>
          <a:prstGeom prst="rect">
            <a:avLst/>
          </a:prstGeom>
          <a:noFill/>
          <a:ln/>
        </p:spPr>
        <p:txBody>
          <a:bodyPr wrap="square" lIns="0" tIns="0" rIns="0" bIns="0" rtlCol="0" anchor="t"/>
          <a:lstStyle/>
          <a:p>
            <a:pPr indent="0" marL="0">
              <a:buNone/>
            </a:pPr>
            <a:r>
              <a:rPr lang="en-US" sz="2800" b="1" dirty="0">
                <a:solidFill>
                  <a:srgbClr val="7656E0"/>
                </a:solidFill>
                <a:latin typeface="Cambria" pitchFamily="34" charset="0"/>
                <a:ea typeface="Cambria" pitchFamily="34" charset="-122"/>
                <a:cs typeface="Cambria" pitchFamily="34" charset="-120"/>
              </a:rPr>
              <a:t>H3</a:t>
            </a:r>
            <a:endParaRPr lang="en-US" sz="2800" dirty="0"/>
          </a:p>
        </p:txBody>
      </p:sp>
      <p:sp>
        <p:nvSpPr>
          <p:cNvPr id="45" name="hypM2"/>
          <p:cNvSpPr txBox="1"/>
          <p:nvPr/>
        </p:nvSpPr>
        <p:spPr>
          <a:xfrm>
            <a:off x="9061704" y="2267712"/>
            <a:ext cx="2377440" cy="274320"/>
          </a:xfrm>
          <a:prstGeom prst="rect">
            <a:avLst/>
          </a:prstGeom>
          <a:noFill/>
          <a:ln/>
        </p:spPr>
        <p:txBody>
          <a:bodyPr wrap="square" lIns="0" tIns="0" rIns="0" bIns="0" rtlCol="0" anchor="t"/>
          <a:lstStyle/>
          <a:p>
            <a:pPr indent="0" marL="0">
              <a:buNone/>
            </a:pPr>
            <a:r>
              <a:rPr lang="en-US" sz="1100" spc="100" kern="0" dirty="0">
                <a:solidFill>
                  <a:srgbClr val="565B75"/>
                </a:solidFill>
                <a:latin typeface="Consolas" pitchFamily="34" charset="0"/>
                <a:ea typeface="Consolas" pitchFamily="34" charset="-122"/>
                <a:cs typeface="Consolas" pitchFamily="34" charset="-120"/>
              </a:rPr>
              <a:t>RESPONSE TIME</a:t>
            </a:r>
            <a:endParaRPr lang="en-US" sz="1100" dirty="0"/>
          </a:p>
        </p:txBody>
      </p:sp>
      <p:sp>
        <p:nvSpPr>
          <p:cNvPr id="46" name="hypD2"/>
          <p:cNvSpPr txBox="1"/>
          <p:nvPr/>
        </p:nvSpPr>
        <p:spPr>
          <a:xfrm>
            <a:off x="8375904" y="2743200"/>
            <a:ext cx="2999232" cy="868680"/>
          </a:xfrm>
          <a:prstGeom prst="rect">
            <a:avLst/>
          </a:prstGeom>
          <a:noFill/>
          <a:ln/>
        </p:spPr>
        <p:txBody>
          <a:bodyPr wrap="square" lIns="0" tIns="0" rIns="0" bIns="0" rtlCol="0" anchor="t"/>
          <a:lstStyle/>
          <a:p>
            <a:pPr indent="0" marL="0">
              <a:buNone/>
            </a:pPr>
            <a:r>
              <a:rPr lang="en-US" sz="1500" dirty="0">
                <a:solidFill>
                  <a:srgbClr val="16182B"/>
                </a:solidFill>
                <a:latin typeface="Calibri" pitchFamily="34" charset="0"/>
                <a:ea typeface="Calibri" pitchFamily="34" charset="-122"/>
                <a:cs typeface="Calibri" pitchFamily="34" charset="-120"/>
              </a:rPr>
              <a:t>Latency grows roughly linearly with K as prompts get longer.</a:t>
            </a:r>
            <a:endParaRPr lang="en-US" sz="1500" dirty="0"/>
          </a:p>
        </p:txBody>
      </p:sp>
      <p:sp>
        <p:nvSpPr>
          <p:cNvPr id="47" name="hypAx2"/>
          <p:cNvSpPr/>
          <p:nvPr/>
        </p:nvSpPr>
        <p:spPr>
          <a:xfrm>
            <a:off x="8375904" y="4251960"/>
            <a:ext cx="1554480" cy="0"/>
          </a:xfrm>
          <a:prstGeom prst="line">
            <a:avLst/>
          </a:prstGeom>
          <a:noFill/>
          <a:ln w="12700">
            <a:solidFill>
              <a:srgbClr val="D9DCE8"/>
            </a:solidFill>
            <a:prstDash val="solid"/>
          </a:ln>
        </p:spPr>
      </p:sp>
      <p:sp>
        <p:nvSpPr>
          <p:cNvPr id="48" name="hypL2a0"/>
          <p:cNvSpPr/>
          <p:nvPr/>
        </p:nvSpPr>
        <p:spPr>
          <a:xfrm flipV="1">
            <a:off x="8375904" y="3769157"/>
            <a:ext cx="1554480" cy="416966"/>
          </a:xfrm>
          <a:prstGeom prst="line">
            <a:avLst/>
          </a:prstGeom>
          <a:noFill/>
          <a:ln w="28575">
            <a:solidFill>
              <a:srgbClr val="7656E0"/>
            </a:solidFill>
            <a:prstDash val="solid"/>
          </a:ln>
        </p:spPr>
      </p:sp>
      <p:sp>
        <p:nvSpPr>
          <p:cNvPr id="49" name="hypE2"/>
          <p:cNvSpPr txBox="1"/>
          <p:nvPr/>
        </p:nvSpPr>
        <p:spPr>
          <a:xfrm>
            <a:off x="10067544" y="3886200"/>
            <a:ext cx="1371600" cy="411480"/>
          </a:xfrm>
          <a:prstGeom prst="rect">
            <a:avLst/>
          </a:prstGeom>
          <a:noFill/>
          <a:ln/>
        </p:spPr>
        <p:txBody>
          <a:bodyPr wrap="square" lIns="0" tIns="0" rIns="0" bIns="0" rtlCol="0" anchor="t"/>
          <a:lstStyle/>
          <a:p>
            <a:pPr indent="0" marL="0">
              <a:buNone/>
            </a:pPr>
            <a:r>
              <a:rPr lang="en-US" sz="1100" i="1" dirty="0">
                <a:solidFill>
                  <a:srgbClr val="8A8EA6"/>
                </a:solidFill>
                <a:latin typeface="Calibri" pitchFamily="34" charset="0"/>
                <a:ea typeface="Calibri" pitchFamily="34" charset="-122"/>
                <a:cs typeface="Calibri" pitchFamily="34" charset="-120"/>
              </a:rPr>
              <a:t>expected trend as K grows</a:t>
            </a:r>
            <a:endParaRPr lang="en-US" sz="1100" dirty="0"/>
          </a:p>
        </p:txBody>
      </p:sp>
      <p:sp>
        <p:nvSpPr>
          <p:cNvPr id="50" name="defL"/>
          <p:cNvSpPr txBox="1"/>
          <p:nvPr/>
        </p:nvSpPr>
        <p:spPr>
          <a:xfrm>
            <a:off x="548640" y="4681728"/>
            <a:ext cx="4572000" cy="256032"/>
          </a:xfrm>
          <a:prstGeom prst="rect">
            <a:avLst/>
          </a:prstGeom>
          <a:noFill/>
          <a:ln/>
        </p:spPr>
        <p:txBody>
          <a:bodyPr wrap="square" lIns="0" tIns="0" rIns="0" bIns="0" rtlCol="0" anchor="t"/>
          <a:lstStyle/>
          <a:p>
            <a:pPr indent="0" marL="0">
              <a:buNone/>
            </a:pPr>
            <a:r>
              <a:rPr lang="en-US" sz="1100" spc="200" kern="0" dirty="0">
                <a:solidFill>
                  <a:srgbClr val="8A8EA6"/>
                </a:solidFill>
                <a:latin typeface="Consolas" pitchFamily="34" charset="0"/>
                <a:ea typeface="Consolas" pitchFamily="34" charset="-122"/>
                <a:cs typeface="Consolas" pitchFamily="34" charset="-120"/>
              </a:rPr>
              <a:t>HOW EACH METRIC IS MEASURED</a:t>
            </a:r>
            <a:endParaRPr lang="en-US" sz="1100" dirty="0"/>
          </a:p>
        </p:txBody>
      </p:sp>
      <p:sp>
        <p:nvSpPr>
          <p:cNvPr id="51" name="defDot0"/>
          <p:cNvSpPr/>
          <p:nvPr/>
        </p:nvSpPr>
        <p:spPr>
          <a:xfrm>
            <a:off x="548640" y="5074920"/>
            <a:ext cx="146304" cy="146304"/>
          </a:xfrm>
          <a:prstGeom prst="ellipse">
            <a:avLst/>
          </a:prstGeom>
          <a:solidFill>
            <a:srgbClr val="C97700"/>
          </a:solidFill>
          <a:ln/>
        </p:spPr>
      </p:sp>
      <p:sp>
        <p:nvSpPr>
          <p:cNvPr id="52" name="defN0"/>
          <p:cNvSpPr txBox="1"/>
          <p:nvPr/>
        </p:nvSpPr>
        <p:spPr>
          <a:xfrm>
            <a:off x="804672" y="5001768"/>
            <a:ext cx="2468880" cy="292608"/>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Answer accuracy</a:t>
            </a:r>
            <a:endParaRPr lang="en-US" sz="1500" dirty="0"/>
          </a:p>
        </p:txBody>
      </p:sp>
      <p:sp>
        <p:nvSpPr>
          <p:cNvPr id="53" name="defD0"/>
          <p:cNvSpPr txBox="1"/>
          <p:nvPr/>
        </p:nvSpPr>
        <p:spPr>
          <a:xfrm>
            <a:off x="804672" y="5349240"/>
            <a:ext cx="2423160" cy="64008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Required-fact coverage, scored 0 / 1 / 2; abstaining scores 0</a:t>
            </a:r>
            <a:endParaRPr lang="en-US" sz="1200" dirty="0"/>
          </a:p>
        </p:txBody>
      </p:sp>
      <p:sp>
        <p:nvSpPr>
          <p:cNvPr id="54" name="defDot1"/>
          <p:cNvSpPr/>
          <p:nvPr/>
        </p:nvSpPr>
        <p:spPr>
          <a:xfrm>
            <a:off x="3364992" y="5074920"/>
            <a:ext cx="146304" cy="146304"/>
          </a:xfrm>
          <a:prstGeom prst="ellipse">
            <a:avLst/>
          </a:prstGeom>
          <a:solidFill>
            <a:srgbClr val="0E9C86"/>
          </a:solidFill>
          <a:ln/>
        </p:spPr>
      </p:sp>
      <p:sp>
        <p:nvSpPr>
          <p:cNvPr id="55" name="defN1"/>
          <p:cNvSpPr txBox="1"/>
          <p:nvPr/>
        </p:nvSpPr>
        <p:spPr>
          <a:xfrm>
            <a:off x="3621024" y="5001768"/>
            <a:ext cx="2468880" cy="292608"/>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Context relevance</a:t>
            </a:r>
            <a:endParaRPr lang="en-US" sz="1500" dirty="0"/>
          </a:p>
        </p:txBody>
      </p:sp>
      <p:sp>
        <p:nvSpPr>
          <p:cNvPr id="56" name="defD1"/>
          <p:cNvSpPr txBox="1"/>
          <p:nvPr/>
        </p:nvSpPr>
        <p:spPr>
          <a:xfrm>
            <a:off x="3621024" y="5349240"/>
            <a:ext cx="2423160" cy="64008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Share of required facts present in the retrieved chunks</a:t>
            </a:r>
            <a:endParaRPr lang="en-US" sz="1200" dirty="0"/>
          </a:p>
        </p:txBody>
      </p:sp>
      <p:sp>
        <p:nvSpPr>
          <p:cNvPr id="57" name="defDot2"/>
          <p:cNvSpPr/>
          <p:nvPr/>
        </p:nvSpPr>
        <p:spPr>
          <a:xfrm>
            <a:off x="6181344" y="5074920"/>
            <a:ext cx="146304" cy="146304"/>
          </a:xfrm>
          <a:prstGeom prst="ellipse">
            <a:avLst/>
          </a:prstGeom>
          <a:solidFill>
            <a:srgbClr val="E0474C"/>
          </a:solidFill>
          <a:ln/>
        </p:spPr>
      </p:sp>
      <p:sp>
        <p:nvSpPr>
          <p:cNvPr id="58" name="defN2"/>
          <p:cNvSpPr txBox="1"/>
          <p:nvPr/>
        </p:nvSpPr>
        <p:spPr>
          <a:xfrm>
            <a:off x="6437376" y="5001768"/>
            <a:ext cx="2468880" cy="292608"/>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Hallucination rate</a:t>
            </a:r>
            <a:endParaRPr lang="en-US" sz="1500" dirty="0"/>
          </a:p>
        </p:txBody>
      </p:sp>
      <p:sp>
        <p:nvSpPr>
          <p:cNvPr id="59" name="defD2"/>
          <p:cNvSpPr txBox="1"/>
          <p:nvPr/>
        </p:nvSpPr>
        <p:spPr>
          <a:xfrm>
            <a:off x="6437376" y="5349240"/>
            <a:ext cx="2423160" cy="64008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Share of answer claims not supported by the retrieved text</a:t>
            </a:r>
            <a:endParaRPr lang="en-US" sz="1200" dirty="0"/>
          </a:p>
        </p:txBody>
      </p:sp>
      <p:sp>
        <p:nvSpPr>
          <p:cNvPr id="60" name="defDot3"/>
          <p:cNvSpPr/>
          <p:nvPr/>
        </p:nvSpPr>
        <p:spPr>
          <a:xfrm>
            <a:off x="8997696" y="5074920"/>
            <a:ext cx="146304" cy="146304"/>
          </a:xfrm>
          <a:prstGeom prst="ellipse">
            <a:avLst/>
          </a:prstGeom>
          <a:solidFill>
            <a:srgbClr val="7656E0"/>
          </a:solidFill>
          <a:ln/>
        </p:spPr>
      </p:sp>
      <p:sp>
        <p:nvSpPr>
          <p:cNvPr id="61" name="defN3"/>
          <p:cNvSpPr txBox="1"/>
          <p:nvPr/>
        </p:nvSpPr>
        <p:spPr>
          <a:xfrm>
            <a:off x="9253728" y="5001768"/>
            <a:ext cx="2468880" cy="292608"/>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Response time</a:t>
            </a:r>
            <a:endParaRPr lang="en-US" sz="1500" dirty="0"/>
          </a:p>
        </p:txBody>
      </p:sp>
      <p:sp>
        <p:nvSpPr>
          <p:cNvPr id="62" name="defD3"/>
          <p:cNvSpPr txBox="1"/>
          <p:nvPr/>
        </p:nvSpPr>
        <p:spPr>
          <a:xfrm>
            <a:off x="9253728" y="5349240"/>
            <a:ext cx="2423160" cy="64008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Retrieval + generation latency per answer (median)</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72"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00"/>
                                        <p:tgtEl>
                                          <p:spTgt spid="21"/>
                                        </p:tgtEl>
                                      </p:cBhvr>
                                    </p:animEffect>
                                    <p:anim calcmode="lin" valueType="num">
                                      <p:cBhvr>
                                        <p:cTn id="7" dur="500" decel="100000" fill="hold"/>
                                        <p:tgtEl>
                                          <p:spTgt spid="21"/>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14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anim calcmode="lin" valueType="num">
                                      <p:cBhvr>
                                        <p:cTn id="11" dur="500" decel="100000" fill="hold"/>
                                        <p:tgtEl>
                                          <p:spTgt spid="22"/>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14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500"/>
                                        <p:tgtEl>
                                          <p:spTgt spid="23"/>
                                        </p:tgtEl>
                                      </p:cBhvr>
                                    </p:animEffect>
                                    <p:anim calcmode="lin" valueType="num">
                                      <p:cBhvr>
                                        <p:cTn id="15" dur="500" decel="100000" fill="hold"/>
                                        <p:tgtEl>
                                          <p:spTgt spid="23"/>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14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anim calcmode="lin" valueType="num">
                                      <p:cBhvr>
                                        <p:cTn id="19" dur="500" decel="100000" fill="hold"/>
                                        <p:tgtEl>
                                          <p:spTgt spid="24"/>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14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anim calcmode="lin" valueType="num">
                                      <p:cBhvr>
                                        <p:cTn id="23" dur="500" decel="100000" fill="hold"/>
                                        <p:tgtEl>
                                          <p:spTgt spid="25"/>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14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500"/>
                                        <p:tgtEl>
                                          <p:spTgt spid="26"/>
                                        </p:tgtEl>
                                      </p:cBhvr>
                                    </p:animEffect>
                                    <p:anim calcmode="lin" valueType="num">
                                      <p:cBhvr>
                                        <p:cTn id="27" dur="500" decel="100000" fill="hold"/>
                                        <p:tgtEl>
                                          <p:spTgt spid="26"/>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14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anim calcmode="lin" valueType="num">
                                      <p:cBhvr>
                                        <p:cTn id="31" dur="500" decel="100000" fill="hold"/>
                                        <p:tgtEl>
                                          <p:spTgt spid="27"/>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14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anim calcmode="lin" valueType="num">
                                      <p:cBhvr>
                                        <p:cTn id="35" dur="500" decel="100000" fill="hold"/>
                                        <p:tgtEl>
                                          <p:spTgt spid="28"/>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14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500"/>
                                        <p:tgtEl>
                                          <p:spTgt spid="29"/>
                                        </p:tgtEl>
                                      </p:cBhvr>
                                    </p:animEffect>
                                    <p:anim calcmode="lin" valueType="num">
                                      <p:cBhvr>
                                        <p:cTn id="39" dur="500" decel="100000" fill="hold"/>
                                        <p:tgtEl>
                                          <p:spTgt spid="29"/>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14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500"/>
                                        <p:tgtEl>
                                          <p:spTgt spid="30"/>
                                        </p:tgtEl>
                                      </p:cBhvr>
                                    </p:animEffect>
                                    <p:anim calcmode="lin" valueType="num">
                                      <p:cBhvr>
                                        <p:cTn id="43" dur="500" decel="100000" fill="hold"/>
                                        <p:tgtEl>
                                          <p:spTgt spid="30"/>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28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00"/>
                                        <p:tgtEl>
                                          <p:spTgt spid="31"/>
                                        </p:tgtEl>
                                      </p:cBhvr>
                                    </p:animEffect>
                                    <p:anim calcmode="lin" valueType="num">
                                      <p:cBhvr>
                                        <p:cTn id="47" dur="500" decel="100000" fill="hold"/>
                                        <p:tgtEl>
                                          <p:spTgt spid="31"/>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28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500"/>
                                        <p:tgtEl>
                                          <p:spTgt spid="32"/>
                                        </p:tgtEl>
                                      </p:cBhvr>
                                    </p:animEffect>
                                    <p:anim calcmode="lin" valueType="num">
                                      <p:cBhvr>
                                        <p:cTn id="51" dur="500" decel="100000" fill="hold"/>
                                        <p:tgtEl>
                                          <p:spTgt spid="32"/>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28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500"/>
                                        <p:tgtEl>
                                          <p:spTgt spid="33"/>
                                        </p:tgtEl>
                                      </p:cBhvr>
                                    </p:animEffect>
                                    <p:anim calcmode="lin" valueType="num">
                                      <p:cBhvr>
                                        <p:cTn id="55" dur="500" decel="100000" fill="hold"/>
                                        <p:tgtEl>
                                          <p:spTgt spid="33"/>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28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500"/>
                                        <p:tgtEl>
                                          <p:spTgt spid="34"/>
                                        </p:tgtEl>
                                      </p:cBhvr>
                                    </p:animEffect>
                                    <p:anim calcmode="lin" valueType="num">
                                      <p:cBhvr>
                                        <p:cTn id="59" dur="500" decel="100000" fill="hold"/>
                                        <p:tgtEl>
                                          <p:spTgt spid="34"/>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280"/>
                                  </p:stCondLst>
                                  <p:childTnLst>
                                    <p:set>
                                      <p:cBhvr>
                                        <p:cTn id="61" dur="1" fill="hold">
                                          <p:stCondLst>
                                            <p:cond delay="0"/>
                                          </p:stCondLst>
                                        </p:cTn>
                                        <p:tgtEl>
                                          <p:spTgt spid="35"/>
                                        </p:tgtEl>
                                        <p:attrNameLst>
                                          <p:attrName>style.visibility</p:attrName>
                                        </p:attrNameLst>
                                      </p:cBhvr>
                                      <p:to>
                                        <p:strVal val="visible"/>
                                      </p:to>
                                    </p:set>
                                    <p:animEffect transition="in" filter="fade">
                                      <p:cBhvr>
                                        <p:cTn id="62" dur="500"/>
                                        <p:tgtEl>
                                          <p:spTgt spid="35"/>
                                        </p:tgtEl>
                                      </p:cBhvr>
                                    </p:animEffect>
                                    <p:anim calcmode="lin" valueType="num">
                                      <p:cBhvr>
                                        <p:cTn id="63" dur="500" decel="100000" fill="hold"/>
                                        <p:tgtEl>
                                          <p:spTgt spid="35"/>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280"/>
                                  </p:stCondLst>
                                  <p:childTnLst>
                                    <p:set>
                                      <p:cBhvr>
                                        <p:cTn id="65" dur="1" fill="hold">
                                          <p:stCondLst>
                                            <p:cond delay="0"/>
                                          </p:stCondLst>
                                        </p:cTn>
                                        <p:tgtEl>
                                          <p:spTgt spid="36"/>
                                        </p:tgtEl>
                                        <p:attrNameLst>
                                          <p:attrName>style.visibility</p:attrName>
                                        </p:attrNameLst>
                                      </p:cBhvr>
                                      <p:to>
                                        <p:strVal val="visible"/>
                                      </p:to>
                                    </p:set>
                                    <p:animEffect transition="in" filter="fade">
                                      <p:cBhvr>
                                        <p:cTn id="66" dur="500"/>
                                        <p:tgtEl>
                                          <p:spTgt spid="36"/>
                                        </p:tgtEl>
                                      </p:cBhvr>
                                    </p:animEffect>
                                    <p:anim calcmode="lin" valueType="num">
                                      <p:cBhvr>
                                        <p:cTn id="67" dur="500" decel="100000" fill="hold"/>
                                        <p:tgtEl>
                                          <p:spTgt spid="36"/>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28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anim calcmode="lin" valueType="num">
                                      <p:cBhvr>
                                        <p:cTn id="71" dur="500" decel="100000" fill="hold"/>
                                        <p:tgtEl>
                                          <p:spTgt spid="37"/>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28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anim calcmode="lin" valueType="num">
                                      <p:cBhvr>
                                        <p:cTn id="75" dur="500" decel="100000" fill="hold"/>
                                        <p:tgtEl>
                                          <p:spTgt spid="38"/>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28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anim calcmode="lin" valueType="num">
                                      <p:cBhvr>
                                        <p:cTn id="79" dur="500" decel="100000" fill="hold"/>
                                        <p:tgtEl>
                                          <p:spTgt spid="39"/>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280"/>
                                  </p:stCondLst>
                                  <p:childTnLst>
                                    <p:set>
                                      <p:cBhvr>
                                        <p:cTn id="81" dur="1" fill="hold">
                                          <p:stCondLst>
                                            <p:cond delay="0"/>
                                          </p:stCondLst>
                                        </p:cTn>
                                        <p:tgtEl>
                                          <p:spTgt spid="40"/>
                                        </p:tgtEl>
                                        <p:attrNameLst>
                                          <p:attrName>style.visibility</p:attrName>
                                        </p:attrNameLst>
                                      </p:cBhvr>
                                      <p:to>
                                        <p:strVal val="visible"/>
                                      </p:to>
                                    </p:set>
                                    <p:animEffect transition="in" filter="fade">
                                      <p:cBhvr>
                                        <p:cTn id="82" dur="500"/>
                                        <p:tgtEl>
                                          <p:spTgt spid="40"/>
                                        </p:tgtEl>
                                      </p:cBhvr>
                                    </p:animEffect>
                                    <p:anim calcmode="lin" valueType="num">
                                      <p:cBhvr>
                                        <p:cTn id="83" dur="500" decel="100000" fill="hold"/>
                                        <p:tgtEl>
                                          <p:spTgt spid="40"/>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280"/>
                                  </p:stCondLst>
                                  <p:childTnLst>
                                    <p:set>
                                      <p:cBhvr>
                                        <p:cTn id="85" dur="1" fill="hold">
                                          <p:stCondLst>
                                            <p:cond delay="0"/>
                                          </p:stCondLst>
                                        </p:cTn>
                                        <p:tgtEl>
                                          <p:spTgt spid="41"/>
                                        </p:tgtEl>
                                        <p:attrNameLst>
                                          <p:attrName>style.visibility</p:attrName>
                                        </p:attrNameLst>
                                      </p:cBhvr>
                                      <p:to>
                                        <p:strVal val="visible"/>
                                      </p:to>
                                    </p:set>
                                    <p:animEffect transition="in" filter="fade">
                                      <p:cBhvr>
                                        <p:cTn id="86" dur="500"/>
                                        <p:tgtEl>
                                          <p:spTgt spid="41"/>
                                        </p:tgtEl>
                                      </p:cBhvr>
                                    </p:animEffect>
                                    <p:anim calcmode="lin" valueType="num">
                                      <p:cBhvr>
                                        <p:cTn id="87" dur="500" decel="100000" fill="hold"/>
                                        <p:tgtEl>
                                          <p:spTgt spid="41"/>
                                        </p:tgtEl>
                                        <p:attrNameLst>
                                          <p:attrName>ppt_y</p:attrName>
                                        </p:attrNameLst>
                                      </p:cBhvr>
                                      <p:tavLst>
                                        <p:tav tm="0">
                                          <p:val>
                                            <p:strVal val="#ppt_y+0.04"/>
                                          </p:val>
                                        </p:tav>
                                        <p:tav tm="100000">
                                          <p:val>
                                            <p:strVal val="#ppt_y"/>
                                          </p:val>
                                        </p:tav>
                                      </p:tavLst>
                                    </p:anim>
                                  </p:childTnLst>
                                </p:cTn>
                              </p:par>
                              <p:par>
                                <p:cTn id="88" presetID="42" presetClass="entr" presetSubtype="0" fill="hold" grpId="0" nodeType="withEffect">
                                  <p:stCondLst>
                                    <p:cond delay="280"/>
                                  </p:stCondLst>
                                  <p:childTnLst>
                                    <p:set>
                                      <p:cBhvr>
                                        <p:cTn id="89" dur="1" fill="hold">
                                          <p:stCondLst>
                                            <p:cond delay="0"/>
                                          </p:stCondLst>
                                        </p:cTn>
                                        <p:tgtEl>
                                          <p:spTgt spid="42"/>
                                        </p:tgtEl>
                                        <p:attrNameLst>
                                          <p:attrName>style.visibility</p:attrName>
                                        </p:attrNameLst>
                                      </p:cBhvr>
                                      <p:to>
                                        <p:strVal val="visible"/>
                                      </p:to>
                                    </p:set>
                                    <p:animEffect transition="in" filter="fade">
                                      <p:cBhvr>
                                        <p:cTn id="90" dur="500"/>
                                        <p:tgtEl>
                                          <p:spTgt spid="42"/>
                                        </p:tgtEl>
                                      </p:cBhvr>
                                    </p:animEffect>
                                    <p:anim calcmode="lin" valueType="num">
                                      <p:cBhvr>
                                        <p:cTn id="91" dur="500" decel="100000" fill="hold"/>
                                        <p:tgtEl>
                                          <p:spTgt spid="42"/>
                                        </p:tgtEl>
                                        <p:attrNameLst>
                                          <p:attrName>ppt_y</p:attrName>
                                        </p:attrNameLst>
                                      </p:cBhvr>
                                      <p:tavLst>
                                        <p:tav tm="0">
                                          <p:val>
                                            <p:strVal val="#ppt_y+0.04"/>
                                          </p:val>
                                        </p:tav>
                                        <p:tav tm="100000">
                                          <p:val>
                                            <p:strVal val="#ppt_y"/>
                                          </p:val>
                                        </p:tav>
                                      </p:tavLst>
                                    </p:anim>
                                  </p:childTnLst>
                                </p:cTn>
                              </p:par>
                              <p:par>
                                <p:cTn id="92" presetID="42" presetClass="entr" presetSubtype="0" fill="hold" grpId="0" nodeType="withEffect">
                                  <p:stCondLst>
                                    <p:cond delay="420"/>
                                  </p:stCondLst>
                                  <p:childTnLst>
                                    <p:set>
                                      <p:cBhvr>
                                        <p:cTn id="93" dur="1" fill="hold">
                                          <p:stCondLst>
                                            <p:cond delay="0"/>
                                          </p:stCondLst>
                                        </p:cTn>
                                        <p:tgtEl>
                                          <p:spTgt spid="43"/>
                                        </p:tgtEl>
                                        <p:attrNameLst>
                                          <p:attrName>style.visibility</p:attrName>
                                        </p:attrNameLst>
                                      </p:cBhvr>
                                      <p:to>
                                        <p:strVal val="visible"/>
                                      </p:to>
                                    </p:set>
                                    <p:animEffect transition="in" filter="fade">
                                      <p:cBhvr>
                                        <p:cTn id="94" dur="500"/>
                                        <p:tgtEl>
                                          <p:spTgt spid="43"/>
                                        </p:tgtEl>
                                      </p:cBhvr>
                                    </p:animEffect>
                                    <p:anim calcmode="lin" valueType="num">
                                      <p:cBhvr>
                                        <p:cTn id="95" dur="500" decel="100000" fill="hold"/>
                                        <p:tgtEl>
                                          <p:spTgt spid="43"/>
                                        </p:tgtEl>
                                        <p:attrNameLst>
                                          <p:attrName>ppt_y</p:attrName>
                                        </p:attrNameLst>
                                      </p:cBhvr>
                                      <p:tavLst>
                                        <p:tav tm="0">
                                          <p:val>
                                            <p:strVal val="#ppt_y+0.04"/>
                                          </p:val>
                                        </p:tav>
                                        <p:tav tm="100000">
                                          <p:val>
                                            <p:strVal val="#ppt_y"/>
                                          </p:val>
                                        </p:tav>
                                      </p:tavLst>
                                    </p:anim>
                                  </p:childTnLst>
                                </p:cTn>
                              </p:par>
                              <p:par>
                                <p:cTn id="96" presetID="42" presetClass="entr" presetSubtype="0" fill="hold" grpId="0" nodeType="withEffect">
                                  <p:stCondLst>
                                    <p:cond delay="420"/>
                                  </p:stCondLst>
                                  <p:childTnLst>
                                    <p:set>
                                      <p:cBhvr>
                                        <p:cTn id="97" dur="1" fill="hold">
                                          <p:stCondLst>
                                            <p:cond delay="0"/>
                                          </p:stCondLst>
                                        </p:cTn>
                                        <p:tgtEl>
                                          <p:spTgt spid="44"/>
                                        </p:tgtEl>
                                        <p:attrNameLst>
                                          <p:attrName>style.visibility</p:attrName>
                                        </p:attrNameLst>
                                      </p:cBhvr>
                                      <p:to>
                                        <p:strVal val="visible"/>
                                      </p:to>
                                    </p:set>
                                    <p:animEffect transition="in" filter="fade">
                                      <p:cBhvr>
                                        <p:cTn id="98" dur="500"/>
                                        <p:tgtEl>
                                          <p:spTgt spid="44"/>
                                        </p:tgtEl>
                                      </p:cBhvr>
                                    </p:animEffect>
                                    <p:anim calcmode="lin" valueType="num">
                                      <p:cBhvr>
                                        <p:cTn id="99" dur="500" decel="100000" fill="hold"/>
                                        <p:tgtEl>
                                          <p:spTgt spid="44"/>
                                        </p:tgtEl>
                                        <p:attrNameLst>
                                          <p:attrName>ppt_y</p:attrName>
                                        </p:attrNameLst>
                                      </p:cBhvr>
                                      <p:tavLst>
                                        <p:tav tm="0">
                                          <p:val>
                                            <p:strVal val="#ppt_y+0.04"/>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45"/>
                                        </p:tgtEl>
                                        <p:attrNameLst>
                                          <p:attrName>style.visibility</p:attrName>
                                        </p:attrNameLst>
                                      </p:cBhvr>
                                      <p:to>
                                        <p:strVal val="visible"/>
                                      </p:to>
                                    </p:set>
                                    <p:animEffect transition="in" filter="fade">
                                      <p:cBhvr>
                                        <p:cTn id="102" dur="500"/>
                                        <p:tgtEl>
                                          <p:spTgt spid="45"/>
                                        </p:tgtEl>
                                      </p:cBhvr>
                                    </p:animEffect>
                                    <p:anim calcmode="lin" valueType="num">
                                      <p:cBhvr>
                                        <p:cTn id="103" dur="500" decel="100000" fill="hold"/>
                                        <p:tgtEl>
                                          <p:spTgt spid="45"/>
                                        </p:tgtEl>
                                        <p:attrNameLst>
                                          <p:attrName>ppt_y</p:attrName>
                                        </p:attrNameLst>
                                      </p:cBhvr>
                                      <p:tavLst>
                                        <p:tav tm="0">
                                          <p:val>
                                            <p:strVal val="#ppt_y+0.04"/>
                                          </p:val>
                                        </p:tav>
                                        <p:tav tm="100000">
                                          <p:val>
                                            <p:strVal val="#ppt_y"/>
                                          </p:val>
                                        </p:tav>
                                      </p:tavLst>
                                    </p:anim>
                                  </p:childTnLst>
                                </p:cTn>
                              </p:par>
                              <p:par>
                                <p:cTn id="104" presetID="42" presetClass="entr" presetSubtype="0" fill="hold" grpId="0" nodeType="withEffect">
                                  <p:stCondLst>
                                    <p:cond delay="420"/>
                                  </p:stCondLst>
                                  <p:childTnLst>
                                    <p:set>
                                      <p:cBhvr>
                                        <p:cTn id="105" dur="1" fill="hold">
                                          <p:stCondLst>
                                            <p:cond delay="0"/>
                                          </p:stCondLst>
                                        </p:cTn>
                                        <p:tgtEl>
                                          <p:spTgt spid="46"/>
                                        </p:tgtEl>
                                        <p:attrNameLst>
                                          <p:attrName>style.visibility</p:attrName>
                                        </p:attrNameLst>
                                      </p:cBhvr>
                                      <p:to>
                                        <p:strVal val="visible"/>
                                      </p:to>
                                    </p:set>
                                    <p:animEffect transition="in" filter="fade">
                                      <p:cBhvr>
                                        <p:cTn id="106" dur="500"/>
                                        <p:tgtEl>
                                          <p:spTgt spid="46"/>
                                        </p:tgtEl>
                                      </p:cBhvr>
                                    </p:animEffect>
                                    <p:anim calcmode="lin" valueType="num">
                                      <p:cBhvr>
                                        <p:cTn id="107" dur="500" decel="100000" fill="hold"/>
                                        <p:tgtEl>
                                          <p:spTgt spid="46"/>
                                        </p:tgtEl>
                                        <p:attrNameLst>
                                          <p:attrName>ppt_y</p:attrName>
                                        </p:attrNameLst>
                                      </p:cBhvr>
                                      <p:tavLst>
                                        <p:tav tm="0">
                                          <p:val>
                                            <p:strVal val="#ppt_y+0.04"/>
                                          </p:val>
                                        </p:tav>
                                        <p:tav tm="100000">
                                          <p:val>
                                            <p:strVal val="#ppt_y"/>
                                          </p:val>
                                        </p:tav>
                                      </p:tavLst>
                                    </p:anim>
                                  </p:childTnLst>
                                </p:cTn>
                              </p:par>
                              <p:par>
                                <p:cTn id="108" presetID="42" presetClass="entr" presetSubtype="0" fill="hold" grpId="0" nodeType="withEffect">
                                  <p:stCondLst>
                                    <p:cond delay="420"/>
                                  </p:stCondLst>
                                  <p:childTnLst>
                                    <p:set>
                                      <p:cBhvr>
                                        <p:cTn id="109" dur="1" fill="hold">
                                          <p:stCondLst>
                                            <p:cond delay="0"/>
                                          </p:stCondLst>
                                        </p:cTn>
                                        <p:tgtEl>
                                          <p:spTgt spid="47"/>
                                        </p:tgtEl>
                                        <p:attrNameLst>
                                          <p:attrName>style.visibility</p:attrName>
                                        </p:attrNameLst>
                                      </p:cBhvr>
                                      <p:to>
                                        <p:strVal val="visible"/>
                                      </p:to>
                                    </p:set>
                                    <p:animEffect transition="in" filter="fade">
                                      <p:cBhvr>
                                        <p:cTn id="110" dur="500"/>
                                        <p:tgtEl>
                                          <p:spTgt spid="47"/>
                                        </p:tgtEl>
                                      </p:cBhvr>
                                    </p:animEffect>
                                    <p:anim calcmode="lin" valueType="num">
                                      <p:cBhvr>
                                        <p:cTn id="111" dur="500" decel="100000" fill="hold"/>
                                        <p:tgtEl>
                                          <p:spTgt spid="47"/>
                                        </p:tgtEl>
                                        <p:attrNameLst>
                                          <p:attrName>ppt_y</p:attrName>
                                        </p:attrNameLst>
                                      </p:cBhvr>
                                      <p:tavLst>
                                        <p:tav tm="0">
                                          <p:val>
                                            <p:strVal val="#ppt_y+0.04"/>
                                          </p:val>
                                        </p:tav>
                                        <p:tav tm="100000">
                                          <p:val>
                                            <p:strVal val="#ppt_y"/>
                                          </p:val>
                                        </p:tav>
                                      </p:tavLst>
                                    </p:anim>
                                  </p:childTnLst>
                                </p:cTn>
                              </p:par>
                              <p:par>
                                <p:cTn id="112" presetID="42" presetClass="entr" presetSubtype="0" fill="hold" grpId="0" nodeType="withEffect">
                                  <p:stCondLst>
                                    <p:cond delay="420"/>
                                  </p:stCondLst>
                                  <p:childTnLst>
                                    <p:set>
                                      <p:cBhvr>
                                        <p:cTn id="113" dur="1" fill="hold">
                                          <p:stCondLst>
                                            <p:cond delay="0"/>
                                          </p:stCondLst>
                                        </p:cTn>
                                        <p:tgtEl>
                                          <p:spTgt spid="48"/>
                                        </p:tgtEl>
                                        <p:attrNameLst>
                                          <p:attrName>style.visibility</p:attrName>
                                        </p:attrNameLst>
                                      </p:cBhvr>
                                      <p:to>
                                        <p:strVal val="visible"/>
                                      </p:to>
                                    </p:set>
                                    <p:animEffect transition="in" filter="fade">
                                      <p:cBhvr>
                                        <p:cTn id="114" dur="500"/>
                                        <p:tgtEl>
                                          <p:spTgt spid="48"/>
                                        </p:tgtEl>
                                      </p:cBhvr>
                                    </p:animEffect>
                                    <p:anim calcmode="lin" valueType="num">
                                      <p:cBhvr>
                                        <p:cTn id="115" dur="500" decel="100000" fill="hold"/>
                                        <p:tgtEl>
                                          <p:spTgt spid="48"/>
                                        </p:tgtEl>
                                        <p:attrNameLst>
                                          <p:attrName>ppt_y</p:attrName>
                                        </p:attrNameLst>
                                      </p:cBhvr>
                                      <p:tavLst>
                                        <p:tav tm="0">
                                          <p:val>
                                            <p:strVal val="#ppt_y+0.04"/>
                                          </p:val>
                                        </p:tav>
                                        <p:tav tm="100000">
                                          <p:val>
                                            <p:strVal val="#ppt_y"/>
                                          </p:val>
                                        </p:tav>
                                      </p:tavLst>
                                    </p:anim>
                                  </p:childTnLst>
                                </p:cTn>
                              </p:par>
                              <p:par>
                                <p:cTn id="116" presetID="42" presetClass="entr" presetSubtype="0" fill="hold" grpId="0" nodeType="withEffect">
                                  <p:stCondLst>
                                    <p:cond delay="42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500"/>
                                        <p:tgtEl>
                                          <p:spTgt spid="49"/>
                                        </p:tgtEl>
                                      </p:cBhvr>
                                    </p:animEffect>
                                    <p:anim calcmode="lin" valueType="num">
                                      <p:cBhvr>
                                        <p:cTn id="119" dur="500" decel="100000" fill="hold"/>
                                        <p:tgtEl>
                                          <p:spTgt spid="49"/>
                                        </p:tgtEl>
                                        <p:attrNameLst>
                                          <p:attrName>ppt_y</p:attrName>
                                        </p:attrNameLst>
                                      </p:cBhvr>
                                      <p:tavLst>
                                        <p:tav tm="0">
                                          <p:val>
                                            <p:strVal val="#ppt_y+0.04"/>
                                          </p:val>
                                        </p:tav>
                                        <p:tav tm="100000">
                                          <p:val>
                                            <p:strVal val="#ppt_y"/>
                                          </p:val>
                                        </p:tav>
                                      </p:tavLst>
                                    </p:anim>
                                  </p:childTnLst>
                                </p:cTn>
                              </p:par>
                              <p:par>
                                <p:cTn id="120" presetID="42" presetClass="entr" presetSubtype="0" fill="hold" grpId="0" nodeType="withEffect">
                                  <p:stCondLst>
                                    <p:cond delay="560"/>
                                  </p:stCondLst>
                                  <p:childTnLst>
                                    <p:set>
                                      <p:cBhvr>
                                        <p:cTn id="121" dur="1" fill="hold">
                                          <p:stCondLst>
                                            <p:cond delay="0"/>
                                          </p:stCondLst>
                                        </p:cTn>
                                        <p:tgtEl>
                                          <p:spTgt spid="50"/>
                                        </p:tgtEl>
                                        <p:attrNameLst>
                                          <p:attrName>style.visibility</p:attrName>
                                        </p:attrNameLst>
                                      </p:cBhvr>
                                      <p:to>
                                        <p:strVal val="visible"/>
                                      </p:to>
                                    </p:set>
                                    <p:animEffect transition="in" filter="fade">
                                      <p:cBhvr>
                                        <p:cTn id="122" dur="500"/>
                                        <p:tgtEl>
                                          <p:spTgt spid="50"/>
                                        </p:tgtEl>
                                      </p:cBhvr>
                                    </p:animEffect>
                                    <p:anim calcmode="lin" valueType="num">
                                      <p:cBhvr>
                                        <p:cTn id="123" dur="500" decel="100000" fill="hold"/>
                                        <p:tgtEl>
                                          <p:spTgt spid="50"/>
                                        </p:tgtEl>
                                        <p:attrNameLst>
                                          <p:attrName>ppt_y</p:attrName>
                                        </p:attrNameLst>
                                      </p:cBhvr>
                                      <p:tavLst>
                                        <p:tav tm="0">
                                          <p:val>
                                            <p:strVal val="#ppt_y+0.04"/>
                                          </p:val>
                                        </p:tav>
                                        <p:tav tm="100000">
                                          <p:val>
                                            <p:strVal val="#ppt_y"/>
                                          </p:val>
                                        </p:tav>
                                      </p:tavLst>
                                    </p:anim>
                                  </p:childTnLst>
                                </p:cTn>
                              </p:par>
                              <p:par>
                                <p:cTn id="124" presetID="42" presetClass="entr" presetSubtype="0" fill="hold" grpId="0" nodeType="withEffect">
                                  <p:stCondLst>
                                    <p:cond delay="700"/>
                                  </p:stCondLst>
                                  <p:childTnLst>
                                    <p:set>
                                      <p:cBhvr>
                                        <p:cTn id="125" dur="1" fill="hold">
                                          <p:stCondLst>
                                            <p:cond delay="0"/>
                                          </p:stCondLst>
                                        </p:cTn>
                                        <p:tgtEl>
                                          <p:spTgt spid="51"/>
                                        </p:tgtEl>
                                        <p:attrNameLst>
                                          <p:attrName>style.visibility</p:attrName>
                                        </p:attrNameLst>
                                      </p:cBhvr>
                                      <p:to>
                                        <p:strVal val="visible"/>
                                      </p:to>
                                    </p:set>
                                    <p:animEffect transition="in" filter="fade">
                                      <p:cBhvr>
                                        <p:cTn id="126" dur="500"/>
                                        <p:tgtEl>
                                          <p:spTgt spid="51"/>
                                        </p:tgtEl>
                                      </p:cBhvr>
                                    </p:animEffect>
                                    <p:anim calcmode="lin" valueType="num">
                                      <p:cBhvr>
                                        <p:cTn id="127" dur="500" decel="100000" fill="hold"/>
                                        <p:tgtEl>
                                          <p:spTgt spid="51"/>
                                        </p:tgtEl>
                                        <p:attrNameLst>
                                          <p:attrName>ppt_y</p:attrName>
                                        </p:attrNameLst>
                                      </p:cBhvr>
                                      <p:tavLst>
                                        <p:tav tm="0">
                                          <p:val>
                                            <p:strVal val="#ppt_y+0.04"/>
                                          </p:val>
                                        </p:tav>
                                        <p:tav tm="100000">
                                          <p:val>
                                            <p:strVal val="#ppt_y"/>
                                          </p:val>
                                        </p:tav>
                                      </p:tavLst>
                                    </p:anim>
                                  </p:childTnLst>
                                </p:cTn>
                              </p:par>
                              <p:par>
                                <p:cTn id="128" presetID="42" presetClass="entr" presetSubtype="0" fill="hold" grpId="0" nodeType="withEffect">
                                  <p:stCondLst>
                                    <p:cond delay="70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500"/>
                                        <p:tgtEl>
                                          <p:spTgt spid="52"/>
                                        </p:tgtEl>
                                      </p:cBhvr>
                                    </p:animEffect>
                                    <p:anim calcmode="lin" valueType="num">
                                      <p:cBhvr>
                                        <p:cTn id="131" dur="500" decel="100000" fill="hold"/>
                                        <p:tgtEl>
                                          <p:spTgt spid="52"/>
                                        </p:tgtEl>
                                        <p:attrNameLst>
                                          <p:attrName>ppt_y</p:attrName>
                                        </p:attrNameLst>
                                      </p:cBhvr>
                                      <p:tavLst>
                                        <p:tav tm="0">
                                          <p:val>
                                            <p:strVal val="#ppt_y+0.04"/>
                                          </p:val>
                                        </p:tav>
                                        <p:tav tm="100000">
                                          <p:val>
                                            <p:strVal val="#ppt_y"/>
                                          </p:val>
                                        </p:tav>
                                      </p:tavLst>
                                    </p:anim>
                                  </p:childTnLst>
                                </p:cTn>
                              </p:par>
                              <p:par>
                                <p:cTn id="132" presetID="42" presetClass="entr" presetSubtype="0" fill="hold" grpId="0" nodeType="withEffect">
                                  <p:stCondLst>
                                    <p:cond delay="700"/>
                                  </p:stCondLst>
                                  <p:childTnLst>
                                    <p:set>
                                      <p:cBhvr>
                                        <p:cTn id="133" dur="1" fill="hold">
                                          <p:stCondLst>
                                            <p:cond delay="0"/>
                                          </p:stCondLst>
                                        </p:cTn>
                                        <p:tgtEl>
                                          <p:spTgt spid="53"/>
                                        </p:tgtEl>
                                        <p:attrNameLst>
                                          <p:attrName>style.visibility</p:attrName>
                                        </p:attrNameLst>
                                      </p:cBhvr>
                                      <p:to>
                                        <p:strVal val="visible"/>
                                      </p:to>
                                    </p:set>
                                    <p:animEffect transition="in" filter="fade">
                                      <p:cBhvr>
                                        <p:cTn id="134" dur="500"/>
                                        <p:tgtEl>
                                          <p:spTgt spid="53"/>
                                        </p:tgtEl>
                                      </p:cBhvr>
                                    </p:animEffect>
                                    <p:anim calcmode="lin" valueType="num">
                                      <p:cBhvr>
                                        <p:cTn id="135" dur="500" decel="100000" fill="hold"/>
                                        <p:tgtEl>
                                          <p:spTgt spid="53"/>
                                        </p:tgtEl>
                                        <p:attrNameLst>
                                          <p:attrName>ppt_y</p:attrName>
                                        </p:attrNameLst>
                                      </p:cBhvr>
                                      <p:tavLst>
                                        <p:tav tm="0">
                                          <p:val>
                                            <p:strVal val="#ppt_y+0.04"/>
                                          </p:val>
                                        </p:tav>
                                        <p:tav tm="100000">
                                          <p:val>
                                            <p:strVal val="#ppt_y"/>
                                          </p:val>
                                        </p:tav>
                                      </p:tavLst>
                                    </p:anim>
                                  </p:childTnLst>
                                </p:cTn>
                              </p:par>
                              <p:par>
                                <p:cTn id="136" presetID="42" presetClass="entr" presetSubtype="0" fill="hold" grpId="0" nodeType="withEffect">
                                  <p:stCondLst>
                                    <p:cond delay="840"/>
                                  </p:stCondLst>
                                  <p:childTnLst>
                                    <p:set>
                                      <p:cBhvr>
                                        <p:cTn id="137" dur="1" fill="hold">
                                          <p:stCondLst>
                                            <p:cond delay="0"/>
                                          </p:stCondLst>
                                        </p:cTn>
                                        <p:tgtEl>
                                          <p:spTgt spid="54"/>
                                        </p:tgtEl>
                                        <p:attrNameLst>
                                          <p:attrName>style.visibility</p:attrName>
                                        </p:attrNameLst>
                                      </p:cBhvr>
                                      <p:to>
                                        <p:strVal val="visible"/>
                                      </p:to>
                                    </p:set>
                                    <p:animEffect transition="in" filter="fade">
                                      <p:cBhvr>
                                        <p:cTn id="138" dur="500"/>
                                        <p:tgtEl>
                                          <p:spTgt spid="54"/>
                                        </p:tgtEl>
                                      </p:cBhvr>
                                    </p:animEffect>
                                    <p:anim calcmode="lin" valueType="num">
                                      <p:cBhvr>
                                        <p:cTn id="139" dur="500" decel="100000" fill="hold"/>
                                        <p:tgtEl>
                                          <p:spTgt spid="54"/>
                                        </p:tgtEl>
                                        <p:attrNameLst>
                                          <p:attrName>ppt_y</p:attrName>
                                        </p:attrNameLst>
                                      </p:cBhvr>
                                      <p:tavLst>
                                        <p:tav tm="0">
                                          <p:val>
                                            <p:strVal val="#ppt_y+0.04"/>
                                          </p:val>
                                        </p:tav>
                                        <p:tav tm="100000">
                                          <p:val>
                                            <p:strVal val="#ppt_y"/>
                                          </p:val>
                                        </p:tav>
                                      </p:tavLst>
                                    </p:anim>
                                  </p:childTnLst>
                                </p:cTn>
                              </p:par>
                              <p:par>
                                <p:cTn id="140" presetID="42" presetClass="entr" presetSubtype="0" fill="hold" grpId="0" nodeType="withEffect">
                                  <p:stCondLst>
                                    <p:cond delay="84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500"/>
                                        <p:tgtEl>
                                          <p:spTgt spid="55"/>
                                        </p:tgtEl>
                                      </p:cBhvr>
                                    </p:animEffect>
                                    <p:anim calcmode="lin" valueType="num">
                                      <p:cBhvr>
                                        <p:cTn id="143" dur="500" decel="100000" fill="hold"/>
                                        <p:tgtEl>
                                          <p:spTgt spid="55"/>
                                        </p:tgtEl>
                                        <p:attrNameLst>
                                          <p:attrName>ppt_y</p:attrName>
                                        </p:attrNameLst>
                                      </p:cBhvr>
                                      <p:tavLst>
                                        <p:tav tm="0">
                                          <p:val>
                                            <p:strVal val="#ppt_y+0.04"/>
                                          </p:val>
                                        </p:tav>
                                        <p:tav tm="100000">
                                          <p:val>
                                            <p:strVal val="#ppt_y"/>
                                          </p:val>
                                        </p:tav>
                                      </p:tavLst>
                                    </p:anim>
                                  </p:childTnLst>
                                </p:cTn>
                              </p:par>
                              <p:par>
                                <p:cTn id="144" presetID="42" presetClass="entr" presetSubtype="0" fill="hold" grpId="0" nodeType="withEffect">
                                  <p:stCondLst>
                                    <p:cond delay="84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500"/>
                                        <p:tgtEl>
                                          <p:spTgt spid="56"/>
                                        </p:tgtEl>
                                      </p:cBhvr>
                                    </p:animEffect>
                                    <p:anim calcmode="lin" valueType="num">
                                      <p:cBhvr>
                                        <p:cTn id="147" dur="500" decel="100000" fill="hold"/>
                                        <p:tgtEl>
                                          <p:spTgt spid="56"/>
                                        </p:tgtEl>
                                        <p:attrNameLst>
                                          <p:attrName>ppt_y</p:attrName>
                                        </p:attrNameLst>
                                      </p:cBhvr>
                                      <p:tavLst>
                                        <p:tav tm="0">
                                          <p:val>
                                            <p:strVal val="#ppt_y+0.04"/>
                                          </p:val>
                                        </p:tav>
                                        <p:tav tm="100000">
                                          <p:val>
                                            <p:strVal val="#ppt_y"/>
                                          </p:val>
                                        </p:tav>
                                      </p:tavLst>
                                    </p:anim>
                                  </p:childTnLst>
                                </p:cTn>
                              </p:par>
                              <p:par>
                                <p:cTn id="148" presetID="42" presetClass="entr" presetSubtype="0" fill="hold" grpId="0" nodeType="withEffect">
                                  <p:stCondLst>
                                    <p:cond delay="980"/>
                                  </p:stCondLst>
                                  <p:childTnLst>
                                    <p:set>
                                      <p:cBhvr>
                                        <p:cTn id="149" dur="1" fill="hold">
                                          <p:stCondLst>
                                            <p:cond delay="0"/>
                                          </p:stCondLst>
                                        </p:cTn>
                                        <p:tgtEl>
                                          <p:spTgt spid="57"/>
                                        </p:tgtEl>
                                        <p:attrNameLst>
                                          <p:attrName>style.visibility</p:attrName>
                                        </p:attrNameLst>
                                      </p:cBhvr>
                                      <p:to>
                                        <p:strVal val="visible"/>
                                      </p:to>
                                    </p:set>
                                    <p:animEffect transition="in" filter="fade">
                                      <p:cBhvr>
                                        <p:cTn id="150" dur="500"/>
                                        <p:tgtEl>
                                          <p:spTgt spid="57"/>
                                        </p:tgtEl>
                                      </p:cBhvr>
                                    </p:animEffect>
                                    <p:anim calcmode="lin" valueType="num">
                                      <p:cBhvr>
                                        <p:cTn id="151" dur="500" decel="100000" fill="hold"/>
                                        <p:tgtEl>
                                          <p:spTgt spid="57"/>
                                        </p:tgtEl>
                                        <p:attrNameLst>
                                          <p:attrName>ppt_y</p:attrName>
                                        </p:attrNameLst>
                                      </p:cBhvr>
                                      <p:tavLst>
                                        <p:tav tm="0">
                                          <p:val>
                                            <p:strVal val="#ppt_y+0.04"/>
                                          </p:val>
                                        </p:tav>
                                        <p:tav tm="100000">
                                          <p:val>
                                            <p:strVal val="#ppt_y"/>
                                          </p:val>
                                        </p:tav>
                                      </p:tavLst>
                                    </p:anim>
                                  </p:childTnLst>
                                </p:cTn>
                              </p:par>
                              <p:par>
                                <p:cTn id="152" presetID="42" presetClass="entr" presetSubtype="0" fill="hold" grpId="0" nodeType="withEffect">
                                  <p:stCondLst>
                                    <p:cond delay="980"/>
                                  </p:stCondLst>
                                  <p:childTnLst>
                                    <p:set>
                                      <p:cBhvr>
                                        <p:cTn id="153" dur="1" fill="hold">
                                          <p:stCondLst>
                                            <p:cond delay="0"/>
                                          </p:stCondLst>
                                        </p:cTn>
                                        <p:tgtEl>
                                          <p:spTgt spid="58"/>
                                        </p:tgtEl>
                                        <p:attrNameLst>
                                          <p:attrName>style.visibility</p:attrName>
                                        </p:attrNameLst>
                                      </p:cBhvr>
                                      <p:to>
                                        <p:strVal val="visible"/>
                                      </p:to>
                                    </p:set>
                                    <p:animEffect transition="in" filter="fade">
                                      <p:cBhvr>
                                        <p:cTn id="154" dur="500"/>
                                        <p:tgtEl>
                                          <p:spTgt spid="58"/>
                                        </p:tgtEl>
                                      </p:cBhvr>
                                    </p:animEffect>
                                    <p:anim calcmode="lin" valueType="num">
                                      <p:cBhvr>
                                        <p:cTn id="155" dur="500" decel="100000" fill="hold"/>
                                        <p:tgtEl>
                                          <p:spTgt spid="58"/>
                                        </p:tgtEl>
                                        <p:attrNameLst>
                                          <p:attrName>ppt_y</p:attrName>
                                        </p:attrNameLst>
                                      </p:cBhvr>
                                      <p:tavLst>
                                        <p:tav tm="0">
                                          <p:val>
                                            <p:strVal val="#ppt_y+0.04"/>
                                          </p:val>
                                        </p:tav>
                                        <p:tav tm="100000">
                                          <p:val>
                                            <p:strVal val="#ppt_y"/>
                                          </p:val>
                                        </p:tav>
                                      </p:tavLst>
                                    </p:anim>
                                  </p:childTnLst>
                                </p:cTn>
                              </p:par>
                              <p:par>
                                <p:cTn id="156" presetID="42" presetClass="entr" presetSubtype="0" fill="hold" grpId="0" nodeType="withEffect">
                                  <p:stCondLst>
                                    <p:cond delay="980"/>
                                  </p:stCondLst>
                                  <p:childTnLst>
                                    <p:set>
                                      <p:cBhvr>
                                        <p:cTn id="157" dur="1" fill="hold">
                                          <p:stCondLst>
                                            <p:cond delay="0"/>
                                          </p:stCondLst>
                                        </p:cTn>
                                        <p:tgtEl>
                                          <p:spTgt spid="59"/>
                                        </p:tgtEl>
                                        <p:attrNameLst>
                                          <p:attrName>style.visibility</p:attrName>
                                        </p:attrNameLst>
                                      </p:cBhvr>
                                      <p:to>
                                        <p:strVal val="visible"/>
                                      </p:to>
                                    </p:set>
                                    <p:animEffect transition="in" filter="fade">
                                      <p:cBhvr>
                                        <p:cTn id="158" dur="500"/>
                                        <p:tgtEl>
                                          <p:spTgt spid="59"/>
                                        </p:tgtEl>
                                      </p:cBhvr>
                                    </p:animEffect>
                                    <p:anim calcmode="lin" valueType="num">
                                      <p:cBhvr>
                                        <p:cTn id="159" dur="500" decel="100000" fill="hold"/>
                                        <p:tgtEl>
                                          <p:spTgt spid="59"/>
                                        </p:tgtEl>
                                        <p:attrNameLst>
                                          <p:attrName>ppt_y</p:attrName>
                                        </p:attrNameLst>
                                      </p:cBhvr>
                                      <p:tavLst>
                                        <p:tav tm="0">
                                          <p:val>
                                            <p:strVal val="#ppt_y+0.04"/>
                                          </p:val>
                                        </p:tav>
                                        <p:tav tm="100000">
                                          <p:val>
                                            <p:strVal val="#ppt_y"/>
                                          </p:val>
                                        </p:tav>
                                      </p:tavLst>
                                    </p:anim>
                                  </p:childTnLst>
                                </p:cTn>
                              </p:par>
                              <p:par>
                                <p:cTn id="160" presetID="42" presetClass="entr" presetSubtype="0" fill="hold" grpId="0" nodeType="withEffect">
                                  <p:stCondLst>
                                    <p:cond delay="1120"/>
                                  </p:stCondLst>
                                  <p:childTnLst>
                                    <p:set>
                                      <p:cBhvr>
                                        <p:cTn id="161" dur="1" fill="hold">
                                          <p:stCondLst>
                                            <p:cond delay="0"/>
                                          </p:stCondLst>
                                        </p:cTn>
                                        <p:tgtEl>
                                          <p:spTgt spid="60"/>
                                        </p:tgtEl>
                                        <p:attrNameLst>
                                          <p:attrName>style.visibility</p:attrName>
                                        </p:attrNameLst>
                                      </p:cBhvr>
                                      <p:to>
                                        <p:strVal val="visible"/>
                                      </p:to>
                                    </p:set>
                                    <p:animEffect transition="in" filter="fade">
                                      <p:cBhvr>
                                        <p:cTn id="162" dur="500"/>
                                        <p:tgtEl>
                                          <p:spTgt spid="60"/>
                                        </p:tgtEl>
                                      </p:cBhvr>
                                    </p:animEffect>
                                    <p:anim calcmode="lin" valueType="num">
                                      <p:cBhvr>
                                        <p:cTn id="163" dur="500" decel="100000" fill="hold"/>
                                        <p:tgtEl>
                                          <p:spTgt spid="60"/>
                                        </p:tgtEl>
                                        <p:attrNameLst>
                                          <p:attrName>ppt_y</p:attrName>
                                        </p:attrNameLst>
                                      </p:cBhvr>
                                      <p:tavLst>
                                        <p:tav tm="0">
                                          <p:val>
                                            <p:strVal val="#ppt_y+0.04"/>
                                          </p:val>
                                        </p:tav>
                                        <p:tav tm="100000">
                                          <p:val>
                                            <p:strVal val="#ppt_y"/>
                                          </p:val>
                                        </p:tav>
                                      </p:tavLst>
                                    </p:anim>
                                  </p:childTnLst>
                                </p:cTn>
                              </p:par>
                              <p:par>
                                <p:cTn id="164" presetID="42" presetClass="entr" presetSubtype="0" fill="hold" grpId="0" nodeType="withEffect">
                                  <p:stCondLst>
                                    <p:cond delay="1120"/>
                                  </p:stCondLst>
                                  <p:childTnLst>
                                    <p:set>
                                      <p:cBhvr>
                                        <p:cTn id="165" dur="1" fill="hold">
                                          <p:stCondLst>
                                            <p:cond delay="0"/>
                                          </p:stCondLst>
                                        </p:cTn>
                                        <p:tgtEl>
                                          <p:spTgt spid="61"/>
                                        </p:tgtEl>
                                        <p:attrNameLst>
                                          <p:attrName>style.visibility</p:attrName>
                                        </p:attrNameLst>
                                      </p:cBhvr>
                                      <p:to>
                                        <p:strVal val="visible"/>
                                      </p:to>
                                    </p:set>
                                    <p:animEffect transition="in" filter="fade">
                                      <p:cBhvr>
                                        <p:cTn id="166" dur="500"/>
                                        <p:tgtEl>
                                          <p:spTgt spid="61"/>
                                        </p:tgtEl>
                                      </p:cBhvr>
                                    </p:animEffect>
                                    <p:anim calcmode="lin" valueType="num">
                                      <p:cBhvr>
                                        <p:cTn id="167" dur="500" decel="100000" fill="hold"/>
                                        <p:tgtEl>
                                          <p:spTgt spid="61"/>
                                        </p:tgtEl>
                                        <p:attrNameLst>
                                          <p:attrName>ppt_y</p:attrName>
                                        </p:attrNameLst>
                                      </p:cBhvr>
                                      <p:tavLst>
                                        <p:tav tm="0">
                                          <p:val>
                                            <p:strVal val="#ppt_y+0.04"/>
                                          </p:val>
                                        </p:tav>
                                        <p:tav tm="100000">
                                          <p:val>
                                            <p:strVal val="#ppt_y"/>
                                          </p:val>
                                        </p:tav>
                                      </p:tavLst>
                                    </p:anim>
                                  </p:childTnLst>
                                </p:cTn>
                              </p:par>
                              <p:par>
                                <p:cTn id="168" presetID="42" presetClass="entr" presetSubtype="0" fill="hold" grpId="0" nodeType="withEffect">
                                  <p:stCondLst>
                                    <p:cond delay="1120"/>
                                  </p:stCondLst>
                                  <p:childTnLst>
                                    <p:set>
                                      <p:cBhvr>
                                        <p:cTn id="169" dur="1" fill="hold">
                                          <p:stCondLst>
                                            <p:cond delay="0"/>
                                          </p:stCondLst>
                                        </p:cTn>
                                        <p:tgtEl>
                                          <p:spTgt spid="62"/>
                                        </p:tgtEl>
                                        <p:attrNameLst>
                                          <p:attrName>style.visibility</p:attrName>
                                        </p:attrNameLst>
                                      </p:cBhvr>
                                      <p:to>
                                        <p:strVal val="visible"/>
                                      </p:to>
                                    </p:set>
                                    <p:animEffect transition="in" filter="fade">
                                      <p:cBhvr>
                                        <p:cTn id="170" dur="500"/>
                                        <p:tgtEl>
                                          <p:spTgt spid="62"/>
                                        </p:tgtEl>
                                      </p:cBhvr>
                                    </p:animEffect>
                                    <p:anim calcmode="lin" valueType="num">
                                      <p:cBhvr>
                                        <p:cTn id="171" dur="500" decel="100000" fill="hold"/>
                                        <p:tgtEl>
                                          <p:spTgt spid="6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04  ·  DATASET</a:t>
            </a:r>
            <a:endParaRPr lang="en-US" sz="1200" dirty="0"/>
          </a:p>
        </p:txBody>
      </p:sp>
      <p:sp>
        <p:nvSpPr>
          <p:cNvPr id="3" name="!!title"/>
          <p:cNvSpPr txBox="1"/>
          <p:nvPr/>
        </p:nvSpPr>
        <p:spPr>
          <a:xfrm>
            <a:off x="548640" y="804672"/>
            <a:ext cx="1042416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Two official brochures, one 50-question benchmark</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04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365760" cy="91440"/>
          </a:xfrm>
          <a:prstGeom prst="roundRect">
            <a:avLst>
              <a:gd name="adj" fmla="val 50000"/>
            </a:avLst>
          </a:prstGeom>
          <a:solidFill>
            <a:srgbClr val="C97700"/>
          </a:solidFill>
          <a:ln/>
        </p:spPr>
      </p:sp>
      <p:sp>
        <p:nvSpPr>
          <p:cNvPr id="10" name="!!dot5"/>
          <p:cNvSpPr/>
          <p:nvPr/>
        </p:nvSpPr>
        <p:spPr>
          <a:xfrm>
            <a:off x="10652760" y="6451092"/>
            <a:ext cx="91440" cy="91440"/>
          </a:xfrm>
          <a:prstGeom prst="roundRect">
            <a:avLst>
              <a:gd name="adj" fmla="val 50000"/>
            </a:avLst>
          </a:prstGeom>
          <a:solidFill>
            <a:srgbClr val="D9DCE8"/>
          </a:solidFill>
          <a:ln/>
        </p:spPr>
      </p:sp>
      <p:sp>
        <p:nvSpPr>
          <p:cNvPr id="11" name="!!dot6"/>
          <p:cNvSpPr/>
          <p:nvPr/>
        </p:nvSpPr>
        <p:spPr>
          <a:xfrm>
            <a:off x="10835640" y="6451092"/>
            <a:ext cx="91440" cy="91440"/>
          </a:xfrm>
          <a:prstGeom prst="roundRect">
            <a:avLst>
              <a:gd name="adj" fmla="val 50000"/>
            </a:avLst>
          </a:prstGeom>
          <a:solidFill>
            <a:srgbClr val="D9DCE8"/>
          </a:solidFill>
          <a:ln/>
        </p:spPr>
      </p:sp>
      <p:sp>
        <p:nvSpPr>
          <p:cNvPr id="12" name="!!dot7"/>
          <p:cNvSpPr/>
          <p:nvPr/>
        </p:nvSpPr>
        <p:spPr>
          <a:xfrm>
            <a:off x="11018520" y="6451092"/>
            <a:ext cx="91440" cy="91440"/>
          </a:xfrm>
          <a:prstGeom prst="roundRect">
            <a:avLst>
              <a:gd name="adj" fmla="val 50000"/>
            </a:avLst>
          </a:prstGeom>
          <a:solidFill>
            <a:srgbClr val="D9DCE8"/>
          </a:solidFill>
          <a:ln/>
        </p:spPr>
      </p:sp>
      <p:sp>
        <p:nvSpPr>
          <p:cNvPr id="13" name="!!dot8"/>
          <p:cNvSpPr/>
          <p:nvPr/>
        </p:nvSpPr>
        <p:spPr>
          <a:xfrm>
            <a:off x="11201400" y="6451092"/>
            <a:ext cx="91440" cy="91440"/>
          </a:xfrm>
          <a:prstGeom prst="roundRect">
            <a:avLst>
              <a:gd name="adj" fmla="val 50000"/>
            </a:avLst>
          </a:prstGeom>
          <a:solidFill>
            <a:srgbClr val="D9DCE8"/>
          </a:solidFill>
          <a:ln/>
        </p:spPr>
      </p:sp>
      <p:sp>
        <p:nvSpPr>
          <p:cNvPr id="14" name="!!dot9"/>
          <p:cNvSpPr/>
          <p:nvPr/>
        </p:nvSpPr>
        <p:spPr>
          <a:xfrm>
            <a:off x="11384280" y="6451092"/>
            <a:ext cx="91440" cy="91440"/>
          </a:xfrm>
          <a:prstGeom prst="roundRect">
            <a:avLst>
              <a:gd name="adj" fmla="val 50000"/>
            </a:avLst>
          </a:prstGeom>
          <a:solidFill>
            <a:srgbClr val="D9DCE8"/>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doc0"/>
          <p:cNvSpPr/>
          <p:nvPr/>
        </p:nvSpPr>
        <p:spPr>
          <a:xfrm>
            <a:off x="548640" y="1874520"/>
            <a:ext cx="5029200" cy="1024128"/>
          </a:xfrm>
          <a:prstGeom prst="roundRect">
            <a:avLst>
              <a:gd name="adj" fmla="val 12500"/>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18" name="docI0"/>
          <p:cNvSpPr/>
          <p:nvPr/>
        </p:nvSpPr>
        <p:spPr>
          <a:xfrm>
            <a:off x="749808" y="2121408"/>
            <a:ext cx="530352" cy="530352"/>
          </a:xfrm>
          <a:prstGeom prst="ellipse">
            <a:avLst/>
          </a:prstGeom>
          <a:solidFill>
            <a:srgbClr val="C97700">
              <a:alpha val="18000"/>
            </a:srgbClr>
          </a:solidFill>
          <a:ln/>
        </p:spPr>
      </p:sp>
      <p:pic>
        <p:nvPicPr>
          <p:cNvPr id="19" name="docI0_i" descr="preencoded.png">    </p:cNvPr>
          <p:cNvPicPr>
            <a:picLocks noChangeAspect="1"/>
          </p:cNvPicPr>
          <p:nvPr/>
        </p:nvPicPr>
        <p:blipFill>
          <a:blip r:embed="rId1"/>
          <a:stretch>
            <a:fillRect/>
          </a:stretch>
        </p:blipFill>
        <p:spPr>
          <a:xfrm>
            <a:off x="877092" y="2248692"/>
            <a:ext cx="275783" cy="275783"/>
          </a:xfrm>
          <a:prstGeom prst="rect">
            <a:avLst/>
          </a:prstGeom>
        </p:spPr>
      </p:pic>
      <p:sp>
        <p:nvSpPr>
          <p:cNvPr id="20" name="docN0"/>
          <p:cNvSpPr txBox="1"/>
          <p:nvPr/>
        </p:nvSpPr>
        <p:spPr>
          <a:xfrm>
            <a:off x="1463040" y="2057400"/>
            <a:ext cx="3931920" cy="32004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Information_Brochure_2026.pdf</a:t>
            </a:r>
            <a:endParaRPr lang="en-US" sz="1600" dirty="0"/>
          </a:p>
        </p:txBody>
      </p:sp>
      <p:sp>
        <p:nvSpPr>
          <p:cNvPr id="21" name="docD0"/>
          <p:cNvSpPr txBox="1"/>
          <p:nvPr/>
        </p:nvSpPr>
        <p:spPr>
          <a:xfrm>
            <a:off x="1463040" y="2386584"/>
            <a:ext cx="3977640" cy="45720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PG admissions · 25 pages · 57 programmes, eligibility, sponsored seats</a:t>
            </a:r>
            <a:endParaRPr lang="en-US" sz="1300" dirty="0"/>
          </a:p>
        </p:txBody>
      </p:sp>
      <p:sp>
        <p:nvSpPr>
          <p:cNvPr id="22" name="doc1"/>
          <p:cNvSpPr/>
          <p:nvPr/>
        </p:nvSpPr>
        <p:spPr>
          <a:xfrm>
            <a:off x="548640" y="3081528"/>
            <a:ext cx="5029200" cy="1024128"/>
          </a:xfrm>
          <a:prstGeom prst="roundRect">
            <a:avLst>
              <a:gd name="adj" fmla="val 12500"/>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23" name="docI1"/>
          <p:cNvSpPr/>
          <p:nvPr/>
        </p:nvSpPr>
        <p:spPr>
          <a:xfrm>
            <a:off x="749808" y="3328416"/>
            <a:ext cx="530352" cy="530352"/>
          </a:xfrm>
          <a:prstGeom prst="ellipse">
            <a:avLst/>
          </a:prstGeom>
          <a:solidFill>
            <a:srgbClr val="C97700">
              <a:alpha val="18000"/>
            </a:srgbClr>
          </a:solidFill>
          <a:ln/>
        </p:spPr>
      </p:sp>
      <p:pic>
        <p:nvPicPr>
          <p:cNvPr id="24" name="docI1_i" descr="preencoded.png">    </p:cNvPr>
          <p:cNvPicPr>
            <a:picLocks noChangeAspect="1"/>
          </p:cNvPicPr>
          <p:nvPr/>
        </p:nvPicPr>
        <p:blipFill>
          <a:blip r:embed="rId2"/>
          <a:stretch>
            <a:fillRect/>
          </a:stretch>
        </p:blipFill>
        <p:spPr>
          <a:xfrm>
            <a:off x="877092" y="3455700"/>
            <a:ext cx="275783" cy="275783"/>
          </a:xfrm>
          <a:prstGeom prst="rect">
            <a:avLst/>
          </a:prstGeom>
        </p:spPr>
      </p:pic>
      <p:sp>
        <p:nvSpPr>
          <p:cNvPr id="25" name="docN1"/>
          <p:cNvSpPr txBox="1"/>
          <p:nvPr/>
        </p:nvSpPr>
        <p:spPr>
          <a:xfrm>
            <a:off x="1463040" y="3264408"/>
            <a:ext cx="3931920" cy="32004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PhD_IB_A2026.pdf</a:t>
            </a:r>
            <a:endParaRPr lang="en-US" sz="1600" dirty="0"/>
          </a:p>
        </p:txBody>
      </p:sp>
      <p:sp>
        <p:nvSpPr>
          <p:cNvPr id="26" name="docD1"/>
          <p:cNvSpPr txBox="1"/>
          <p:nvPr/>
        </p:nvSpPr>
        <p:spPr>
          <a:xfrm>
            <a:off x="1463040" y="3593592"/>
            <a:ext cx="3977640" cy="45720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PhD admissions · 37 pages · FTRS / PTRS, Golden Girl, MEQ, departments</a:t>
            </a:r>
            <a:endParaRPr lang="en-US" sz="1300" dirty="0"/>
          </a:p>
        </p:txBody>
      </p:sp>
      <p:sp>
        <p:nvSpPr>
          <p:cNvPr id="27" name="sample"/>
          <p:cNvSpPr/>
          <p:nvPr/>
        </p:nvSpPr>
        <p:spPr>
          <a:xfrm>
            <a:off x="548640" y="4343400"/>
            <a:ext cx="5029200" cy="1691640"/>
          </a:xfrm>
          <a:prstGeom prst="roundRect">
            <a:avLst>
              <a:gd name="adj" fmla="val 7568"/>
            </a:avLst>
          </a:prstGeom>
          <a:solidFill>
            <a:srgbClr val="EEF0F7"/>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28" name="sampL"/>
          <p:cNvSpPr txBox="1"/>
          <p:nvPr/>
        </p:nvSpPr>
        <p:spPr>
          <a:xfrm>
            <a:off x="777240" y="4526280"/>
            <a:ext cx="4572000" cy="256032"/>
          </a:xfrm>
          <a:prstGeom prst="rect">
            <a:avLst/>
          </a:prstGeom>
          <a:noFill/>
          <a:ln/>
        </p:spPr>
        <p:txBody>
          <a:bodyPr wrap="square" lIns="0" tIns="0" rIns="0" bIns="0" rtlCol="0" anchor="t"/>
          <a:lstStyle/>
          <a:p>
            <a:pPr indent="0" marL="0">
              <a:buNone/>
            </a:pPr>
            <a:r>
              <a:rPr lang="en-US" sz="1100" spc="100" kern="0" dirty="0">
                <a:solidFill>
                  <a:srgbClr val="C97700"/>
                </a:solidFill>
                <a:latin typeface="Consolas" pitchFamily="34" charset="0"/>
                <a:ea typeface="Consolas" pitchFamily="34" charset="-122"/>
                <a:cs typeface="Consolas" pitchFamily="34" charset="-120"/>
              </a:rPr>
              <a:t>SAMPLE ITEM  ·  Q003  ·  DIRECT FACTUAL</a:t>
            </a:r>
            <a:endParaRPr lang="en-US" sz="1100" dirty="0"/>
          </a:p>
        </p:txBody>
      </p:sp>
      <p:sp>
        <p:nvSpPr>
          <p:cNvPr id="29" name="sampQ"/>
          <p:cNvSpPr txBox="1"/>
          <p:nvPr/>
        </p:nvSpPr>
        <p:spPr>
          <a:xfrm>
            <a:off x="777240" y="4846320"/>
            <a:ext cx="4617720" cy="594360"/>
          </a:xfrm>
          <a:prstGeom prst="rect">
            <a:avLst/>
          </a:prstGeom>
          <a:noFill/>
          <a:ln/>
        </p:spPr>
        <p:txBody>
          <a:bodyPr wrap="square" lIns="0" tIns="0" rIns="0" bIns="0" rtlCol="0" anchor="t"/>
          <a:lstStyle/>
          <a:p>
            <a:pPr indent="0" marL="0">
              <a:buNone/>
            </a:pPr>
            <a:r>
              <a:rPr lang="en-US" sz="1600" i="1" dirty="0">
                <a:solidFill>
                  <a:srgbClr val="16182B"/>
                </a:solidFill>
                <a:latin typeface="Cambria" pitchFamily="34" charset="0"/>
                <a:ea typeface="Cambria" pitchFamily="34" charset="-122"/>
                <a:cs typeface="Cambria" pitchFamily="34" charset="-120"/>
              </a:rPr>
              <a:t>“What is the full form of FTRS in PhD admission categories?”</a:t>
            </a:r>
            <a:endParaRPr lang="en-US" sz="1600" dirty="0"/>
          </a:p>
        </p:txBody>
      </p:sp>
      <p:sp>
        <p:nvSpPr>
          <p:cNvPr id="30" name="sampA"/>
          <p:cNvSpPr txBox="1"/>
          <p:nvPr/>
        </p:nvSpPr>
        <p:spPr>
          <a:xfrm>
            <a:off x="777240" y="5513832"/>
            <a:ext cx="4663440" cy="320040"/>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Ground truth: Full-Time Research Scholar  ·  PhD_IB_A2026.pdf</a:t>
            </a:r>
            <a:endParaRPr lang="en-US" sz="1200" dirty="0"/>
          </a:p>
        </p:txBody>
      </p:sp>
      <p:sp>
        <p:nvSpPr>
          <p:cNvPr id="31" name="!!lensGlow"/>
          <p:cNvSpPr/>
          <p:nvPr/>
        </p:nvSpPr>
        <p:spPr>
          <a:xfrm>
            <a:off x="6051042" y="1936242"/>
            <a:ext cx="2436876" cy="2436876"/>
          </a:xfrm>
          <a:prstGeom prst="ellipse">
            <a:avLst/>
          </a:prstGeom>
          <a:solidFill>
            <a:srgbClr val="C97700">
              <a:alpha val="6000"/>
            </a:srgbClr>
          </a:solidFill>
          <a:ln/>
        </p:spPr>
      </p:sp>
      <p:sp>
        <p:nvSpPr>
          <p:cNvPr id="32" name="!!lensInner"/>
          <p:cNvSpPr/>
          <p:nvPr/>
        </p:nvSpPr>
        <p:spPr>
          <a:xfrm>
            <a:off x="6288786" y="2173986"/>
            <a:ext cx="1961388" cy="1961388"/>
          </a:xfrm>
          <a:prstGeom prst="ellipse">
            <a:avLst/>
          </a:prstGeom>
          <a:ln w="12700">
            <a:solidFill>
              <a:srgbClr val="0E9C86">
                <a:alpha val="45000"/>
              </a:srgbClr>
            </a:solidFill>
            <a:prstDash val="solid"/>
          </a:ln>
        </p:spPr>
      </p:sp>
      <p:sp>
        <p:nvSpPr>
          <p:cNvPr id="33" name="!!lensRing"/>
          <p:cNvSpPr/>
          <p:nvPr/>
        </p:nvSpPr>
        <p:spPr>
          <a:xfrm>
            <a:off x="5783580" y="1668780"/>
            <a:ext cx="2971800" cy="2971800"/>
          </a:xfrm>
          <a:prstGeom prst="ellipse">
            <a:avLst/>
          </a:prstGeom>
          <a:ln w="31750">
            <a:solidFill>
              <a:srgbClr val="C97700"/>
            </a:solidFill>
            <a:prstDash val="solid"/>
          </a:ln>
        </p:spPr>
      </p:sp>
      <p:sp>
        <p:nvSpPr>
          <p:cNvPr id="34" name="!!lensGlint"/>
          <p:cNvSpPr/>
          <p:nvPr/>
        </p:nvSpPr>
        <p:spPr>
          <a:xfrm>
            <a:off x="8216157" y="1999977"/>
            <a:ext cx="208026" cy="208026"/>
          </a:xfrm>
          <a:prstGeom prst="ellipse">
            <a:avLst/>
          </a:prstGeom>
          <a:solidFill>
            <a:srgbClr val="C97700"/>
          </a:solidFill>
          <a:ln/>
        </p:spPr>
      </p:sp>
      <p:graphicFrame>
        <p:nvGraphicFramePr>
          <p:cNvPr id="35" name="donut" descr=""/>
          <p:cNvGraphicFramePr/>
          <p:nvPr/>
        </p:nvGraphicFramePr>
        <p:xfrm>
          <a:off x="6080760" y="1965960"/>
          <a:ext cx="2377440" cy="2377440"/>
        </p:xfrm>
        <a:graphic xmlns:a="http://schemas.openxmlformats.org/drawingml/2006/main">
          <a:graphicData uri="http://schemas.openxmlformats.org/drawingml/2006/chart">
            <c:chart xmlns:c="http://schemas.openxmlformats.org/drawingml/2006/chart" r:id="rId3"/>
          </a:graphicData>
        </a:graphic>
      </p:graphicFrame>
      <p:sp>
        <p:nvSpPr>
          <p:cNvPr id="36" name="donutN"/>
          <p:cNvSpPr txBox="1"/>
          <p:nvPr/>
        </p:nvSpPr>
        <p:spPr>
          <a:xfrm>
            <a:off x="6720840" y="2788920"/>
            <a:ext cx="1097280" cy="502920"/>
          </a:xfrm>
          <a:prstGeom prst="rect">
            <a:avLst/>
          </a:prstGeom>
          <a:noFill/>
          <a:ln/>
        </p:spPr>
        <p:txBody>
          <a:bodyPr wrap="square" lIns="0" tIns="0" rIns="0" bIns="0" rtlCol="0" anchor="t"/>
          <a:lstStyle/>
          <a:p>
            <a:pPr algn="ctr" indent="0" marL="0">
              <a:buNone/>
            </a:pPr>
            <a:r>
              <a:rPr lang="en-US" sz="3200" b="1" dirty="0">
                <a:solidFill>
                  <a:srgbClr val="16182B"/>
                </a:solidFill>
                <a:latin typeface="Cambria" pitchFamily="34" charset="0"/>
                <a:ea typeface="Cambria" pitchFamily="34" charset="-122"/>
                <a:cs typeface="Cambria" pitchFamily="34" charset="-120"/>
              </a:rPr>
              <a:t>50</a:t>
            </a:r>
            <a:endParaRPr lang="en-US" sz="3200" dirty="0"/>
          </a:p>
        </p:txBody>
      </p:sp>
      <p:sp>
        <p:nvSpPr>
          <p:cNvPr id="37" name="donutL"/>
          <p:cNvSpPr txBox="1"/>
          <p:nvPr/>
        </p:nvSpPr>
        <p:spPr>
          <a:xfrm>
            <a:off x="6720840" y="3291840"/>
            <a:ext cx="1097280" cy="274320"/>
          </a:xfrm>
          <a:prstGeom prst="rect">
            <a:avLst/>
          </a:prstGeom>
          <a:noFill/>
          <a:ln/>
        </p:spPr>
        <p:txBody>
          <a:bodyPr wrap="square" lIns="0" tIns="0" rIns="0" bIns="0" rtlCol="0" anchor="t"/>
          <a:lstStyle/>
          <a:p>
            <a:pPr algn="ctr" indent="0" marL="0">
              <a:buNone/>
            </a:pPr>
            <a:r>
              <a:rPr lang="en-US" sz="1200" dirty="0">
                <a:solidFill>
                  <a:srgbClr val="565B75"/>
                </a:solidFill>
                <a:latin typeface="Calibri" pitchFamily="34" charset="0"/>
                <a:ea typeface="Calibri" pitchFamily="34" charset="-122"/>
                <a:cs typeface="Calibri" pitchFamily="34" charset="-120"/>
              </a:rPr>
              <a:t>questions</a:t>
            </a:r>
            <a:endParaRPr lang="en-US" sz="1200" dirty="0"/>
          </a:p>
        </p:txBody>
      </p:sp>
      <p:sp>
        <p:nvSpPr>
          <p:cNvPr id="38" name="lgD0"/>
          <p:cNvSpPr/>
          <p:nvPr/>
        </p:nvSpPr>
        <p:spPr>
          <a:xfrm>
            <a:off x="9144000" y="2093976"/>
            <a:ext cx="146304" cy="146304"/>
          </a:xfrm>
          <a:prstGeom prst="ellipse">
            <a:avLst/>
          </a:prstGeom>
          <a:solidFill>
            <a:srgbClr val="C97700"/>
          </a:solidFill>
          <a:ln/>
        </p:spPr>
      </p:sp>
      <p:sp>
        <p:nvSpPr>
          <p:cNvPr id="39" name="lgN0"/>
          <p:cNvSpPr txBox="1"/>
          <p:nvPr/>
        </p:nvSpPr>
        <p:spPr>
          <a:xfrm>
            <a:off x="9418320" y="2011680"/>
            <a:ext cx="1645920" cy="310896"/>
          </a:xfrm>
          <a:prstGeom prst="rect">
            <a:avLst/>
          </a:prstGeom>
          <a:noFill/>
          <a:ln/>
        </p:spPr>
        <p:txBody>
          <a:bodyPr wrap="square" lIns="0" tIns="0" rIns="0" bIns="0" rtlCol="0" anchor="ctr"/>
          <a:lstStyle/>
          <a:p>
            <a:pPr indent="0" marL="0">
              <a:buNone/>
            </a:pPr>
            <a:r>
              <a:rPr lang="en-US" sz="1400" dirty="0">
                <a:solidFill>
                  <a:srgbClr val="16182B"/>
                </a:solidFill>
                <a:latin typeface="Calibri" pitchFamily="34" charset="0"/>
                <a:ea typeface="Calibri" pitchFamily="34" charset="-122"/>
                <a:cs typeface="Calibri" pitchFamily="34" charset="-120"/>
              </a:rPr>
              <a:t>Direct factual</a:t>
            </a:r>
            <a:endParaRPr lang="en-US" sz="1400" dirty="0"/>
          </a:p>
        </p:txBody>
      </p:sp>
      <p:sp>
        <p:nvSpPr>
          <p:cNvPr id="40" name="lgV0"/>
          <p:cNvSpPr txBox="1"/>
          <p:nvPr/>
        </p:nvSpPr>
        <p:spPr>
          <a:xfrm>
            <a:off x="11064240" y="2011680"/>
            <a:ext cx="548640" cy="310896"/>
          </a:xfrm>
          <a:prstGeom prst="rect">
            <a:avLst/>
          </a:prstGeom>
          <a:noFill/>
          <a:ln/>
        </p:spPr>
        <p:txBody>
          <a:bodyPr wrap="square" lIns="0" tIns="0" rIns="0" bIns="0" rtlCol="0" anchor="ctr"/>
          <a:lstStyle/>
          <a:p>
            <a:pPr algn="r" indent="0" marL="0">
              <a:buNone/>
            </a:pPr>
            <a:r>
              <a:rPr lang="en-US" sz="1400" b="1" dirty="0">
                <a:solidFill>
                  <a:srgbClr val="16182B"/>
                </a:solidFill>
                <a:latin typeface="Calibri" pitchFamily="34" charset="0"/>
                <a:ea typeface="Calibri" pitchFamily="34" charset="-122"/>
                <a:cs typeface="Calibri" pitchFamily="34" charset="-120"/>
              </a:rPr>
              <a:t>15</a:t>
            </a:r>
            <a:endParaRPr lang="en-US" sz="1400" dirty="0"/>
          </a:p>
        </p:txBody>
      </p:sp>
      <p:sp>
        <p:nvSpPr>
          <p:cNvPr id="41" name="lgD1"/>
          <p:cNvSpPr/>
          <p:nvPr/>
        </p:nvSpPr>
        <p:spPr>
          <a:xfrm>
            <a:off x="9144000" y="2478024"/>
            <a:ext cx="146304" cy="146304"/>
          </a:xfrm>
          <a:prstGeom prst="ellipse">
            <a:avLst/>
          </a:prstGeom>
          <a:solidFill>
            <a:srgbClr val="0E9C86"/>
          </a:solidFill>
          <a:ln/>
        </p:spPr>
      </p:sp>
      <p:sp>
        <p:nvSpPr>
          <p:cNvPr id="42" name="lgN1"/>
          <p:cNvSpPr txBox="1"/>
          <p:nvPr/>
        </p:nvSpPr>
        <p:spPr>
          <a:xfrm>
            <a:off x="9418320" y="2395728"/>
            <a:ext cx="1645920" cy="310896"/>
          </a:xfrm>
          <a:prstGeom prst="rect">
            <a:avLst/>
          </a:prstGeom>
          <a:noFill/>
          <a:ln/>
        </p:spPr>
        <p:txBody>
          <a:bodyPr wrap="square" lIns="0" tIns="0" rIns="0" bIns="0" rtlCol="0" anchor="ctr"/>
          <a:lstStyle/>
          <a:p>
            <a:pPr indent="0" marL="0">
              <a:buNone/>
            </a:pPr>
            <a:r>
              <a:rPr lang="en-US" sz="1400" dirty="0">
                <a:solidFill>
                  <a:srgbClr val="16182B"/>
                </a:solidFill>
                <a:latin typeface="Calibri" pitchFamily="34" charset="0"/>
                <a:ea typeface="Calibri" pitchFamily="34" charset="-122"/>
                <a:cs typeface="Calibri" pitchFamily="34" charset="-120"/>
              </a:rPr>
              <a:t>Procedural</a:t>
            </a:r>
            <a:endParaRPr lang="en-US" sz="1400" dirty="0"/>
          </a:p>
        </p:txBody>
      </p:sp>
      <p:sp>
        <p:nvSpPr>
          <p:cNvPr id="43" name="lgV1"/>
          <p:cNvSpPr txBox="1"/>
          <p:nvPr/>
        </p:nvSpPr>
        <p:spPr>
          <a:xfrm>
            <a:off x="11064240" y="2395728"/>
            <a:ext cx="548640" cy="310896"/>
          </a:xfrm>
          <a:prstGeom prst="rect">
            <a:avLst/>
          </a:prstGeom>
          <a:noFill/>
          <a:ln/>
        </p:spPr>
        <p:txBody>
          <a:bodyPr wrap="square" lIns="0" tIns="0" rIns="0" bIns="0" rtlCol="0" anchor="ctr"/>
          <a:lstStyle/>
          <a:p>
            <a:pPr algn="r" indent="0" marL="0">
              <a:buNone/>
            </a:pPr>
            <a:r>
              <a:rPr lang="en-US" sz="1400" b="1" dirty="0">
                <a:solidFill>
                  <a:srgbClr val="16182B"/>
                </a:solidFill>
                <a:latin typeface="Calibri" pitchFamily="34" charset="0"/>
                <a:ea typeface="Calibri" pitchFamily="34" charset="-122"/>
                <a:cs typeface="Calibri" pitchFamily="34" charset="-120"/>
              </a:rPr>
              <a:t>10</a:t>
            </a:r>
            <a:endParaRPr lang="en-US" sz="1400" dirty="0"/>
          </a:p>
        </p:txBody>
      </p:sp>
      <p:sp>
        <p:nvSpPr>
          <p:cNvPr id="44" name="lgD2"/>
          <p:cNvSpPr/>
          <p:nvPr/>
        </p:nvSpPr>
        <p:spPr>
          <a:xfrm>
            <a:off x="9144000" y="2862072"/>
            <a:ext cx="146304" cy="146304"/>
          </a:xfrm>
          <a:prstGeom prst="ellipse">
            <a:avLst/>
          </a:prstGeom>
          <a:solidFill>
            <a:srgbClr val="7656E0"/>
          </a:solidFill>
          <a:ln/>
        </p:spPr>
      </p:sp>
      <p:sp>
        <p:nvSpPr>
          <p:cNvPr id="45" name="lgN2"/>
          <p:cNvSpPr txBox="1"/>
          <p:nvPr/>
        </p:nvSpPr>
        <p:spPr>
          <a:xfrm>
            <a:off x="9418320" y="2779776"/>
            <a:ext cx="1645920" cy="310896"/>
          </a:xfrm>
          <a:prstGeom prst="rect">
            <a:avLst/>
          </a:prstGeom>
          <a:noFill/>
          <a:ln/>
        </p:spPr>
        <p:txBody>
          <a:bodyPr wrap="square" lIns="0" tIns="0" rIns="0" bIns="0" rtlCol="0" anchor="ctr"/>
          <a:lstStyle/>
          <a:p>
            <a:pPr indent="0" marL="0">
              <a:buNone/>
            </a:pPr>
            <a:r>
              <a:rPr lang="en-US" sz="1400" dirty="0">
                <a:solidFill>
                  <a:srgbClr val="16182B"/>
                </a:solidFill>
                <a:latin typeface="Calibri" pitchFamily="34" charset="0"/>
                <a:ea typeface="Calibri" pitchFamily="34" charset="-122"/>
                <a:cs typeface="Calibri" pitchFamily="34" charset="-120"/>
              </a:rPr>
              <a:t>Eligibility</a:t>
            </a:r>
            <a:endParaRPr lang="en-US" sz="1400" dirty="0"/>
          </a:p>
        </p:txBody>
      </p:sp>
      <p:sp>
        <p:nvSpPr>
          <p:cNvPr id="46" name="lgV2"/>
          <p:cNvSpPr txBox="1"/>
          <p:nvPr/>
        </p:nvSpPr>
        <p:spPr>
          <a:xfrm>
            <a:off x="11064240" y="2779776"/>
            <a:ext cx="548640" cy="310896"/>
          </a:xfrm>
          <a:prstGeom prst="rect">
            <a:avLst/>
          </a:prstGeom>
          <a:noFill/>
          <a:ln/>
        </p:spPr>
        <p:txBody>
          <a:bodyPr wrap="square" lIns="0" tIns="0" rIns="0" bIns="0" rtlCol="0" anchor="ctr"/>
          <a:lstStyle/>
          <a:p>
            <a:pPr algn="r" indent="0" marL="0">
              <a:buNone/>
            </a:pPr>
            <a:r>
              <a:rPr lang="en-US" sz="1400" b="1" dirty="0">
                <a:solidFill>
                  <a:srgbClr val="16182B"/>
                </a:solidFill>
                <a:latin typeface="Calibri" pitchFamily="34" charset="0"/>
                <a:ea typeface="Calibri" pitchFamily="34" charset="-122"/>
                <a:cs typeface="Calibri" pitchFamily="34" charset="-120"/>
              </a:rPr>
              <a:t>10</a:t>
            </a:r>
            <a:endParaRPr lang="en-US" sz="1400" dirty="0"/>
          </a:p>
        </p:txBody>
      </p:sp>
      <p:sp>
        <p:nvSpPr>
          <p:cNvPr id="47" name="lgD3"/>
          <p:cNvSpPr/>
          <p:nvPr/>
        </p:nvSpPr>
        <p:spPr>
          <a:xfrm>
            <a:off x="9144000" y="3246120"/>
            <a:ext cx="146304" cy="146304"/>
          </a:xfrm>
          <a:prstGeom prst="ellipse">
            <a:avLst/>
          </a:prstGeom>
          <a:solidFill>
            <a:srgbClr val="E0474C"/>
          </a:solidFill>
          <a:ln/>
        </p:spPr>
      </p:sp>
      <p:sp>
        <p:nvSpPr>
          <p:cNvPr id="48" name="lgN3"/>
          <p:cNvSpPr txBox="1"/>
          <p:nvPr/>
        </p:nvSpPr>
        <p:spPr>
          <a:xfrm>
            <a:off x="9418320" y="3163824"/>
            <a:ext cx="1645920" cy="310896"/>
          </a:xfrm>
          <a:prstGeom prst="rect">
            <a:avLst/>
          </a:prstGeom>
          <a:noFill/>
          <a:ln/>
        </p:spPr>
        <p:txBody>
          <a:bodyPr wrap="square" lIns="0" tIns="0" rIns="0" bIns="0" rtlCol="0" anchor="ctr"/>
          <a:lstStyle/>
          <a:p>
            <a:pPr indent="0" marL="0">
              <a:buNone/>
            </a:pPr>
            <a:r>
              <a:rPr lang="en-US" sz="1400" dirty="0">
                <a:solidFill>
                  <a:srgbClr val="16182B"/>
                </a:solidFill>
                <a:latin typeface="Calibri" pitchFamily="34" charset="0"/>
                <a:ea typeface="Calibri" pitchFamily="34" charset="-122"/>
                <a:cs typeface="Calibri" pitchFamily="34" charset="-120"/>
              </a:rPr>
              <a:t>Conditional</a:t>
            </a:r>
            <a:endParaRPr lang="en-US" sz="1400" dirty="0"/>
          </a:p>
        </p:txBody>
      </p:sp>
      <p:sp>
        <p:nvSpPr>
          <p:cNvPr id="49" name="lgV3"/>
          <p:cNvSpPr txBox="1"/>
          <p:nvPr/>
        </p:nvSpPr>
        <p:spPr>
          <a:xfrm>
            <a:off x="11064240" y="3163824"/>
            <a:ext cx="548640" cy="310896"/>
          </a:xfrm>
          <a:prstGeom prst="rect">
            <a:avLst/>
          </a:prstGeom>
          <a:noFill/>
          <a:ln/>
        </p:spPr>
        <p:txBody>
          <a:bodyPr wrap="square" lIns="0" tIns="0" rIns="0" bIns="0" rtlCol="0" anchor="ctr"/>
          <a:lstStyle/>
          <a:p>
            <a:pPr algn="r" indent="0" marL="0">
              <a:buNone/>
            </a:pPr>
            <a:r>
              <a:rPr lang="en-US" sz="1400" b="1" dirty="0">
                <a:solidFill>
                  <a:srgbClr val="16182B"/>
                </a:solidFill>
                <a:latin typeface="Calibri" pitchFamily="34" charset="0"/>
                <a:ea typeface="Calibri" pitchFamily="34" charset="-122"/>
                <a:cs typeface="Calibri" pitchFamily="34" charset="-120"/>
              </a:rPr>
              <a:t>5</a:t>
            </a:r>
            <a:endParaRPr lang="en-US" sz="1400" dirty="0"/>
          </a:p>
        </p:txBody>
      </p:sp>
      <p:sp>
        <p:nvSpPr>
          <p:cNvPr id="50" name="lgD4"/>
          <p:cNvSpPr/>
          <p:nvPr/>
        </p:nvSpPr>
        <p:spPr>
          <a:xfrm>
            <a:off x="9144000" y="3630168"/>
            <a:ext cx="146304" cy="146304"/>
          </a:xfrm>
          <a:prstGeom prst="ellipse">
            <a:avLst/>
          </a:prstGeom>
          <a:solidFill>
            <a:srgbClr val="94A3B8"/>
          </a:solidFill>
          <a:ln/>
        </p:spPr>
      </p:sp>
      <p:sp>
        <p:nvSpPr>
          <p:cNvPr id="51" name="lgN4"/>
          <p:cNvSpPr txBox="1"/>
          <p:nvPr/>
        </p:nvSpPr>
        <p:spPr>
          <a:xfrm>
            <a:off x="9418320" y="3547872"/>
            <a:ext cx="1645920" cy="310896"/>
          </a:xfrm>
          <a:prstGeom prst="rect">
            <a:avLst/>
          </a:prstGeom>
          <a:noFill/>
          <a:ln/>
        </p:spPr>
        <p:txBody>
          <a:bodyPr wrap="square" lIns="0" tIns="0" rIns="0" bIns="0" rtlCol="0" anchor="ctr"/>
          <a:lstStyle/>
          <a:p>
            <a:pPr indent="0" marL="0">
              <a:buNone/>
            </a:pPr>
            <a:r>
              <a:rPr lang="en-US" sz="1400" dirty="0">
                <a:solidFill>
                  <a:srgbClr val="16182B"/>
                </a:solidFill>
                <a:latin typeface="Calibri" pitchFamily="34" charset="0"/>
                <a:ea typeface="Calibri" pitchFamily="34" charset="-122"/>
                <a:cs typeface="Calibri" pitchFamily="34" charset="-120"/>
              </a:rPr>
              <a:t>Numerical</a:t>
            </a:r>
            <a:endParaRPr lang="en-US" sz="1400" dirty="0"/>
          </a:p>
        </p:txBody>
      </p:sp>
      <p:sp>
        <p:nvSpPr>
          <p:cNvPr id="52" name="lgV4"/>
          <p:cNvSpPr txBox="1"/>
          <p:nvPr/>
        </p:nvSpPr>
        <p:spPr>
          <a:xfrm>
            <a:off x="11064240" y="3547872"/>
            <a:ext cx="548640" cy="310896"/>
          </a:xfrm>
          <a:prstGeom prst="rect">
            <a:avLst/>
          </a:prstGeom>
          <a:noFill/>
          <a:ln/>
        </p:spPr>
        <p:txBody>
          <a:bodyPr wrap="square" lIns="0" tIns="0" rIns="0" bIns="0" rtlCol="0" anchor="ctr"/>
          <a:lstStyle/>
          <a:p>
            <a:pPr algn="r" indent="0" marL="0">
              <a:buNone/>
            </a:pPr>
            <a:r>
              <a:rPr lang="en-US" sz="1400" b="1" dirty="0">
                <a:solidFill>
                  <a:srgbClr val="16182B"/>
                </a:solidFill>
                <a:latin typeface="Calibri" pitchFamily="34" charset="0"/>
                <a:ea typeface="Calibri" pitchFamily="34" charset="-122"/>
                <a:cs typeface="Calibri" pitchFamily="34" charset="-120"/>
              </a:rPr>
              <a:t>5</a:t>
            </a:r>
            <a:endParaRPr lang="en-US" sz="1400" dirty="0"/>
          </a:p>
        </p:txBody>
      </p:sp>
      <p:sp>
        <p:nvSpPr>
          <p:cNvPr id="53" name="lgD5"/>
          <p:cNvSpPr/>
          <p:nvPr/>
        </p:nvSpPr>
        <p:spPr>
          <a:xfrm>
            <a:off x="9144000" y="4014216"/>
            <a:ext cx="146304" cy="146304"/>
          </a:xfrm>
          <a:prstGeom prst="ellipse">
            <a:avLst/>
          </a:prstGeom>
          <a:solidFill>
            <a:srgbClr val="3E4A8C"/>
          </a:solidFill>
          <a:ln/>
        </p:spPr>
      </p:sp>
      <p:sp>
        <p:nvSpPr>
          <p:cNvPr id="54" name="lgN5"/>
          <p:cNvSpPr txBox="1"/>
          <p:nvPr/>
        </p:nvSpPr>
        <p:spPr>
          <a:xfrm>
            <a:off x="9418320" y="3931920"/>
            <a:ext cx="1645920" cy="310896"/>
          </a:xfrm>
          <a:prstGeom prst="rect">
            <a:avLst/>
          </a:prstGeom>
          <a:noFill/>
          <a:ln/>
        </p:spPr>
        <p:txBody>
          <a:bodyPr wrap="square" lIns="0" tIns="0" rIns="0" bIns="0" rtlCol="0" anchor="ctr"/>
          <a:lstStyle/>
          <a:p>
            <a:pPr indent="0" marL="0">
              <a:buNone/>
            </a:pPr>
            <a:r>
              <a:rPr lang="en-US" sz="1400" dirty="0">
                <a:solidFill>
                  <a:srgbClr val="16182B"/>
                </a:solidFill>
                <a:latin typeface="Calibri" pitchFamily="34" charset="0"/>
                <a:ea typeface="Calibri" pitchFamily="34" charset="-122"/>
                <a:cs typeface="Calibri" pitchFamily="34" charset="-120"/>
              </a:rPr>
              <a:t>Multi-part</a:t>
            </a:r>
            <a:endParaRPr lang="en-US" sz="1400" dirty="0"/>
          </a:p>
        </p:txBody>
      </p:sp>
      <p:sp>
        <p:nvSpPr>
          <p:cNvPr id="55" name="lgV5"/>
          <p:cNvSpPr txBox="1"/>
          <p:nvPr/>
        </p:nvSpPr>
        <p:spPr>
          <a:xfrm>
            <a:off x="11064240" y="3931920"/>
            <a:ext cx="548640" cy="310896"/>
          </a:xfrm>
          <a:prstGeom prst="rect">
            <a:avLst/>
          </a:prstGeom>
          <a:noFill/>
          <a:ln/>
        </p:spPr>
        <p:txBody>
          <a:bodyPr wrap="square" lIns="0" tIns="0" rIns="0" bIns="0" rtlCol="0" anchor="ctr"/>
          <a:lstStyle/>
          <a:p>
            <a:pPr algn="r" indent="0" marL="0">
              <a:buNone/>
            </a:pPr>
            <a:r>
              <a:rPr lang="en-US" sz="1400" b="1" dirty="0">
                <a:solidFill>
                  <a:srgbClr val="16182B"/>
                </a:solidFill>
                <a:latin typeface="Calibri" pitchFamily="34" charset="0"/>
                <a:ea typeface="Calibri" pitchFamily="34" charset="-122"/>
                <a:cs typeface="Calibri" pitchFamily="34" charset="-120"/>
              </a:rPr>
              <a:t>5</a:t>
            </a:r>
            <a:endParaRPr lang="en-US" sz="1400" dirty="0"/>
          </a:p>
        </p:txBody>
      </p:sp>
      <p:sp>
        <p:nvSpPr>
          <p:cNvPr id="56" name="valL"/>
          <p:cNvSpPr txBox="1"/>
          <p:nvPr/>
        </p:nvSpPr>
        <p:spPr>
          <a:xfrm>
            <a:off x="6035040" y="4800600"/>
            <a:ext cx="5577840" cy="274320"/>
          </a:xfrm>
          <a:prstGeom prst="rect">
            <a:avLst/>
          </a:prstGeom>
          <a:noFill/>
          <a:ln/>
        </p:spPr>
        <p:txBody>
          <a:bodyPr wrap="square" lIns="0" tIns="0" rIns="0" bIns="0" rtlCol="0" anchor="t"/>
          <a:lstStyle/>
          <a:p>
            <a:pPr indent="0" marL="0">
              <a:buNone/>
            </a:pPr>
            <a:r>
              <a:rPr lang="en-US" sz="1400" b="1" dirty="0">
                <a:solidFill>
                  <a:srgbClr val="16182B"/>
                </a:solidFill>
                <a:latin typeface="Calibri" pitchFamily="34" charset="0"/>
                <a:ea typeface="Calibri" pitchFamily="34" charset="-122"/>
                <a:cs typeface="Calibri" pitchFamily="34" charset="-120"/>
              </a:rPr>
              <a:t>Gold-page check: is each answer really on its cited page?</a:t>
            </a:r>
            <a:endParaRPr lang="en-US" sz="1400" dirty="0"/>
          </a:p>
        </p:txBody>
      </p:sp>
      <p:sp>
        <p:nvSpPr>
          <p:cNvPr id="57" name="valB0"/>
          <p:cNvSpPr/>
          <p:nvPr/>
        </p:nvSpPr>
        <p:spPr>
          <a:xfrm>
            <a:off x="6035040" y="5193792"/>
            <a:ext cx="2752344" cy="292608"/>
          </a:xfrm>
          <a:prstGeom prst="rect">
            <a:avLst/>
          </a:prstGeom>
          <a:solidFill>
            <a:srgbClr val="0E9C86"/>
          </a:solidFill>
          <a:ln/>
        </p:spPr>
      </p:sp>
      <p:sp>
        <p:nvSpPr>
          <p:cNvPr id="58" name="valT0"/>
          <p:cNvSpPr txBox="1"/>
          <p:nvPr/>
        </p:nvSpPr>
        <p:spPr>
          <a:xfrm>
            <a:off x="6035040" y="5559552"/>
            <a:ext cx="2788920" cy="274320"/>
          </a:xfrm>
          <a:prstGeom prst="rect">
            <a:avLst/>
          </a:prstGeom>
          <a:noFill/>
          <a:ln/>
        </p:spPr>
        <p:txBody>
          <a:bodyPr wrap="square" lIns="0" tIns="0" rIns="0" bIns="0" rtlCol="0" anchor="t"/>
          <a:lstStyle/>
          <a:p>
            <a:pPr algn="l" indent="0" marL="0">
              <a:buNone/>
            </a:pPr>
            <a:r>
              <a:rPr lang="en-US" sz="1200" dirty="0">
                <a:solidFill>
                  <a:srgbClr val="565B75"/>
                </a:solidFill>
                <a:latin typeface="Calibri" pitchFamily="34" charset="0"/>
                <a:ea typeface="Calibri" pitchFamily="34" charset="-122"/>
                <a:cs typeface="Calibri" pitchFamily="34" charset="-120"/>
              </a:rPr>
              <a:t>25 on cited page</a:t>
            </a:r>
            <a:endParaRPr lang="en-US" sz="1200" dirty="0"/>
          </a:p>
        </p:txBody>
      </p:sp>
      <p:sp>
        <p:nvSpPr>
          <p:cNvPr id="59" name="valB1"/>
          <p:cNvSpPr/>
          <p:nvPr/>
        </p:nvSpPr>
        <p:spPr>
          <a:xfrm>
            <a:off x="8823960" y="5193792"/>
            <a:ext cx="1971446" cy="292608"/>
          </a:xfrm>
          <a:prstGeom prst="rect">
            <a:avLst/>
          </a:prstGeom>
          <a:solidFill>
            <a:srgbClr val="C97700"/>
          </a:solidFill>
          <a:ln/>
        </p:spPr>
      </p:sp>
      <p:sp>
        <p:nvSpPr>
          <p:cNvPr id="60" name="valT1"/>
          <p:cNvSpPr txBox="1"/>
          <p:nvPr/>
        </p:nvSpPr>
        <p:spPr>
          <a:xfrm>
            <a:off x="8823960" y="5559552"/>
            <a:ext cx="2008022" cy="274320"/>
          </a:xfrm>
          <a:prstGeom prst="rect">
            <a:avLst/>
          </a:prstGeom>
          <a:noFill/>
          <a:ln/>
        </p:spPr>
        <p:txBody>
          <a:bodyPr wrap="square" lIns="0" tIns="0" rIns="0" bIns="0" rtlCol="0" anchor="t"/>
          <a:lstStyle/>
          <a:p>
            <a:pPr algn="l" indent="0" marL="0">
              <a:buNone/>
            </a:pPr>
            <a:r>
              <a:rPr lang="en-US" sz="1200" dirty="0">
                <a:solidFill>
                  <a:srgbClr val="565B75"/>
                </a:solidFill>
                <a:latin typeface="Calibri" pitchFamily="34" charset="0"/>
                <a:ea typeface="Calibri" pitchFamily="34" charset="-122"/>
                <a:cs typeface="Calibri" pitchFamily="34" charset="-120"/>
              </a:rPr>
              <a:t>18 on another page</a:t>
            </a:r>
            <a:endParaRPr lang="en-US" sz="1200" dirty="0"/>
          </a:p>
        </p:txBody>
      </p:sp>
      <p:sp>
        <p:nvSpPr>
          <p:cNvPr id="61" name="valB2"/>
          <p:cNvSpPr/>
          <p:nvPr/>
        </p:nvSpPr>
        <p:spPr>
          <a:xfrm>
            <a:off x="10831982" y="5193792"/>
            <a:ext cx="744322" cy="292608"/>
          </a:xfrm>
          <a:prstGeom prst="rect">
            <a:avLst/>
          </a:prstGeom>
          <a:solidFill>
            <a:srgbClr val="E0474C"/>
          </a:solidFill>
          <a:ln/>
        </p:spPr>
      </p:sp>
      <p:sp>
        <p:nvSpPr>
          <p:cNvPr id="62" name="valT2"/>
          <p:cNvSpPr txBox="1"/>
          <p:nvPr/>
        </p:nvSpPr>
        <p:spPr>
          <a:xfrm>
            <a:off x="10149840" y="5559552"/>
            <a:ext cx="1463040" cy="274320"/>
          </a:xfrm>
          <a:prstGeom prst="rect">
            <a:avLst/>
          </a:prstGeom>
          <a:noFill/>
          <a:ln/>
        </p:spPr>
        <p:txBody>
          <a:bodyPr wrap="square" lIns="0" tIns="0" rIns="0" bIns="0" rtlCol="0" anchor="t"/>
          <a:lstStyle/>
          <a:p>
            <a:pPr algn="r" indent="0" marL="0">
              <a:buNone/>
            </a:pPr>
            <a:r>
              <a:rPr lang="en-US" sz="1200" dirty="0">
                <a:solidFill>
                  <a:srgbClr val="565B75"/>
                </a:solidFill>
                <a:latin typeface="Calibri" pitchFamily="34" charset="0"/>
                <a:ea typeface="Calibri" pitchFamily="34" charset="-122"/>
                <a:cs typeface="Calibri" pitchFamily="34" charset="-120"/>
              </a:rPr>
              <a:t>7 not in text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8"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00"/>
                                        <p:tgtEl>
                                          <p:spTgt spid="17"/>
                                        </p:tgtEl>
                                      </p:cBhvr>
                                    </p:animEffect>
                                    <p:anim calcmode="lin" valueType="num">
                                      <p:cBhvr>
                                        <p:cTn id="7" dur="500" decel="100000" fill="hold"/>
                                        <p:tgtEl>
                                          <p:spTgt spid="17"/>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anim calcmode="lin" valueType="num">
                                      <p:cBhvr>
                                        <p:cTn id="11" dur="500" decel="100000" fill="hold"/>
                                        <p:tgtEl>
                                          <p:spTgt spid="18"/>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anim calcmode="lin" valueType="num">
                                      <p:cBhvr>
                                        <p:cTn id="15" dur="500" decel="100000" fill="hold"/>
                                        <p:tgtEl>
                                          <p:spTgt spid="19"/>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anim calcmode="lin" valueType="num">
                                      <p:cBhvr>
                                        <p:cTn id="19" dur="500" decel="100000" fill="hold"/>
                                        <p:tgtEl>
                                          <p:spTgt spid="20"/>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anim calcmode="lin" valueType="num">
                                      <p:cBhvr>
                                        <p:cTn id="23" dur="500" decel="100000" fill="hold"/>
                                        <p:tgtEl>
                                          <p:spTgt spid="21"/>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14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anim calcmode="lin" valueType="num">
                                      <p:cBhvr>
                                        <p:cTn id="27" dur="500" decel="100000" fill="hold"/>
                                        <p:tgtEl>
                                          <p:spTgt spid="22"/>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14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anim calcmode="lin" valueType="num">
                                      <p:cBhvr>
                                        <p:cTn id="31" dur="500" decel="100000" fill="hold"/>
                                        <p:tgtEl>
                                          <p:spTgt spid="23"/>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14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anim calcmode="lin" valueType="num">
                                      <p:cBhvr>
                                        <p:cTn id="35" dur="500" decel="100000" fill="hold"/>
                                        <p:tgtEl>
                                          <p:spTgt spid="24"/>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140"/>
                                  </p:stCondLst>
                                  <p:childTnLst>
                                    <p:set>
                                      <p:cBhvr>
                                        <p:cTn id="37" dur="1" fill="hold">
                                          <p:stCondLst>
                                            <p:cond delay="0"/>
                                          </p:stCondLst>
                                        </p:cTn>
                                        <p:tgtEl>
                                          <p:spTgt spid="25"/>
                                        </p:tgtEl>
                                        <p:attrNameLst>
                                          <p:attrName>style.visibility</p:attrName>
                                        </p:attrNameLst>
                                      </p:cBhvr>
                                      <p:to>
                                        <p:strVal val="visible"/>
                                      </p:to>
                                    </p:set>
                                    <p:animEffect transition="in" filter="fade">
                                      <p:cBhvr>
                                        <p:cTn id="38" dur="500"/>
                                        <p:tgtEl>
                                          <p:spTgt spid="25"/>
                                        </p:tgtEl>
                                      </p:cBhvr>
                                    </p:animEffect>
                                    <p:anim calcmode="lin" valueType="num">
                                      <p:cBhvr>
                                        <p:cTn id="39" dur="500" decel="100000" fill="hold"/>
                                        <p:tgtEl>
                                          <p:spTgt spid="25"/>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14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anim calcmode="lin" valueType="num">
                                      <p:cBhvr>
                                        <p:cTn id="43" dur="500" decel="100000" fill="hold"/>
                                        <p:tgtEl>
                                          <p:spTgt spid="26"/>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28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anim calcmode="lin" valueType="num">
                                      <p:cBhvr>
                                        <p:cTn id="47" dur="500" decel="100000" fill="hold"/>
                                        <p:tgtEl>
                                          <p:spTgt spid="27"/>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28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anim calcmode="lin" valueType="num">
                                      <p:cBhvr>
                                        <p:cTn id="51" dur="500" decel="100000" fill="hold"/>
                                        <p:tgtEl>
                                          <p:spTgt spid="28"/>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280"/>
                                  </p:stCondLst>
                                  <p:childTnLst>
                                    <p:set>
                                      <p:cBhvr>
                                        <p:cTn id="53" dur="1" fill="hold">
                                          <p:stCondLst>
                                            <p:cond delay="0"/>
                                          </p:stCondLst>
                                        </p:cTn>
                                        <p:tgtEl>
                                          <p:spTgt spid="29"/>
                                        </p:tgtEl>
                                        <p:attrNameLst>
                                          <p:attrName>style.visibility</p:attrName>
                                        </p:attrNameLst>
                                      </p:cBhvr>
                                      <p:to>
                                        <p:strVal val="visible"/>
                                      </p:to>
                                    </p:set>
                                    <p:animEffect transition="in" filter="fade">
                                      <p:cBhvr>
                                        <p:cTn id="54" dur="500"/>
                                        <p:tgtEl>
                                          <p:spTgt spid="29"/>
                                        </p:tgtEl>
                                      </p:cBhvr>
                                    </p:animEffect>
                                    <p:anim calcmode="lin" valueType="num">
                                      <p:cBhvr>
                                        <p:cTn id="55" dur="500" decel="100000" fill="hold"/>
                                        <p:tgtEl>
                                          <p:spTgt spid="29"/>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28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500"/>
                                        <p:tgtEl>
                                          <p:spTgt spid="30"/>
                                        </p:tgtEl>
                                      </p:cBhvr>
                                    </p:animEffect>
                                    <p:anim calcmode="lin" valueType="num">
                                      <p:cBhvr>
                                        <p:cTn id="59" dur="500" decel="100000" fill="hold"/>
                                        <p:tgtEl>
                                          <p:spTgt spid="30"/>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36"/>
                                        </p:tgtEl>
                                        <p:attrNameLst>
                                          <p:attrName>style.visibility</p:attrName>
                                        </p:attrNameLst>
                                      </p:cBhvr>
                                      <p:to>
                                        <p:strVal val="visible"/>
                                      </p:to>
                                    </p:set>
                                    <p:animEffect transition="in" filter="fade">
                                      <p:cBhvr>
                                        <p:cTn id="62" dur="500"/>
                                        <p:tgtEl>
                                          <p:spTgt spid="36"/>
                                        </p:tgtEl>
                                      </p:cBhvr>
                                    </p:animEffect>
                                    <p:anim calcmode="lin" valueType="num">
                                      <p:cBhvr>
                                        <p:cTn id="63" dur="500" decel="100000" fill="hold"/>
                                        <p:tgtEl>
                                          <p:spTgt spid="36"/>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420"/>
                                  </p:stCondLst>
                                  <p:childTnLst>
                                    <p:set>
                                      <p:cBhvr>
                                        <p:cTn id="65" dur="1" fill="hold">
                                          <p:stCondLst>
                                            <p:cond delay="0"/>
                                          </p:stCondLst>
                                        </p:cTn>
                                        <p:tgtEl>
                                          <p:spTgt spid="37"/>
                                        </p:tgtEl>
                                        <p:attrNameLst>
                                          <p:attrName>style.visibility</p:attrName>
                                        </p:attrNameLst>
                                      </p:cBhvr>
                                      <p:to>
                                        <p:strVal val="visible"/>
                                      </p:to>
                                    </p:set>
                                    <p:animEffect transition="in" filter="fade">
                                      <p:cBhvr>
                                        <p:cTn id="66" dur="500"/>
                                        <p:tgtEl>
                                          <p:spTgt spid="37"/>
                                        </p:tgtEl>
                                      </p:cBhvr>
                                    </p:animEffect>
                                    <p:anim calcmode="lin" valueType="num">
                                      <p:cBhvr>
                                        <p:cTn id="67" dur="500" decel="100000" fill="hold"/>
                                        <p:tgtEl>
                                          <p:spTgt spid="37"/>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560"/>
                                  </p:stCondLst>
                                  <p:childTnLst>
                                    <p:set>
                                      <p:cBhvr>
                                        <p:cTn id="69" dur="1" fill="hold">
                                          <p:stCondLst>
                                            <p:cond delay="0"/>
                                          </p:stCondLst>
                                        </p:cTn>
                                        <p:tgtEl>
                                          <p:spTgt spid="38"/>
                                        </p:tgtEl>
                                        <p:attrNameLst>
                                          <p:attrName>style.visibility</p:attrName>
                                        </p:attrNameLst>
                                      </p:cBhvr>
                                      <p:to>
                                        <p:strVal val="visible"/>
                                      </p:to>
                                    </p:set>
                                    <p:animEffect transition="in" filter="fade">
                                      <p:cBhvr>
                                        <p:cTn id="70" dur="500"/>
                                        <p:tgtEl>
                                          <p:spTgt spid="38"/>
                                        </p:tgtEl>
                                      </p:cBhvr>
                                    </p:animEffect>
                                    <p:anim calcmode="lin" valueType="num">
                                      <p:cBhvr>
                                        <p:cTn id="71" dur="500" decel="100000" fill="hold"/>
                                        <p:tgtEl>
                                          <p:spTgt spid="38"/>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56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500"/>
                                        <p:tgtEl>
                                          <p:spTgt spid="39"/>
                                        </p:tgtEl>
                                      </p:cBhvr>
                                    </p:animEffect>
                                    <p:anim calcmode="lin" valueType="num">
                                      <p:cBhvr>
                                        <p:cTn id="75" dur="500" decel="100000" fill="hold"/>
                                        <p:tgtEl>
                                          <p:spTgt spid="39"/>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560"/>
                                  </p:stCondLst>
                                  <p:childTnLst>
                                    <p:set>
                                      <p:cBhvr>
                                        <p:cTn id="77" dur="1" fill="hold">
                                          <p:stCondLst>
                                            <p:cond delay="0"/>
                                          </p:stCondLst>
                                        </p:cTn>
                                        <p:tgtEl>
                                          <p:spTgt spid="40"/>
                                        </p:tgtEl>
                                        <p:attrNameLst>
                                          <p:attrName>style.visibility</p:attrName>
                                        </p:attrNameLst>
                                      </p:cBhvr>
                                      <p:to>
                                        <p:strVal val="visible"/>
                                      </p:to>
                                    </p:set>
                                    <p:animEffect transition="in" filter="fade">
                                      <p:cBhvr>
                                        <p:cTn id="78" dur="500"/>
                                        <p:tgtEl>
                                          <p:spTgt spid="40"/>
                                        </p:tgtEl>
                                      </p:cBhvr>
                                    </p:animEffect>
                                    <p:anim calcmode="lin" valueType="num">
                                      <p:cBhvr>
                                        <p:cTn id="79" dur="500" decel="100000" fill="hold"/>
                                        <p:tgtEl>
                                          <p:spTgt spid="40"/>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70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500"/>
                                        <p:tgtEl>
                                          <p:spTgt spid="41"/>
                                        </p:tgtEl>
                                      </p:cBhvr>
                                    </p:animEffect>
                                    <p:anim calcmode="lin" valueType="num">
                                      <p:cBhvr>
                                        <p:cTn id="83" dur="500" decel="100000" fill="hold"/>
                                        <p:tgtEl>
                                          <p:spTgt spid="41"/>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700"/>
                                  </p:stCondLst>
                                  <p:childTnLst>
                                    <p:set>
                                      <p:cBhvr>
                                        <p:cTn id="85" dur="1" fill="hold">
                                          <p:stCondLst>
                                            <p:cond delay="0"/>
                                          </p:stCondLst>
                                        </p:cTn>
                                        <p:tgtEl>
                                          <p:spTgt spid="42"/>
                                        </p:tgtEl>
                                        <p:attrNameLst>
                                          <p:attrName>style.visibility</p:attrName>
                                        </p:attrNameLst>
                                      </p:cBhvr>
                                      <p:to>
                                        <p:strVal val="visible"/>
                                      </p:to>
                                    </p:set>
                                    <p:animEffect transition="in" filter="fade">
                                      <p:cBhvr>
                                        <p:cTn id="86" dur="500"/>
                                        <p:tgtEl>
                                          <p:spTgt spid="42"/>
                                        </p:tgtEl>
                                      </p:cBhvr>
                                    </p:animEffect>
                                    <p:anim calcmode="lin" valueType="num">
                                      <p:cBhvr>
                                        <p:cTn id="87" dur="500" decel="100000" fill="hold"/>
                                        <p:tgtEl>
                                          <p:spTgt spid="42"/>
                                        </p:tgtEl>
                                        <p:attrNameLst>
                                          <p:attrName>ppt_y</p:attrName>
                                        </p:attrNameLst>
                                      </p:cBhvr>
                                      <p:tavLst>
                                        <p:tav tm="0">
                                          <p:val>
                                            <p:strVal val="#ppt_y+0.04"/>
                                          </p:val>
                                        </p:tav>
                                        <p:tav tm="100000">
                                          <p:val>
                                            <p:strVal val="#ppt_y"/>
                                          </p:val>
                                        </p:tav>
                                      </p:tavLst>
                                    </p:anim>
                                  </p:childTnLst>
                                </p:cTn>
                              </p:par>
                              <p:par>
                                <p:cTn id="88" presetID="42" presetClass="entr" presetSubtype="0" fill="hold" grpId="0" nodeType="withEffect">
                                  <p:stCondLst>
                                    <p:cond delay="70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500"/>
                                        <p:tgtEl>
                                          <p:spTgt spid="43"/>
                                        </p:tgtEl>
                                      </p:cBhvr>
                                    </p:animEffect>
                                    <p:anim calcmode="lin" valueType="num">
                                      <p:cBhvr>
                                        <p:cTn id="91" dur="500" decel="100000" fill="hold"/>
                                        <p:tgtEl>
                                          <p:spTgt spid="43"/>
                                        </p:tgtEl>
                                        <p:attrNameLst>
                                          <p:attrName>ppt_y</p:attrName>
                                        </p:attrNameLst>
                                      </p:cBhvr>
                                      <p:tavLst>
                                        <p:tav tm="0">
                                          <p:val>
                                            <p:strVal val="#ppt_y+0.04"/>
                                          </p:val>
                                        </p:tav>
                                        <p:tav tm="100000">
                                          <p:val>
                                            <p:strVal val="#ppt_y"/>
                                          </p:val>
                                        </p:tav>
                                      </p:tavLst>
                                    </p:anim>
                                  </p:childTnLst>
                                </p:cTn>
                              </p:par>
                              <p:par>
                                <p:cTn id="92" presetID="42" presetClass="entr" presetSubtype="0" fill="hold" grpId="0" nodeType="withEffect">
                                  <p:stCondLst>
                                    <p:cond delay="840"/>
                                  </p:stCondLst>
                                  <p:childTnLst>
                                    <p:set>
                                      <p:cBhvr>
                                        <p:cTn id="93" dur="1" fill="hold">
                                          <p:stCondLst>
                                            <p:cond delay="0"/>
                                          </p:stCondLst>
                                        </p:cTn>
                                        <p:tgtEl>
                                          <p:spTgt spid="44"/>
                                        </p:tgtEl>
                                        <p:attrNameLst>
                                          <p:attrName>style.visibility</p:attrName>
                                        </p:attrNameLst>
                                      </p:cBhvr>
                                      <p:to>
                                        <p:strVal val="visible"/>
                                      </p:to>
                                    </p:set>
                                    <p:animEffect transition="in" filter="fade">
                                      <p:cBhvr>
                                        <p:cTn id="94" dur="500"/>
                                        <p:tgtEl>
                                          <p:spTgt spid="44"/>
                                        </p:tgtEl>
                                      </p:cBhvr>
                                    </p:animEffect>
                                    <p:anim calcmode="lin" valueType="num">
                                      <p:cBhvr>
                                        <p:cTn id="95" dur="500" decel="100000" fill="hold"/>
                                        <p:tgtEl>
                                          <p:spTgt spid="44"/>
                                        </p:tgtEl>
                                        <p:attrNameLst>
                                          <p:attrName>ppt_y</p:attrName>
                                        </p:attrNameLst>
                                      </p:cBhvr>
                                      <p:tavLst>
                                        <p:tav tm="0">
                                          <p:val>
                                            <p:strVal val="#ppt_y+0.04"/>
                                          </p:val>
                                        </p:tav>
                                        <p:tav tm="100000">
                                          <p:val>
                                            <p:strVal val="#ppt_y"/>
                                          </p:val>
                                        </p:tav>
                                      </p:tavLst>
                                    </p:anim>
                                  </p:childTnLst>
                                </p:cTn>
                              </p:par>
                              <p:par>
                                <p:cTn id="96" presetID="42" presetClass="entr" presetSubtype="0" fill="hold" grpId="0" nodeType="withEffect">
                                  <p:stCondLst>
                                    <p:cond delay="840"/>
                                  </p:stCondLst>
                                  <p:childTnLst>
                                    <p:set>
                                      <p:cBhvr>
                                        <p:cTn id="97" dur="1" fill="hold">
                                          <p:stCondLst>
                                            <p:cond delay="0"/>
                                          </p:stCondLst>
                                        </p:cTn>
                                        <p:tgtEl>
                                          <p:spTgt spid="45"/>
                                        </p:tgtEl>
                                        <p:attrNameLst>
                                          <p:attrName>style.visibility</p:attrName>
                                        </p:attrNameLst>
                                      </p:cBhvr>
                                      <p:to>
                                        <p:strVal val="visible"/>
                                      </p:to>
                                    </p:set>
                                    <p:animEffect transition="in" filter="fade">
                                      <p:cBhvr>
                                        <p:cTn id="98" dur="500"/>
                                        <p:tgtEl>
                                          <p:spTgt spid="45"/>
                                        </p:tgtEl>
                                      </p:cBhvr>
                                    </p:animEffect>
                                    <p:anim calcmode="lin" valueType="num">
                                      <p:cBhvr>
                                        <p:cTn id="99" dur="500" decel="100000" fill="hold"/>
                                        <p:tgtEl>
                                          <p:spTgt spid="45"/>
                                        </p:tgtEl>
                                        <p:attrNameLst>
                                          <p:attrName>ppt_y</p:attrName>
                                        </p:attrNameLst>
                                      </p:cBhvr>
                                      <p:tavLst>
                                        <p:tav tm="0">
                                          <p:val>
                                            <p:strVal val="#ppt_y+0.04"/>
                                          </p:val>
                                        </p:tav>
                                        <p:tav tm="100000">
                                          <p:val>
                                            <p:strVal val="#ppt_y"/>
                                          </p:val>
                                        </p:tav>
                                      </p:tavLst>
                                    </p:anim>
                                  </p:childTnLst>
                                </p:cTn>
                              </p:par>
                              <p:par>
                                <p:cTn id="100" presetID="42" presetClass="entr" presetSubtype="0" fill="hold" grpId="0" nodeType="withEffect">
                                  <p:stCondLst>
                                    <p:cond delay="840"/>
                                  </p:stCondLst>
                                  <p:childTnLst>
                                    <p:set>
                                      <p:cBhvr>
                                        <p:cTn id="101" dur="1" fill="hold">
                                          <p:stCondLst>
                                            <p:cond delay="0"/>
                                          </p:stCondLst>
                                        </p:cTn>
                                        <p:tgtEl>
                                          <p:spTgt spid="46"/>
                                        </p:tgtEl>
                                        <p:attrNameLst>
                                          <p:attrName>style.visibility</p:attrName>
                                        </p:attrNameLst>
                                      </p:cBhvr>
                                      <p:to>
                                        <p:strVal val="visible"/>
                                      </p:to>
                                    </p:set>
                                    <p:animEffect transition="in" filter="fade">
                                      <p:cBhvr>
                                        <p:cTn id="102" dur="500"/>
                                        <p:tgtEl>
                                          <p:spTgt spid="46"/>
                                        </p:tgtEl>
                                      </p:cBhvr>
                                    </p:animEffect>
                                    <p:anim calcmode="lin" valueType="num">
                                      <p:cBhvr>
                                        <p:cTn id="103" dur="500" decel="100000" fill="hold"/>
                                        <p:tgtEl>
                                          <p:spTgt spid="46"/>
                                        </p:tgtEl>
                                        <p:attrNameLst>
                                          <p:attrName>ppt_y</p:attrName>
                                        </p:attrNameLst>
                                      </p:cBhvr>
                                      <p:tavLst>
                                        <p:tav tm="0">
                                          <p:val>
                                            <p:strVal val="#ppt_y+0.04"/>
                                          </p:val>
                                        </p:tav>
                                        <p:tav tm="100000">
                                          <p:val>
                                            <p:strVal val="#ppt_y"/>
                                          </p:val>
                                        </p:tav>
                                      </p:tavLst>
                                    </p:anim>
                                  </p:childTnLst>
                                </p:cTn>
                              </p:par>
                              <p:par>
                                <p:cTn id="104" presetID="42" presetClass="entr" presetSubtype="0" fill="hold" grpId="0" nodeType="withEffect">
                                  <p:stCondLst>
                                    <p:cond delay="980"/>
                                  </p:stCondLst>
                                  <p:childTnLst>
                                    <p:set>
                                      <p:cBhvr>
                                        <p:cTn id="105" dur="1" fill="hold">
                                          <p:stCondLst>
                                            <p:cond delay="0"/>
                                          </p:stCondLst>
                                        </p:cTn>
                                        <p:tgtEl>
                                          <p:spTgt spid="47"/>
                                        </p:tgtEl>
                                        <p:attrNameLst>
                                          <p:attrName>style.visibility</p:attrName>
                                        </p:attrNameLst>
                                      </p:cBhvr>
                                      <p:to>
                                        <p:strVal val="visible"/>
                                      </p:to>
                                    </p:set>
                                    <p:animEffect transition="in" filter="fade">
                                      <p:cBhvr>
                                        <p:cTn id="106" dur="500"/>
                                        <p:tgtEl>
                                          <p:spTgt spid="47"/>
                                        </p:tgtEl>
                                      </p:cBhvr>
                                    </p:animEffect>
                                    <p:anim calcmode="lin" valueType="num">
                                      <p:cBhvr>
                                        <p:cTn id="107" dur="500" decel="100000" fill="hold"/>
                                        <p:tgtEl>
                                          <p:spTgt spid="47"/>
                                        </p:tgtEl>
                                        <p:attrNameLst>
                                          <p:attrName>ppt_y</p:attrName>
                                        </p:attrNameLst>
                                      </p:cBhvr>
                                      <p:tavLst>
                                        <p:tav tm="0">
                                          <p:val>
                                            <p:strVal val="#ppt_y+0.04"/>
                                          </p:val>
                                        </p:tav>
                                        <p:tav tm="100000">
                                          <p:val>
                                            <p:strVal val="#ppt_y"/>
                                          </p:val>
                                        </p:tav>
                                      </p:tavLst>
                                    </p:anim>
                                  </p:childTnLst>
                                </p:cTn>
                              </p:par>
                              <p:par>
                                <p:cTn id="108" presetID="42" presetClass="entr" presetSubtype="0" fill="hold" grpId="0" nodeType="withEffect">
                                  <p:stCondLst>
                                    <p:cond delay="980"/>
                                  </p:stCondLst>
                                  <p:childTnLst>
                                    <p:set>
                                      <p:cBhvr>
                                        <p:cTn id="109" dur="1" fill="hold">
                                          <p:stCondLst>
                                            <p:cond delay="0"/>
                                          </p:stCondLst>
                                        </p:cTn>
                                        <p:tgtEl>
                                          <p:spTgt spid="48"/>
                                        </p:tgtEl>
                                        <p:attrNameLst>
                                          <p:attrName>style.visibility</p:attrName>
                                        </p:attrNameLst>
                                      </p:cBhvr>
                                      <p:to>
                                        <p:strVal val="visible"/>
                                      </p:to>
                                    </p:set>
                                    <p:animEffect transition="in" filter="fade">
                                      <p:cBhvr>
                                        <p:cTn id="110" dur="500"/>
                                        <p:tgtEl>
                                          <p:spTgt spid="48"/>
                                        </p:tgtEl>
                                      </p:cBhvr>
                                    </p:animEffect>
                                    <p:anim calcmode="lin" valueType="num">
                                      <p:cBhvr>
                                        <p:cTn id="111" dur="500" decel="100000" fill="hold"/>
                                        <p:tgtEl>
                                          <p:spTgt spid="48"/>
                                        </p:tgtEl>
                                        <p:attrNameLst>
                                          <p:attrName>ppt_y</p:attrName>
                                        </p:attrNameLst>
                                      </p:cBhvr>
                                      <p:tavLst>
                                        <p:tav tm="0">
                                          <p:val>
                                            <p:strVal val="#ppt_y+0.04"/>
                                          </p:val>
                                        </p:tav>
                                        <p:tav tm="100000">
                                          <p:val>
                                            <p:strVal val="#ppt_y"/>
                                          </p:val>
                                        </p:tav>
                                      </p:tavLst>
                                    </p:anim>
                                  </p:childTnLst>
                                </p:cTn>
                              </p:par>
                              <p:par>
                                <p:cTn id="112" presetID="42" presetClass="entr" presetSubtype="0" fill="hold" grpId="0" nodeType="withEffect">
                                  <p:stCondLst>
                                    <p:cond delay="980"/>
                                  </p:stCondLst>
                                  <p:childTnLst>
                                    <p:set>
                                      <p:cBhvr>
                                        <p:cTn id="113" dur="1" fill="hold">
                                          <p:stCondLst>
                                            <p:cond delay="0"/>
                                          </p:stCondLst>
                                        </p:cTn>
                                        <p:tgtEl>
                                          <p:spTgt spid="49"/>
                                        </p:tgtEl>
                                        <p:attrNameLst>
                                          <p:attrName>style.visibility</p:attrName>
                                        </p:attrNameLst>
                                      </p:cBhvr>
                                      <p:to>
                                        <p:strVal val="visible"/>
                                      </p:to>
                                    </p:set>
                                    <p:animEffect transition="in" filter="fade">
                                      <p:cBhvr>
                                        <p:cTn id="114" dur="500"/>
                                        <p:tgtEl>
                                          <p:spTgt spid="49"/>
                                        </p:tgtEl>
                                      </p:cBhvr>
                                    </p:animEffect>
                                    <p:anim calcmode="lin" valueType="num">
                                      <p:cBhvr>
                                        <p:cTn id="115" dur="500" decel="100000" fill="hold"/>
                                        <p:tgtEl>
                                          <p:spTgt spid="49"/>
                                        </p:tgtEl>
                                        <p:attrNameLst>
                                          <p:attrName>ppt_y</p:attrName>
                                        </p:attrNameLst>
                                      </p:cBhvr>
                                      <p:tavLst>
                                        <p:tav tm="0">
                                          <p:val>
                                            <p:strVal val="#ppt_y+0.04"/>
                                          </p:val>
                                        </p:tav>
                                        <p:tav tm="100000">
                                          <p:val>
                                            <p:strVal val="#ppt_y"/>
                                          </p:val>
                                        </p:tav>
                                      </p:tavLst>
                                    </p:anim>
                                  </p:childTnLst>
                                </p:cTn>
                              </p:par>
                              <p:par>
                                <p:cTn id="116" presetID="42" presetClass="entr" presetSubtype="0" fill="hold" grpId="0" nodeType="withEffect">
                                  <p:stCondLst>
                                    <p:cond delay="1120"/>
                                  </p:stCondLst>
                                  <p:childTnLst>
                                    <p:set>
                                      <p:cBhvr>
                                        <p:cTn id="117" dur="1" fill="hold">
                                          <p:stCondLst>
                                            <p:cond delay="0"/>
                                          </p:stCondLst>
                                        </p:cTn>
                                        <p:tgtEl>
                                          <p:spTgt spid="50"/>
                                        </p:tgtEl>
                                        <p:attrNameLst>
                                          <p:attrName>style.visibility</p:attrName>
                                        </p:attrNameLst>
                                      </p:cBhvr>
                                      <p:to>
                                        <p:strVal val="visible"/>
                                      </p:to>
                                    </p:set>
                                    <p:animEffect transition="in" filter="fade">
                                      <p:cBhvr>
                                        <p:cTn id="118" dur="500"/>
                                        <p:tgtEl>
                                          <p:spTgt spid="50"/>
                                        </p:tgtEl>
                                      </p:cBhvr>
                                    </p:animEffect>
                                    <p:anim calcmode="lin" valueType="num">
                                      <p:cBhvr>
                                        <p:cTn id="119" dur="500" decel="100000" fill="hold"/>
                                        <p:tgtEl>
                                          <p:spTgt spid="50"/>
                                        </p:tgtEl>
                                        <p:attrNameLst>
                                          <p:attrName>ppt_y</p:attrName>
                                        </p:attrNameLst>
                                      </p:cBhvr>
                                      <p:tavLst>
                                        <p:tav tm="0">
                                          <p:val>
                                            <p:strVal val="#ppt_y+0.04"/>
                                          </p:val>
                                        </p:tav>
                                        <p:tav tm="100000">
                                          <p:val>
                                            <p:strVal val="#ppt_y"/>
                                          </p:val>
                                        </p:tav>
                                      </p:tavLst>
                                    </p:anim>
                                  </p:childTnLst>
                                </p:cTn>
                              </p:par>
                              <p:par>
                                <p:cTn id="120" presetID="42" presetClass="entr" presetSubtype="0" fill="hold" grpId="0" nodeType="withEffect">
                                  <p:stCondLst>
                                    <p:cond delay="1120"/>
                                  </p:stCondLst>
                                  <p:childTnLst>
                                    <p:set>
                                      <p:cBhvr>
                                        <p:cTn id="121" dur="1" fill="hold">
                                          <p:stCondLst>
                                            <p:cond delay="0"/>
                                          </p:stCondLst>
                                        </p:cTn>
                                        <p:tgtEl>
                                          <p:spTgt spid="51"/>
                                        </p:tgtEl>
                                        <p:attrNameLst>
                                          <p:attrName>style.visibility</p:attrName>
                                        </p:attrNameLst>
                                      </p:cBhvr>
                                      <p:to>
                                        <p:strVal val="visible"/>
                                      </p:to>
                                    </p:set>
                                    <p:animEffect transition="in" filter="fade">
                                      <p:cBhvr>
                                        <p:cTn id="122" dur="500"/>
                                        <p:tgtEl>
                                          <p:spTgt spid="51"/>
                                        </p:tgtEl>
                                      </p:cBhvr>
                                    </p:animEffect>
                                    <p:anim calcmode="lin" valueType="num">
                                      <p:cBhvr>
                                        <p:cTn id="123" dur="500" decel="100000" fill="hold"/>
                                        <p:tgtEl>
                                          <p:spTgt spid="51"/>
                                        </p:tgtEl>
                                        <p:attrNameLst>
                                          <p:attrName>ppt_y</p:attrName>
                                        </p:attrNameLst>
                                      </p:cBhvr>
                                      <p:tavLst>
                                        <p:tav tm="0">
                                          <p:val>
                                            <p:strVal val="#ppt_y+0.04"/>
                                          </p:val>
                                        </p:tav>
                                        <p:tav tm="100000">
                                          <p:val>
                                            <p:strVal val="#ppt_y"/>
                                          </p:val>
                                        </p:tav>
                                      </p:tavLst>
                                    </p:anim>
                                  </p:childTnLst>
                                </p:cTn>
                              </p:par>
                              <p:par>
                                <p:cTn id="124" presetID="42" presetClass="entr" presetSubtype="0" fill="hold" grpId="0" nodeType="withEffect">
                                  <p:stCondLst>
                                    <p:cond delay="1120"/>
                                  </p:stCondLst>
                                  <p:childTnLst>
                                    <p:set>
                                      <p:cBhvr>
                                        <p:cTn id="125" dur="1" fill="hold">
                                          <p:stCondLst>
                                            <p:cond delay="0"/>
                                          </p:stCondLst>
                                        </p:cTn>
                                        <p:tgtEl>
                                          <p:spTgt spid="52"/>
                                        </p:tgtEl>
                                        <p:attrNameLst>
                                          <p:attrName>style.visibility</p:attrName>
                                        </p:attrNameLst>
                                      </p:cBhvr>
                                      <p:to>
                                        <p:strVal val="visible"/>
                                      </p:to>
                                    </p:set>
                                    <p:animEffect transition="in" filter="fade">
                                      <p:cBhvr>
                                        <p:cTn id="126" dur="500"/>
                                        <p:tgtEl>
                                          <p:spTgt spid="52"/>
                                        </p:tgtEl>
                                      </p:cBhvr>
                                    </p:animEffect>
                                    <p:anim calcmode="lin" valueType="num">
                                      <p:cBhvr>
                                        <p:cTn id="127" dur="500" decel="100000" fill="hold"/>
                                        <p:tgtEl>
                                          <p:spTgt spid="52"/>
                                        </p:tgtEl>
                                        <p:attrNameLst>
                                          <p:attrName>ppt_y</p:attrName>
                                        </p:attrNameLst>
                                      </p:cBhvr>
                                      <p:tavLst>
                                        <p:tav tm="0">
                                          <p:val>
                                            <p:strVal val="#ppt_y+0.04"/>
                                          </p:val>
                                        </p:tav>
                                        <p:tav tm="100000">
                                          <p:val>
                                            <p:strVal val="#ppt_y"/>
                                          </p:val>
                                        </p:tav>
                                      </p:tavLst>
                                    </p:anim>
                                  </p:childTnLst>
                                </p:cTn>
                              </p:par>
                              <p:par>
                                <p:cTn id="128" presetID="42" presetClass="entr" presetSubtype="0" fill="hold" grpId="0" nodeType="withEffect">
                                  <p:stCondLst>
                                    <p:cond delay="1260"/>
                                  </p:stCondLst>
                                  <p:childTnLst>
                                    <p:set>
                                      <p:cBhvr>
                                        <p:cTn id="129" dur="1" fill="hold">
                                          <p:stCondLst>
                                            <p:cond delay="0"/>
                                          </p:stCondLst>
                                        </p:cTn>
                                        <p:tgtEl>
                                          <p:spTgt spid="53"/>
                                        </p:tgtEl>
                                        <p:attrNameLst>
                                          <p:attrName>style.visibility</p:attrName>
                                        </p:attrNameLst>
                                      </p:cBhvr>
                                      <p:to>
                                        <p:strVal val="visible"/>
                                      </p:to>
                                    </p:set>
                                    <p:animEffect transition="in" filter="fade">
                                      <p:cBhvr>
                                        <p:cTn id="130" dur="500"/>
                                        <p:tgtEl>
                                          <p:spTgt spid="53"/>
                                        </p:tgtEl>
                                      </p:cBhvr>
                                    </p:animEffect>
                                    <p:anim calcmode="lin" valueType="num">
                                      <p:cBhvr>
                                        <p:cTn id="131" dur="500" decel="100000" fill="hold"/>
                                        <p:tgtEl>
                                          <p:spTgt spid="53"/>
                                        </p:tgtEl>
                                        <p:attrNameLst>
                                          <p:attrName>ppt_y</p:attrName>
                                        </p:attrNameLst>
                                      </p:cBhvr>
                                      <p:tavLst>
                                        <p:tav tm="0">
                                          <p:val>
                                            <p:strVal val="#ppt_y+0.04"/>
                                          </p:val>
                                        </p:tav>
                                        <p:tav tm="100000">
                                          <p:val>
                                            <p:strVal val="#ppt_y"/>
                                          </p:val>
                                        </p:tav>
                                      </p:tavLst>
                                    </p:anim>
                                  </p:childTnLst>
                                </p:cTn>
                              </p:par>
                              <p:par>
                                <p:cTn id="132" presetID="42" presetClass="entr" presetSubtype="0" fill="hold" grpId="0" nodeType="withEffect">
                                  <p:stCondLst>
                                    <p:cond delay="1260"/>
                                  </p:stCondLst>
                                  <p:childTnLst>
                                    <p:set>
                                      <p:cBhvr>
                                        <p:cTn id="133" dur="1" fill="hold">
                                          <p:stCondLst>
                                            <p:cond delay="0"/>
                                          </p:stCondLst>
                                        </p:cTn>
                                        <p:tgtEl>
                                          <p:spTgt spid="54"/>
                                        </p:tgtEl>
                                        <p:attrNameLst>
                                          <p:attrName>style.visibility</p:attrName>
                                        </p:attrNameLst>
                                      </p:cBhvr>
                                      <p:to>
                                        <p:strVal val="visible"/>
                                      </p:to>
                                    </p:set>
                                    <p:animEffect transition="in" filter="fade">
                                      <p:cBhvr>
                                        <p:cTn id="134" dur="500"/>
                                        <p:tgtEl>
                                          <p:spTgt spid="54"/>
                                        </p:tgtEl>
                                      </p:cBhvr>
                                    </p:animEffect>
                                    <p:anim calcmode="lin" valueType="num">
                                      <p:cBhvr>
                                        <p:cTn id="135" dur="500" decel="100000" fill="hold"/>
                                        <p:tgtEl>
                                          <p:spTgt spid="54"/>
                                        </p:tgtEl>
                                        <p:attrNameLst>
                                          <p:attrName>ppt_y</p:attrName>
                                        </p:attrNameLst>
                                      </p:cBhvr>
                                      <p:tavLst>
                                        <p:tav tm="0">
                                          <p:val>
                                            <p:strVal val="#ppt_y+0.04"/>
                                          </p:val>
                                        </p:tav>
                                        <p:tav tm="100000">
                                          <p:val>
                                            <p:strVal val="#ppt_y"/>
                                          </p:val>
                                        </p:tav>
                                      </p:tavLst>
                                    </p:anim>
                                  </p:childTnLst>
                                </p:cTn>
                              </p:par>
                              <p:par>
                                <p:cTn id="136" presetID="42" presetClass="entr" presetSubtype="0" fill="hold" grpId="0" nodeType="withEffect">
                                  <p:stCondLst>
                                    <p:cond delay="1260"/>
                                  </p:stCondLst>
                                  <p:childTnLst>
                                    <p:set>
                                      <p:cBhvr>
                                        <p:cTn id="137" dur="1" fill="hold">
                                          <p:stCondLst>
                                            <p:cond delay="0"/>
                                          </p:stCondLst>
                                        </p:cTn>
                                        <p:tgtEl>
                                          <p:spTgt spid="55"/>
                                        </p:tgtEl>
                                        <p:attrNameLst>
                                          <p:attrName>style.visibility</p:attrName>
                                        </p:attrNameLst>
                                      </p:cBhvr>
                                      <p:to>
                                        <p:strVal val="visible"/>
                                      </p:to>
                                    </p:set>
                                    <p:animEffect transition="in" filter="fade">
                                      <p:cBhvr>
                                        <p:cTn id="138" dur="500"/>
                                        <p:tgtEl>
                                          <p:spTgt spid="55"/>
                                        </p:tgtEl>
                                      </p:cBhvr>
                                    </p:animEffect>
                                    <p:anim calcmode="lin" valueType="num">
                                      <p:cBhvr>
                                        <p:cTn id="139" dur="500" decel="100000" fill="hold"/>
                                        <p:tgtEl>
                                          <p:spTgt spid="55"/>
                                        </p:tgtEl>
                                        <p:attrNameLst>
                                          <p:attrName>ppt_y</p:attrName>
                                        </p:attrNameLst>
                                      </p:cBhvr>
                                      <p:tavLst>
                                        <p:tav tm="0">
                                          <p:val>
                                            <p:strVal val="#ppt_y+0.04"/>
                                          </p:val>
                                        </p:tav>
                                        <p:tav tm="100000">
                                          <p:val>
                                            <p:strVal val="#ppt_y"/>
                                          </p:val>
                                        </p:tav>
                                      </p:tavLst>
                                    </p:anim>
                                  </p:childTnLst>
                                </p:cTn>
                              </p:par>
                              <p:par>
                                <p:cTn id="140" presetID="42" presetClass="entr" presetSubtype="0" fill="hold" grpId="0" nodeType="withEffect">
                                  <p:stCondLst>
                                    <p:cond delay="1400"/>
                                  </p:stCondLst>
                                  <p:childTnLst>
                                    <p:set>
                                      <p:cBhvr>
                                        <p:cTn id="141" dur="1" fill="hold">
                                          <p:stCondLst>
                                            <p:cond delay="0"/>
                                          </p:stCondLst>
                                        </p:cTn>
                                        <p:tgtEl>
                                          <p:spTgt spid="56"/>
                                        </p:tgtEl>
                                        <p:attrNameLst>
                                          <p:attrName>style.visibility</p:attrName>
                                        </p:attrNameLst>
                                      </p:cBhvr>
                                      <p:to>
                                        <p:strVal val="visible"/>
                                      </p:to>
                                    </p:set>
                                    <p:animEffect transition="in" filter="fade">
                                      <p:cBhvr>
                                        <p:cTn id="142" dur="500"/>
                                        <p:tgtEl>
                                          <p:spTgt spid="56"/>
                                        </p:tgtEl>
                                      </p:cBhvr>
                                    </p:animEffect>
                                    <p:anim calcmode="lin" valueType="num">
                                      <p:cBhvr>
                                        <p:cTn id="143" dur="500" decel="100000" fill="hold"/>
                                        <p:tgtEl>
                                          <p:spTgt spid="56"/>
                                        </p:tgtEl>
                                        <p:attrNameLst>
                                          <p:attrName>ppt_y</p:attrName>
                                        </p:attrNameLst>
                                      </p:cBhvr>
                                      <p:tavLst>
                                        <p:tav tm="0">
                                          <p:val>
                                            <p:strVal val="#ppt_y+0.04"/>
                                          </p:val>
                                        </p:tav>
                                        <p:tav tm="100000">
                                          <p:val>
                                            <p:strVal val="#ppt_y"/>
                                          </p:val>
                                        </p:tav>
                                      </p:tavLst>
                                    </p:anim>
                                  </p:childTnLst>
                                </p:cTn>
                              </p:par>
                              <p:par>
                                <p:cTn id="144" presetID="42" presetClass="entr" presetSubtype="0" fill="hold" grpId="0" nodeType="withEffect">
                                  <p:stCondLst>
                                    <p:cond delay="1540"/>
                                  </p:stCondLst>
                                  <p:childTnLst>
                                    <p:set>
                                      <p:cBhvr>
                                        <p:cTn id="145" dur="1" fill="hold">
                                          <p:stCondLst>
                                            <p:cond delay="0"/>
                                          </p:stCondLst>
                                        </p:cTn>
                                        <p:tgtEl>
                                          <p:spTgt spid="57"/>
                                        </p:tgtEl>
                                        <p:attrNameLst>
                                          <p:attrName>style.visibility</p:attrName>
                                        </p:attrNameLst>
                                      </p:cBhvr>
                                      <p:to>
                                        <p:strVal val="visible"/>
                                      </p:to>
                                    </p:set>
                                    <p:animEffect transition="in" filter="fade">
                                      <p:cBhvr>
                                        <p:cTn id="146" dur="500"/>
                                        <p:tgtEl>
                                          <p:spTgt spid="57"/>
                                        </p:tgtEl>
                                      </p:cBhvr>
                                    </p:animEffect>
                                    <p:anim calcmode="lin" valueType="num">
                                      <p:cBhvr>
                                        <p:cTn id="147" dur="500" decel="100000" fill="hold"/>
                                        <p:tgtEl>
                                          <p:spTgt spid="57"/>
                                        </p:tgtEl>
                                        <p:attrNameLst>
                                          <p:attrName>ppt_y</p:attrName>
                                        </p:attrNameLst>
                                      </p:cBhvr>
                                      <p:tavLst>
                                        <p:tav tm="0">
                                          <p:val>
                                            <p:strVal val="#ppt_y+0.04"/>
                                          </p:val>
                                        </p:tav>
                                        <p:tav tm="100000">
                                          <p:val>
                                            <p:strVal val="#ppt_y"/>
                                          </p:val>
                                        </p:tav>
                                      </p:tavLst>
                                    </p:anim>
                                  </p:childTnLst>
                                </p:cTn>
                              </p:par>
                              <p:par>
                                <p:cTn id="148" presetID="42" presetClass="entr" presetSubtype="0" fill="hold" grpId="0" nodeType="withEffect">
                                  <p:stCondLst>
                                    <p:cond delay="1540"/>
                                  </p:stCondLst>
                                  <p:childTnLst>
                                    <p:set>
                                      <p:cBhvr>
                                        <p:cTn id="149" dur="1" fill="hold">
                                          <p:stCondLst>
                                            <p:cond delay="0"/>
                                          </p:stCondLst>
                                        </p:cTn>
                                        <p:tgtEl>
                                          <p:spTgt spid="58"/>
                                        </p:tgtEl>
                                        <p:attrNameLst>
                                          <p:attrName>style.visibility</p:attrName>
                                        </p:attrNameLst>
                                      </p:cBhvr>
                                      <p:to>
                                        <p:strVal val="visible"/>
                                      </p:to>
                                    </p:set>
                                    <p:animEffect transition="in" filter="fade">
                                      <p:cBhvr>
                                        <p:cTn id="150" dur="500"/>
                                        <p:tgtEl>
                                          <p:spTgt spid="58"/>
                                        </p:tgtEl>
                                      </p:cBhvr>
                                    </p:animEffect>
                                    <p:anim calcmode="lin" valueType="num">
                                      <p:cBhvr>
                                        <p:cTn id="151" dur="500" decel="100000" fill="hold"/>
                                        <p:tgtEl>
                                          <p:spTgt spid="58"/>
                                        </p:tgtEl>
                                        <p:attrNameLst>
                                          <p:attrName>ppt_y</p:attrName>
                                        </p:attrNameLst>
                                      </p:cBhvr>
                                      <p:tavLst>
                                        <p:tav tm="0">
                                          <p:val>
                                            <p:strVal val="#ppt_y+0.04"/>
                                          </p:val>
                                        </p:tav>
                                        <p:tav tm="100000">
                                          <p:val>
                                            <p:strVal val="#ppt_y"/>
                                          </p:val>
                                        </p:tav>
                                      </p:tavLst>
                                    </p:anim>
                                  </p:childTnLst>
                                </p:cTn>
                              </p:par>
                              <p:par>
                                <p:cTn id="152" presetID="42" presetClass="entr" presetSubtype="0" fill="hold" grpId="0" nodeType="withEffect">
                                  <p:stCondLst>
                                    <p:cond delay="154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500"/>
                                        <p:tgtEl>
                                          <p:spTgt spid="59"/>
                                        </p:tgtEl>
                                      </p:cBhvr>
                                    </p:animEffect>
                                    <p:anim calcmode="lin" valueType="num">
                                      <p:cBhvr>
                                        <p:cTn id="155" dur="500" decel="100000" fill="hold"/>
                                        <p:tgtEl>
                                          <p:spTgt spid="59"/>
                                        </p:tgtEl>
                                        <p:attrNameLst>
                                          <p:attrName>ppt_y</p:attrName>
                                        </p:attrNameLst>
                                      </p:cBhvr>
                                      <p:tavLst>
                                        <p:tav tm="0">
                                          <p:val>
                                            <p:strVal val="#ppt_y+0.04"/>
                                          </p:val>
                                        </p:tav>
                                        <p:tav tm="100000">
                                          <p:val>
                                            <p:strVal val="#ppt_y"/>
                                          </p:val>
                                        </p:tav>
                                      </p:tavLst>
                                    </p:anim>
                                  </p:childTnLst>
                                </p:cTn>
                              </p:par>
                              <p:par>
                                <p:cTn id="156" presetID="42" presetClass="entr" presetSubtype="0" fill="hold" grpId="0" nodeType="withEffect">
                                  <p:stCondLst>
                                    <p:cond delay="1540"/>
                                  </p:stCondLst>
                                  <p:childTnLst>
                                    <p:set>
                                      <p:cBhvr>
                                        <p:cTn id="157" dur="1" fill="hold">
                                          <p:stCondLst>
                                            <p:cond delay="0"/>
                                          </p:stCondLst>
                                        </p:cTn>
                                        <p:tgtEl>
                                          <p:spTgt spid="60"/>
                                        </p:tgtEl>
                                        <p:attrNameLst>
                                          <p:attrName>style.visibility</p:attrName>
                                        </p:attrNameLst>
                                      </p:cBhvr>
                                      <p:to>
                                        <p:strVal val="visible"/>
                                      </p:to>
                                    </p:set>
                                    <p:animEffect transition="in" filter="fade">
                                      <p:cBhvr>
                                        <p:cTn id="158" dur="500"/>
                                        <p:tgtEl>
                                          <p:spTgt spid="60"/>
                                        </p:tgtEl>
                                      </p:cBhvr>
                                    </p:animEffect>
                                    <p:anim calcmode="lin" valueType="num">
                                      <p:cBhvr>
                                        <p:cTn id="159" dur="500" decel="100000" fill="hold"/>
                                        <p:tgtEl>
                                          <p:spTgt spid="60"/>
                                        </p:tgtEl>
                                        <p:attrNameLst>
                                          <p:attrName>ppt_y</p:attrName>
                                        </p:attrNameLst>
                                      </p:cBhvr>
                                      <p:tavLst>
                                        <p:tav tm="0">
                                          <p:val>
                                            <p:strVal val="#ppt_y+0.04"/>
                                          </p:val>
                                        </p:tav>
                                        <p:tav tm="100000">
                                          <p:val>
                                            <p:strVal val="#ppt_y"/>
                                          </p:val>
                                        </p:tav>
                                      </p:tavLst>
                                    </p:anim>
                                  </p:childTnLst>
                                </p:cTn>
                              </p:par>
                              <p:par>
                                <p:cTn id="160" presetID="42" presetClass="entr" presetSubtype="0" fill="hold" grpId="0" nodeType="withEffect">
                                  <p:stCondLst>
                                    <p:cond delay="1540"/>
                                  </p:stCondLst>
                                  <p:childTnLst>
                                    <p:set>
                                      <p:cBhvr>
                                        <p:cTn id="161" dur="1" fill="hold">
                                          <p:stCondLst>
                                            <p:cond delay="0"/>
                                          </p:stCondLst>
                                        </p:cTn>
                                        <p:tgtEl>
                                          <p:spTgt spid="61"/>
                                        </p:tgtEl>
                                        <p:attrNameLst>
                                          <p:attrName>style.visibility</p:attrName>
                                        </p:attrNameLst>
                                      </p:cBhvr>
                                      <p:to>
                                        <p:strVal val="visible"/>
                                      </p:to>
                                    </p:set>
                                    <p:animEffect transition="in" filter="fade">
                                      <p:cBhvr>
                                        <p:cTn id="162" dur="500"/>
                                        <p:tgtEl>
                                          <p:spTgt spid="61"/>
                                        </p:tgtEl>
                                      </p:cBhvr>
                                    </p:animEffect>
                                    <p:anim calcmode="lin" valueType="num">
                                      <p:cBhvr>
                                        <p:cTn id="163" dur="500" decel="100000" fill="hold"/>
                                        <p:tgtEl>
                                          <p:spTgt spid="61"/>
                                        </p:tgtEl>
                                        <p:attrNameLst>
                                          <p:attrName>ppt_y</p:attrName>
                                        </p:attrNameLst>
                                      </p:cBhvr>
                                      <p:tavLst>
                                        <p:tav tm="0">
                                          <p:val>
                                            <p:strVal val="#ppt_y+0.04"/>
                                          </p:val>
                                        </p:tav>
                                        <p:tav tm="100000">
                                          <p:val>
                                            <p:strVal val="#ppt_y"/>
                                          </p:val>
                                        </p:tav>
                                      </p:tavLst>
                                    </p:anim>
                                  </p:childTnLst>
                                </p:cTn>
                              </p:par>
                              <p:par>
                                <p:cTn id="164" presetID="42" presetClass="entr" presetSubtype="0" fill="hold" grpId="0" nodeType="withEffect">
                                  <p:stCondLst>
                                    <p:cond delay="1540"/>
                                  </p:stCondLst>
                                  <p:childTnLst>
                                    <p:set>
                                      <p:cBhvr>
                                        <p:cTn id="165" dur="1" fill="hold">
                                          <p:stCondLst>
                                            <p:cond delay="0"/>
                                          </p:stCondLst>
                                        </p:cTn>
                                        <p:tgtEl>
                                          <p:spTgt spid="62"/>
                                        </p:tgtEl>
                                        <p:attrNameLst>
                                          <p:attrName>style.visibility</p:attrName>
                                        </p:attrNameLst>
                                      </p:cBhvr>
                                      <p:to>
                                        <p:strVal val="visible"/>
                                      </p:to>
                                    </p:set>
                                    <p:animEffect transition="in" filter="fade">
                                      <p:cBhvr>
                                        <p:cTn id="166" dur="500"/>
                                        <p:tgtEl>
                                          <p:spTgt spid="62"/>
                                        </p:tgtEl>
                                      </p:cBhvr>
                                    </p:animEffect>
                                    <p:anim calcmode="lin" valueType="num">
                                      <p:cBhvr>
                                        <p:cTn id="167" dur="500" decel="100000" fill="hold"/>
                                        <p:tgtEl>
                                          <p:spTgt spid="6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05  ·  METHODOLOGY</a:t>
            </a:r>
            <a:endParaRPr lang="en-US" sz="1200" dirty="0"/>
          </a:p>
        </p:txBody>
      </p:sp>
      <p:sp>
        <p:nvSpPr>
          <p:cNvPr id="3" name="!!title"/>
          <p:cNvSpPr txBox="1"/>
          <p:nvPr/>
        </p:nvSpPr>
        <p:spPr>
          <a:xfrm>
            <a:off x="548640" y="804672"/>
            <a:ext cx="1042416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A RAG pipeline built for controlled experiments</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05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91440" cy="91440"/>
          </a:xfrm>
          <a:prstGeom prst="roundRect">
            <a:avLst>
              <a:gd name="adj" fmla="val 50000"/>
            </a:avLst>
          </a:prstGeom>
          <a:solidFill>
            <a:srgbClr val="C97700">
              <a:alpha val="45000"/>
            </a:srgbClr>
          </a:solidFill>
          <a:ln/>
        </p:spPr>
      </p:sp>
      <p:sp>
        <p:nvSpPr>
          <p:cNvPr id="10" name="!!dot5"/>
          <p:cNvSpPr/>
          <p:nvPr/>
        </p:nvSpPr>
        <p:spPr>
          <a:xfrm>
            <a:off x="10378440" y="6451092"/>
            <a:ext cx="365760" cy="91440"/>
          </a:xfrm>
          <a:prstGeom prst="roundRect">
            <a:avLst>
              <a:gd name="adj" fmla="val 50000"/>
            </a:avLst>
          </a:prstGeom>
          <a:solidFill>
            <a:srgbClr val="C97700"/>
          </a:solidFill>
          <a:ln/>
        </p:spPr>
      </p:sp>
      <p:sp>
        <p:nvSpPr>
          <p:cNvPr id="11" name="!!dot6"/>
          <p:cNvSpPr/>
          <p:nvPr/>
        </p:nvSpPr>
        <p:spPr>
          <a:xfrm>
            <a:off x="10835640" y="6451092"/>
            <a:ext cx="91440" cy="91440"/>
          </a:xfrm>
          <a:prstGeom prst="roundRect">
            <a:avLst>
              <a:gd name="adj" fmla="val 50000"/>
            </a:avLst>
          </a:prstGeom>
          <a:solidFill>
            <a:srgbClr val="D9DCE8"/>
          </a:solidFill>
          <a:ln/>
        </p:spPr>
      </p:sp>
      <p:sp>
        <p:nvSpPr>
          <p:cNvPr id="12" name="!!dot7"/>
          <p:cNvSpPr/>
          <p:nvPr/>
        </p:nvSpPr>
        <p:spPr>
          <a:xfrm>
            <a:off x="11018520" y="6451092"/>
            <a:ext cx="91440" cy="91440"/>
          </a:xfrm>
          <a:prstGeom prst="roundRect">
            <a:avLst>
              <a:gd name="adj" fmla="val 50000"/>
            </a:avLst>
          </a:prstGeom>
          <a:solidFill>
            <a:srgbClr val="D9DCE8"/>
          </a:solidFill>
          <a:ln/>
        </p:spPr>
      </p:sp>
      <p:sp>
        <p:nvSpPr>
          <p:cNvPr id="13" name="!!dot8"/>
          <p:cNvSpPr/>
          <p:nvPr/>
        </p:nvSpPr>
        <p:spPr>
          <a:xfrm>
            <a:off x="11201400" y="6451092"/>
            <a:ext cx="91440" cy="91440"/>
          </a:xfrm>
          <a:prstGeom prst="roundRect">
            <a:avLst>
              <a:gd name="adj" fmla="val 50000"/>
            </a:avLst>
          </a:prstGeom>
          <a:solidFill>
            <a:srgbClr val="D9DCE8"/>
          </a:solidFill>
          <a:ln/>
        </p:spPr>
      </p:sp>
      <p:sp>
        <p:nvSpPr>
          <p:cNvPr id="14" name="!!dot9"/>
          <p:cNvSpPr/>
          <p:nvPr/>
        </p:nvSpPr>
        <p:spPr>
          <a:xfrm>
            <a:off x="11384280" y="6451092"/>
            <a:ext cx="91440" cy="91440"/>
          </a:xfrm>
          <a:prstGeom prst="roundRect">
            <a:avLst>
              <a:gd name="adj" fmla="val 50000"/>
            </a:avLst>
          </a:prstGeom>
          <a:solidFill>
            <a:srgbClr val="D9DCE8"/>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mLink0"/>
          <p:cNvSpPr/>
          <p:nvPr/>
        </p:nvSpPr>
        <p:spPr>
          <a:xfrm>
            <a:off x="1869948" y="2514600"/>
            <a:ext cx="822960" cy="0"/>
          </a:xfrm>
          <a:prstGeom prst="line">
            <a:avLst/>
          </a:prstGeom>
          <a:noFill/>
          <a:ln w="19050">
            <a:solidFill>
              <a:srgbClr val="D9DCE8"/>
            </a:solidFill>
            <a:prstDash val="solid"/>
            <a:tailEnd type="triangle"/>
          </a:ln>
        </p:spPr>
      </p:sp>
      <p:sp>
        <p:nvSpPr>
          <p:cNvPr id="18" name="mLink1"/>
          <p:cNvSpPr/>
          <p:nvPr/>
        </p:nvSpPr>
        <p:spPr>
          <a:xfrm>
            <a:off x="3781044" y="2514600"/>
            <a:ext cx="822960" cy="0"/>
          </a:xfrm>
          <a:prstGeom prst="line">
            <a:avLst/>
          </a:prstGeom>
          <a:noFill/>
          <a:ln w="19050">
            <a:solidFill>
              <a:srgbClr val="D9DCE8"/>
            </a:solidFill>
            <a:prstDash val="solid"/>
            <a:tailEnd type="triangle"/>
          </a:ln>
        </p:spPr>
      </p:sp>
      <p:sp>
        <p:nvSpPr>
          <p:cNvPr id="19" name="mLink2"/>
          <p:cNvSpPr/>
          <p:nvPr/>
        </p:nvSpPr>
        <p:spPr>
          <a:xfrm>
            <a:off x="5692140" y="2514600"/>
            <a:ext cx="822960" cy="0"/>
          </a:xfrm>
          <a:prstGeom prst="line">
            <a:avLst/>
          </a:prstGeom>
          <a:noFill/>
          <a:ln w="19050">
            <a:solidFill>
              <a:srgbClr val="D9DCE8"/>
            </a:solidFill>
            <a:prstDash val="solid"/>
            <a:tailEnd type="triangle"/>
          </a:ln>
        </p:spPr>
      </p:sp>
      <p:sp>
        <p:nvSpPr>
          <p:cNvPr id="20" name="mLink3"/>
          <p:cNvSpPr/>
          <p:nvPr/>
        </p:nvSpPr>
        <p:spPr>
          <a:xfrm>
            <a:off x="7603236" y="2514600"/>
            <a:ext cx="822960" cy="0"/>
          </a:xfrm>
          <a:prstGeom prst="line">
            <a:avLst/>
          </a:prstGeom>
          <a:noFill/>
          <a:ln w="19050">
            <a:solidFill>
              <a:srgbClr val="D9DCE8"/>
            </a:solidFill>
            <a:prstDash val="solid"/>
            <a:tailEnd type="triangle"/>
          </a:ln>
        </p:spPr>
      </p:sp>
      <p:sp>
        <p:nvSpPr>
          <p:cNvPr id="21" name="mLink4"/>
          <p:cNvSpPr/>
          <p:nvPr/>
        </p:nvSpPr>
        <p:spPr>
          <a:xfrm>
            <a:off x="9514332" y="2514600"/>
            <a:ext cx="822960" cy="0"/>
          </a:xfrm>
          <a:prstGeom prst="line">
            <a:avLst/>
          </a:prstGeom>
          <a:noFill/>
          <a:ln w="19050">
            <a:solidFill>
              <a:srgbClr val="D9DCE8"/>
            </a:solidFill>
            <a:prstDash val="solid"/>
            <a:tailEnd type="triangle"/>
          </a:ln>
        </p:spPr>
      </p:sp>
      <p:sp>
        <p:nvSpPr>
          <p:cNvPr id="22" name="mN0"/>
          <p:cNvSpPr/>
          <p:nvPr/>
        </p:nvSpPr>
        <p:spPr>
          <a:xfrm>
            <a:off x="891540" y="2080260"/>
            <a:ext cx="868680" cy="868680"/>
          </a:xfrm>
          <a:prstGeom prst="ellipse">
            <a:avLst/>
          </a:prstGeom>
          <a:solidFill>
            <a:srgbClr val="EEF0F7"/>
          </a:solidFill>
          <a:ln w="19050">
            <a:solidFill>
              <a:srgbClr val="C97700"/>
            </a:solidFill>
            <a:prstDash val="solid"/>
          </a:ln>
        </p:spPr>
      </p:sp>
      <p:pic>
        <p:nvPicPr>
          <p:cNvPr id="23" name="mI0" descr="preencoded.png">    </p:cNvPr>
          <p:cNvPicPr>
            <a:picLocks noChangeAspect="1"/>
          </p:cNvPicPr>
          <p:nvPr/>
        </p:nvPicPr>
        <p:blipFill>
          <a:blip r:embed="rId1"/>
          <a:stretch>
            <a:fillRect/>
          </a:stretch>
        </p:blipFill>
        <p:spPr>
          <a:xfrm>
            <a:off x="1143000" y="2331720"/>
            <a:ext cx="365760" cy="365760"/>
          </a:xfrm>
          <a:prstGeom prst="rect">
            <a:avLst/>
          </a:prstGeom>
        </p:spPr>
      </p:pic>
      <p:sp>
        <p:nvSpPr>
          <p:cNvPr id="24" name="mNum0"/>
          <p:cNvSpPr txBox="1"/>
          <p:nvPr/>
        </p:nvSpPr>
        <p:spPr>
          <a:xfrm>
            <a:off x="457200" y="3182112"/>
            <a:ext cx="1737360" cy="256032"/>
          </a:xfrm>
          <a:prstGeom prst="rect">
            <a:avLst/>
          </a:prstGeom>
          <a:noFill/>
          <a:ln/>
        </p:spPr>
        <p:txBody>
          <a:bodyPr wrap="square" lIns="0" tIns="0" rIns="0" bIns="0" rtlCol="0" anchor="t"/>
          <a:lstStyle/>
          <a:p>
            <a:pPr algn="ctr" indent="0" marL="0">
              <a:buNone/>
            </a:pPr>
            <a:r>
              <a:rPr lang="en-US" sz="1200" b="1" dirty="0">
                <a:solidFill>
                  <a:srgbClr val="C97700"/>
                </a:solidFill>
                <a:latin typeface="Consolas" pitchFamily="34" charset="0"/>
                <a:ea typeface="Consolas" pitchFamily="34" charset="-122"/>
                <a:cs typeface="Consolas" pitchFamily="34" charset="-120"/>
              </a:rPr>
              <a:t>01</a:t>
            </a:r>
            <a:endParaRPr lang="en-US" sz="1200" dirty="0"/>
          </a:p>
        </p:txBody>
      </p:sp>
      <p:sp>
        <p:nvSpPr>
          <p:cNvPr id="25" name="mT0"/>
          <p:cNvSpPr txBox="1"/>
          <p:nvPr/>
        </p:nvSpPr>
        <p:spPr>
          <a:xfrm>
            <a:off x="429768" y="3456432"/>
            <a:ext cx="1792224" cy="347472"/>
          </a:xfrm>
          <a:prstGeom prst="rect">
            <a:avLst/>
          </a:prstGeom>
          <a:noFill/>
          <a:ln/>
        </p:spPr>
        <p:txBody>
          <a:bodyPr wrap="square" lIns="0" tIns="0" rIns="0" bIns="0" rtlCol="0" anchor="t"/>
          <a:lstStyle/>
          <a:p>
            <a:pPr algn="ctr" indent="0" marL="0">
              <a:buNone/>
            </a:pPr>
            <a:r>
              <a:rPr lang="en-US" sz="1600" b="1" dirty="0">
                <a:solidFill>
                  <a:srgbClr val="16182B"/>
                </a:solidFill>
                <a:latin typeface="Calibri" pitchFamily="34" charset="0"/>
                <a:ea typeface="Calibri" pitchFamily="34" charset="-122"/>
                <a:cs typeface="Calibri" pitchFamily="34" charset="-120"/>
              </a:rPr>
              <a:t>Preprocess</a:t>
            </a:r>
            <a:endParaRPr lang="en-US" sz="1600" dirty="0"/>
          </a:p>
        </p:txBody>
      </p:sp>
      <p:sp>
        <p:nvSpPr>
          <p:cNvPr id="26" name="mD0"/>
          <p:cNvSpPr txBox="1"/>
          <p:nvPr/>
        </p:nvSpPr>
        <p:spPr>
          <a:xfrm>
            <a:off x="429768" y="3840480"/>
            <a:ext cx="1792224" cy="1005840"/>
          </a:xfrm>
          <a:prstGeom prst="rect">
            <a:avLst/>
          </a:prstGeom>
          <a:noFill/>
          <a:ln/>
        </p:spPr>
        <p:txBody>
          <a:bodyPr wrap="square" lIns="0" tIns="0" rIns="0" bIns="0" rtlCol="0" anchor="t"/>
          <a:lstStyle/>
          <a:p>
            <a:pPr algn="ctr" indent="0" marL="0">
              <a:buNone/>
            </a:pPr>
            <a:r>
              <a:rPr lang="en-US" sz="1200" dirty="0">
                <a:solidFill>
                  <a:srgbClr val="565B75"/>
                </a:solidFill>
                <a:latin typeface="Calibri" pitchFamily="34" charset="0"/>
                <a:ea typeface="Calibri" pitchFamily="34" charset="-122"/>
                <a:cs typeface="Calibri" pitchFamily="34" charset="-120"/>
              </a:rPr>
              <a:t>PyMuPDF extraction, hyphen repair, paragraph-preserving clean-up</a:t>
            </a:r>
            <a:endParaRPr lang="en-US" sz="1200" dirty="0"/>
          </a:p>
        </p:txBody>
      </p:sp>
      <p:sp>
        <p:nvSpPr>
          <p:cNvPr id="27" name="mN1"/>
          <p:cNvSpPr/>
          <p:nvPr/>
        </p:nvSpPr>
        <p:spPr>
          <a:xfrm>
            <a:off x="2802636" y="2080260"/>
            <a:ext cx="868680" cy="868680"/>
          </a:xfrm>
          <a:prstGeom prst="ellipse">
            <a:avLst/>
          </a:prstGeom>
          <a:solidFill>
            <a:srgbClr val="EEF0F7"/>
          </a:solidFill>
          <a:ln w="19050">
            <a:solidFill>
              <a:srgbClr val="0E9C86"/>
            </a:solidFill>
            <a:prstDash val="solid"/>
          </a:ln>
        </p:spPr>
      </p:sp>
      <p:pic>
        <p:nvPicPr>
          <p:cNvPr id="28" name="mI1" descr="preencoded.png">    </p:cNvPr>
          <p:cNvPicPr>
            <a:picLocks noChangeAspect="1"/>
          </p:cNvPicPr>
          <p:nvPr/>
        </p:nvPicPr>
        <p:blipFill>
          <a:blip r:embed="rId2"/>
          <a:stretch>
            <a:fillRect/>
          </a:stretch>
        </p:blipFill>
        <p:spPr>
          <a:xfrm>
            <a:off x="3054096" y="2331720"/>
            <a:ext cx="365760" cy="365760"/>
          </a:xfrm>
          <a:prstGeom prst="rect">
            <a:avLst/>
          </a:prstGeom>
        </p:spPr>
      </p:pic>
      <p:sp>
        <p:nvSpPr>
          <p:cNvPr id="29" name="mNum1"/>
          <p:cNvSpPr txBox="1"/>
          <p:nvPr/>
        </p:nvSpPr>
        <p:spPr>
          <a:xfrm>
            <a:off x="2368296" y="3182112"/>
            <a:ext cx="1737360" cy="256032"/>
          </a:xfrm>
          <a:prstGeom prst="rect">
            <a:avLst/>
          </a:prstGeom>
          <a:noFill/>
          <a:ln/>
        </p:spPr>
        <p:txBody>
          <a:bodyPr wrap="square" lIns="0" tIns="0" rIns="0" bIns="0" rtlCol="0" anchor="t"/>
          <a:lstStyle/>
          <a:p>
            <a:pPr algn="ctr" indent="0" marL="0">
              <a:buNone/>
            </a:pPr>
            <a:r>
              <a:rPr lang="en-US" sz="1200" b="1" dirty="0">
                <a:solidFill>
                  <a:srgbClr val="0E9C86"/>
                </a:solidFill>
                <a:latin typeface="Consolas" pitchFamily="34" charset="0"/>
                <a:ea typeface="Consolas" pitchFamily="34" charset="-122"/>
                <a:cs typeface="Consolas" pitchFamily="34" charset="-120"/>
              </a:rPr>
              <a:t>02</a:t>
            </a:r>
            <a:endParaRPr lang="en-US" sz="1200" dirty="0"/>
          </a:p>
        </p:txBody>
      </p:sp>
      <p:sp>
        <p:nvSpPr>
          <p:cNvPr id="30" name="mT1"/>
          <p:cNvSpPr txBox="1"/>
          <p:nvPr/>
        </p:nvSpPr>
        <p:spPr>
          <a:xfrm>
            <a:off x="2340864" y="3456432"/>
            <a:ext cx="1792224" cy="347472"/>
          </a:xfrm>
          <a:prstGeom prst="rect">
            <a:avLst/>
          </a:prstGeom>
          <a:noFill/>
          <a:ln/>
        </p:spPr>
        <p:txBody>
          <a:bodyPr wrap="square" lIns="0" tIns="0" rIns="0" bIns="0" rtlCol="0" anchor="t"/>
          <a:lstStyle/>
          <a:p>
            <a:pPr algn="ctr" indent="0" marL="0">
              <a:buNone/>
            </a:pPr>
            <a:r>
              <a:rPr lang="en-US" sz="1600" b="1" dirty="0">
                <a:solidFill>
                  <a:srgbClr val="16182B"/>
                </a:solidFill>
                <a:latin typeface="Calibri" pitchFamily="34" charset="0"/>
                <a:ea typeface="Calibri" pitchFamily="34" charset="-122"/>
                <a:cs typeface="Calibri" pitchFamily="34" charset="-120"/>
              </a:rPr>
              <a:t>Chunk</a:t>
            </a:r>
            <a:endParaRPr lang="en-US" sz="1600" dirty="0"/>
          </a:p>
        </p:txBody>
      </p:sp>
      <p:sp>
        <p:nvSpPr>
          <p:cNvPr id="31" name="mD1"/>
          <p:cNvSpPr txBox="1"/>
          <p:nvPr/>
        </p:nvSpPr>
        <p:spPr>
          <a:xfrm>
            <a:off x="2340864" y="3840480"/>
            <a:ext cx="1792224" cy="1005840"/>
          </a:xfrm>
          <a:prstGeom prst="rect">
            <a:avLst/>
          </a:prstGeom>
          <a:noFill/>
          <a:ln/>
        </p:spPr>
        <p:txBody>
          <a:bodyPr wrap="square" lIns="0" tIns="0" rIns="0" bIns="0" rtlCol="0" anchor="t"/>
          <a:lstStyle/>
          <a:p>
            <a:pPr algn="ctr" indent="0" marL="0">
              <a:buNone/>
            </a:pPr>
            <a:r>
              <a:rPr lang="en-US" sz="1200" dirty="0">
                <a:solidFill>
                  <a:srgbClr val="565B75"/>
                </a:solidFill>
                <a:latin typeface="Calibri" pitchFamily="34" charset="0"/>
                <a:ea typeface="Calibri" pitchFamily="34" charset="-122"/>
                <a:cs typeface="Calibri" pitchFamily="34" charset="-120"/>
              </a:rPr>
              <a:t>500-word chunks, 80-word overlap, paragraph-aware</a:t>
            </a:r>
            <a:endParaRPr lang="en-US" sz="1200" dirty="0"/>
          </a:p>
        </p:txBody>
      </p:sp>
      <p:sp>
        <p:nvSpPr>
          <p:cNvPr id="32" name="mN2"/>
          <p:cNvSpPr/>
          <p:nvPr/>
        </p:nvSpPr>
        <p:spPr>
          <a:xfrm>
            <a:off x="4713732" y="2080260"/>
            <a:ext cx="868680" cy="868680"/>
          </a:xfrm>
          <a:prstGeom prst="ellipse">
            <a:avLst/>
          </a:prstGeom>
          <a:solidFill>
            <a:srgbClr val="EEF0F7"/>
          </a:solidFill>
          <a:ln w="19050">
            <a:solidFill>
              <a:srgbClr val="7656E0"/>
            </a:solidFill>
            <a:prstDash val="solid"/>
          </a:ln>
        </p:spPr>
      </p:sp>
      <p:pic>
        <p:nvPicPr>
          <p:cNvPr id="33" name="mI2" descr="preencoded.png">    </p:cNvPr>
          <p:cNvPicPr>
            <a:picLocks noChangeAspect="1"/>
          </p:cNvPicPr>
          <p:nvPr/>
        </p:nvPicPr>
        <p:blipFill>
          <a:blip r:embed="rId3"/>
          <a:stretch>
            <a:fillRect/>
          </a:stretch>
        </p:blipFill>
        <p:spPr>
          <a:xfrm>
            <a:off x="4965192" y="2331720"/>
            <a:ext cx="365760" cy="365760"/>
          </a:xfrm>
          <a:prstGeom prst="rect">
            <a:avLst/>
          </a:prstGeom>
        </p:spPr>
      </p:pic>
      <p:sp>
        <p:nvSpPr>
          <p:cNvPr id="34" name="mNum2"/>
          <p:cNvSpPr txBox="1"/>
          <p:nvPr/>
        </p:nvSpPr>
        <p:spPr>
          <a:xfrm>
            <a:off x="4279392" y="3182112"/>
            <a:ext cx="1737360" cy="256032"/>
          </a:xfrm>
          <a:prstGeom prst="rect">
            <a:avLst/>
          </a:prstGeom>
          <a:noFill/>
          <a:ln/>
        </p:spPr>
        <p:txBody>
          <a:bodyPr wrap="square" lIns="0" tIns="0" rIns="0" bIns="0" rtlCol="0" anchor="t"/>
          <a:lstStyle/>
          <a:p>
            <a:pPr algn="ctr" indent="0" marL="0">
              <a:buNone/>
            </a:pPr>
            <a:r>
              <a:rPr lang="en-US" sz="1200" b="1" dirty="0">
                <a:solidFill>
                  <a:srgbClr val="7656E0"/>
                </a:solidFill>
                <a:latin typeface="Consolas" pitchFamily="34" charset="0"/>
                <a:ea typeface="Consolas" pitchFamily="34" charset="-122"/>
                <a:cs typeface="Consolas" pitchFamily="34" charset="-120"/>
              </a:rPr>
              <a:t>03</a:t>
            </a:r>
            <a:endParaRPr lang="en-US" sz="1200" dirty="0"/>
          </a:p>
        </p:txBody>
      </p:sp>
      <p:sp>
        <p:nvSpPr>
          <p:cNvPr id="35" name="mT2"/>
          <p:cNvSpPr txBox="1"/>
          <p:nvPr/>
        </p:nvSpPr>
        <p:spPr>
          <a:xfrm>
            <a:off x="4251960" y="3456432"/>
            <a:ext cx="1792224" cy="347472"/>
          </a:xfrm>
          <a:prstGeom prst="rect">
            <a:avLst/>
          </a:prstGeom>
          <a:noFill/>
          <a:ln/>
        </p:spPr>
        <p:txBody>
          <a:bodyPr wrap="square" lIns="0" tIns="0" rIns="0" bIns="0" rtlCol="0" anchor="t"/>
          <a:lstStyle/>
          <a:p>
            <a:pPr algn="ctr" indent="0" marL="0">
              <a:buNone/>
            </a:pPr>
            <a:r>
              <a:rPr lang="en-US" sz="1600" b="1" dirty="0">
                <a:solidFill>
                  <a:srgbClr val="16182B"/>
                </a:solidFill>
                <a:latin typeface="Calibri" pitchFamily="34" charset="0"/>
                <a:ea typeface="Calibri" pitchFamily="34" charset="-122"/>
                <a:cs typeface="Calibri" pitchFamily="34" charset="-120"/>
              </a:rPr>
              <a:t>Embed + index</a:t>
            </a:r>
            <a:endParaRPr lang="en-US" sz="1600" dirty="0"/>
          </a:p>
        </p:txBody>
      </p:sp>
      <p:sp>
        <p:nvSpPr>
          <p:cNvPr id="36" name="mD2"/>
          <p:cNvSpPr txBox="1"/>
          <p:nvPr/>
        </p:nvSpPr>
        <p:spPr>
          <a:xfrm>
            <a:off x="4251960" y="3840480"/>
            <a:ext cx="1792224" cy="1005840"/>
          </a:xfrm>
          <a:prstGeom prst="rect">
            <a:avLst/>
          </a:prstGeom>
          <a:noFill/>
          <a:ln/>
        </p:spPr>
        <p:txBody>
          <a:bodyPr wrap="square" lIns="0" tIns="0" rIns="0" bIns="0" rtlCol="0" anchor="t"/>
          <a:lstStyle/>
          <a:p>
            <a:pPr algn="ctr" indent="0" marL="0">
              <a:buNone/>
            </a:pPr>
            <a:r>
              <a:rPr lang="en-US" sz="1200" dirty="0">
                <a:solidFill>
                  <a:srgbClr val="565B75"/>
                </a:solidFill>
                <a:latin typeface="Calibri" pitchFamily="34" charset="0"/>
                <a:ea typeface="Calibri" pitchFamily="34" charset="-122"/>
                <a:cs typeface="Calibri" pitchFamily="34" charset="-120"/>
              </a:rPr>
              <a:t>all-MiniLM-L6-v2 (384-d), FAISS exact inner-product</a:t>
            </a:r>
            <a:endParaRPr lang="en-US" sz="1200" dirty="0"/>
          </a:p>
        </p:txBody>
      </p:sp>
      <p:sp>
        <p:nvSpPr>
          <p:cNvPr id="37" name="mN3"/>
          <p:cNvSpPr/>
          <p:nvPr/>
        </p:nvSpPr>
        <p:spPr>
          <a:xfrm>
            <a:off x="6624828" y="2080260"/>
            <a:ext cx="868680" cy="868680"/>
          </a:xfrm>
          <a:prstGeom prst="ellipse">
            <a:avLst/>
          </a:prstGeom>
          <a:solidFill>
            <a:srgbClr val="EEF0F7"/>
          </a:solidFill>
          <a:ln w="19050">
            <a:solidFill>
              <a:srgbClr val="C97700"/>
            </a:solidFill>
            <a:prstDash val="solid"/>
          </a:ln>
        </p:spPr>
      </p:sp>
      <p:pic>
        <p:nvPicPr>
          <p:cNvPr id="38" name="mI3" descr="preencoded.png">    </p:cNvPr>
          <p:cNvPicPr>
            <a:picLocks noChangeAspect="1"/>
          </p:cNvPicPr>
          <p:nvPr/>
        </p:nvPicPr>
        <p:blipFill>
          <a:blip r:embed="rId4"/>
          <a:stretch>
            <a:fillRect/>
          </a:stretch>
        </p:blipFill>
        <p:spPr>
          <a:xfrm>
            <a:off x="6876288" y="2331720"/>
            <a:ext cx="365760" cy="365760"/>
          </a:xfrm>
          <a:prstGeom prst="rect">
            <a:avLst/>
          </a:prstGeom>
        </p:spPr>
      </p:pic>
      <p:sp>
        <p:nvSpPr>
          <p:cNvPr id="39" name="mNum3"/>
          <p:cNvSpPr txBox="1"/>
          <p:nvPr/>
        </p:nvSpPr>
        <p:spPr>
          <a:xfrm>
            <a:off x="6190488" y="3182112"/>
            <a:ext cx="1737360" cy="256032"/>
          </a:xfrm>
          <a:prstGeom prst="rect">
            <a:avLst/>
          </a:prstGeom>
          <a:noFill/>
          <a:ln/>
        </p:spPr>
        <p:txBody>
          <a:bodyPr wrap="square" lIns="0" tIns="0" rIns="0" bIns="0" rtlCol="0" anchor="t"/>
          <a:lstStyle/>
          <a:p>
            <a:pPr algn="ctr" indent="0" marL="0">
              <a:buNone/>
            </a:pPr>
            <a:r>
              <a:rPr lang="en-US" sz="1200" b="1" dirty="0">
                <a:solidFill>
                  <a:srgbClr val="C97700"/>
                </a:solidFill>
                <a:latin typeface="Consolas" pitchFamily="34" charset="0"/>
                <a:ea typeface="Consolas" pitchFamily="34" charset="-122"/>
                <a:cs typeface="Consolas" pitchFamily="34" charset="-120"/>
              </a:rPr>
              <a:t>04</a:t>
            </a:r>
            <a:endParaRPr lang="en-US" sz="1200" dirty="0"/>
          </a:p>
        </p:txBody>
      </p:sp>
      <p:sp>
        <p:nvSpPr>
          <p:cNvPr id="40" name="mT3"/>
          <p:cNvSpPr txBox="1"/>
          <p:nvPr/>
        </p:nvSpPr>
        <p:spPr>
          <a:xfrm>
            <a:off x="6163056" y="3456432"/>
            <a:ext cx="1792224" cy="347472"/>
          </a:xfrm>
          <a:prstGeom prst="rect">
            <a:avLst/>
          </a:prstGeom>
          <a:noFill/>
          <a:ln/>
        </p:spPr>
        <p:txBody>
          <a:bodyPr wrap="square" lIns="0" tIns="0" rIns="0" bIns="0" rtlCol="0" anchor="t"/>
          <a:lstStyle/>
          <a:p>
            <a:pPr algn="ctr" indent="0" marL="0">
              <a:buNone/>
            </a:pPr>
            <a:r>
              <a:rPr lang="en-US" sz="1600" b="1" dirty="0">
                <a:solidFill>
                  <a:srgbClr val="16182B"/>
                </a:solidFill>
                <a:latin typeface="Calibri" pitchFamily="34" charset="0"/>
                <a:ea typeface="Calibri" pitchFamily="34" charset="-122"/>
                <a:cs typeface="Calibri" pitchFamily="34" charset="-120"/>
              </a:rPr>
              <a:t>Retrieve</a:t>
            </a:r>
            <a:endParaRPr lang="en-US" sz="1600" dirty="0"/>
          </a:p>
        </p:txBody>
      </p:sp>
      <p:sp>
        <p:nvSpPr>
          <p:cNvPr id="41" name="mD3"/>
          <p:cNvSpPr txBox="1"/>
          <p:nvPr/>
        </p:nvSpPr>
        <p:spPr>
          <a:xfrm>
            <a:off x="6163056" y="3840480"/>
            <a:ext cx="1792224" cy="1005840"/>
          </a:xfrm>
          <a:prstGeom prst="rect">
            <a:avLst/>
          </a:prstGeom>
          <a:noFill/>
          <a:ln/>
        </p:spPr>
        <p:txBody>
          <a:bodyPr wrap="square" lIns="0" tIns="0" rIns="0" bIns="0" rtlCol="0" anchor="t"/>
          <a:lstStyle/>
          <a:p>
            <a:pPr algn="ctr" indent="0" marL="0">
              <a:buNone/>
            </a:pPr>
            <a:r>
              <a:rPr lang="en-US" sz="1200" dirty="0">
                <a:solidFill>
                  <a:srgbClr val="565B75"/>
                </a:solidFill>
                <a:latin typeface="Calibri" pitchFamily="34" charset="0"/>
                <a:ea typeface="Calibri" pitchFamily="34" charset="-122"/>
                <a:cs typeface="Calibri" pitchFamily="34" charset="-120"/>
              </a:rPr>
              <a:t>Cosine Top-K, K ∈ {1, 3, 5, 10} plus No-RAG and gold-page baselines</a:t>
            </a:r>
            <a:endParaRPr lang="en-US" sz="1200" dirty="0"/>
          </a:p>
        </p:txBody>
      </p:sp>
      <p:sp>
        <p:nvSpPr>
          <p:cNvPr id="42" name="mN4"/>
          <p:cNvSpPr/>
          <p:nvPr/>
        </p:nvSpPr>
        <p:spPr>
          <a:xfrm>
            <a:off x="8535924" y="2080260"/>
            <a:ext cx="868680" cy="868680"/>
          </a:xfrm>
          <a:prstGeom prst="ellipse">
            <a:avLst/>
          </a:prstGeom>
          <a:solidFill>
            <a:srgbClr val="EEF0F7"/>
          </a:solidFill>
          <a:ln w="19050">
            <a:solidFill>
              <a:srgbClr val="0E9C86"/>
            </a:solidFill>
            <a:prstDash val="solid"/>
          </a:ln>
        </p:spPr>
      </p:sp>
      <p:pic>
        <p:nvPicPr>
          <p:cNvPr id="43" name="mI4" descr="preencoded.png">    </p:cNvPr>
          <p:cNvPicPr>
            <a:picLocks noChangeAspect="1"/>
          </p:cNvPicPr>
          <p:nvPr/>
        </p:nvPicPr>
        <p:blipFill>
          <a:blip r:embed="rId5"/>
          <a:stretch>
            <a:fillRect/>
          </a:stretch>
        </p:blipFill>
        <p:spPr>
          <a:xfrm>
            <a:off x="8787384" y="2331720"/>
            <a:ext cx="365760" cy="365760"/>
          </a:xfrm>
          <a:prstGeom prst="rect">
            <a:avLst/>
          </a:prstGeom>
        </p:spPr>
      </p:pic>
      <p:sp>
        <p:nvSpPr>
          <p:cNvPr id="44" name="mNum4"/>
          <p:cNvSpPr txBox="1"/>
          <p:nvPr/>
        </p:nvSpPr>
        <p:spPr>
          <a:xfrm>
            <a:off x="8101584" y="3182112"/>
            <a:ext cx="1737360" cy="256032"/>
          </a:xfrm>
          <a:prstGeom prst="rect">
            <a:avLst/>
          </a:prstGeom>
          <a:noFill/>
          <a:ln/>
        </p:spPr>
        <p:txBody>
          <a:bodyPr wrap="square" lIns="0" tIns="0" rIns="0" bIns="0" rtlCol="0" anchor="t"/>
          <a:lstStyle/>
          <a:p>
            <a:pPr algn="ctr" indent="0" marL="0">
              <a:buNone/>
            </a:pPr>
            <a:r>
              <a:rPr lang="en-US" sz="1200" b="1" dirty="0">
                <a:solidFill>
                  <a:srgbClr val="0E9C86"/>
                </a:solidFill>
                <a:latin typeface="Consolas" pitchFamily="34" charset="0"/>
                <a:ea typeface="Consolas" pitchFamily="34" charset="-122"/>
                <a:cs typeface="Consolas" pitchFamily="34" charset="-120"/>
              </a:rPr>
              <a:t>05</a:t>
            </a:r>
            <a:endParaRPr lang="en-US" sz="1200" dirty="0"/>
          </a:p>
        </p:txBody>
      </p:sp>
      <p:sp>
        <p:nvSpPr>
          <p:cNvPr id="45" name="mT4"/>
          <p:cNvSpPr txBox="1"/>
          <p:nvPr/>
        </p:nvSpPr>
        <p:spPr>
          <a:xfrm>
            <a:off x="8074152" y="3456432"/>
            <a:ext cx="1792224" cy="347472"/>
          </a:xfrm>
          <a:prstGeom prst="rect">
            <a:avLst/>
          </a:prstGeom>
          <a:noFill/>
          <a:ln/>
        </p:spPr>
        <p:txBody>
          <a:bodyPr wrap="square" lIns="0" tIns="0" rIns="0" bIns="0" rtlCol="0" anchor="t"/>
          <a:lstStyle/>
          <a:p>
            <a:pPr algn="ctr" indent="0" marL="0">
              <a:buNone/>
            </a:pPr>
            <a:r>
              <a:rPr lang="en-US" sz="1600" b="1" dirty="0">
                <a:solidFill>
                  <a:srgbClr val="16182B"/>
                </a:solidFill>
                <a:latin typeface="Calibri" pitchFamily="34" charset="0"/>
                <a:ea typeface="Calibri" pitchFamily="34" charset="-122"/>
                <a:cs typeface="Calibri" pitchFamily="34" charset="-120"/>
              </a:rPr>
              <a:t>Generate</a:t>
            </a:r>
            <a:endParaRPr lang="en-US" sz="1600" dirty="0"/>
          </a:p>
        </p:txBody>
      </p:sp>
      <p:sp>
        <p:nvSpPr>
          <p:cNvPr id="46" name="mD4"/>
          <p:cNvSpPr txBox="1"/>
          <p:nvPr/>
        </p:nvSpPr>
        <p:spPr>
          <a:xfrm>
            <a:off x="8074152" y="3840480"/>
            <a:ext cx="1792224" cy="1005840"/>
          </a:xfrm>
          <a:prstGeom prst="rect">
            <a:avLst/>
          </a:prstGeom>
          <a:noFill/>
          <a:ln/>
        </p:spPr>
        <p:txBody>
          <a:bodyPr wrap="square" lIns="0" tIns="0" rIns="0" bIns="0" rtlCol="0" anchor="t"/>
          <a:lstStyle/>
          <a:p>
            <a:pPr algn="ctr" indent="0" marL="0">
              <a:buNone/>
            </a:pPr>
            <a:r>
              <a:rPr lang="en-US" sz="1200" dirty="0">
                <a:solidFill>
                  <a:srgbClr val="565B75"/>
                </a:solidFill>
                <a:latin typeface="Calibri" pitchFamily="34" charset="0"/>
                <a:ea typeface="Calibri" pitchFamily="34" charset="-122"/>
                <a:cs typeface="Calibri" pitchFamily="34" charset="-120"/>
              </a:rPr>
              <a:t>Qwen3-4B-Instruct (MLX, 4-bit), temp 0; cite [S#] or abstain</a:t>
            </a:r>
            <a:endParaRPr lang="en-US" sz="1200" dirty="0"/>
          </a:p>
        </p:txBody>
      </p:sp>
      <p:sp>
        <p:nvSpPr>
          <p:cNvPr id="47" name="mN5"/>
          <p:cNvSpPr/>
          <p:nvPr/>
        </p:nvSpPr>
        <p:spPr>
          <a:xfrm>
            <a:off x="10447020" y="2080260"/>
            <a:ext cx="868680" cy="868680"/>
          </a:xfrm>
          <a:prstGeom prst="ellipse">
            <a:avLst/>
          </a:prstGeom>
          <a:solidFill>
            <a:srgbClr val="EEF0F7"/>
          </a:solidFill>
          <a:ln w="19050">
            <a:solidFill>
              <a:srgbClr val="E0474C"/>
            </a:solidFill>
            <a:prstDash val="solid"/>
          </a:ln>
        </p:spPr>
      </p:sp>
      <p:pic>
        <p:nvPicPr>
          <p:cNvPr id="48" name="mI5" descr="preencoded.png">    </p:cNvPr>
          <p:cNvPicPr>
            <a:picLocks noChangeAspect="1"/>
          </p:cNvPicPr>
          <p:nvPr/>
        </p:nvPicPr>
        <p:blipFill>
          <a:blip r:embed="rId6"/>
          <a:stretch>
            <a:fillRect/>
          </a:stretch>
        </p:blipFill>
        <p:spPr>
          <a:xfrm>
            <a:off x="10698480" y="2331720"/>
            <a:ext cx="365760" cy="365760"/>
          </a:xfrm>
          <a:prstGeom prst="rect">
            <a:avLst/>
          </a:prstGeom>
        </p:spPr>
      </p:pic>
      <p:sp>
        <p:nvSpPr>
          <p:cNvPr id="49" name="mNum5"/>
          <p:cNvSpPr txBox="1"/>
          <p:nvPr/>
        </p:nvSpPr>
        <p:spPr>
          <a:xfrm>
            <a:off x="10012680" y="3182112"/>
            <a:ext cx="1737360" cy="256032"/>
          </a:xfrm>
          <a:prstGeom prst="rect">
            <a:avLst/>
          </a:prstGeom>
          <a:noFill/>
          <a:ln/>
        </p:spPr>
        <p:txBody>
          <a:bodyPr wrap="square" lIns="0" tIns="0" rIns="0" bIns="0" rtlCol="0" anchor="t"/>
          <a:lstStyle/>
          <a:p>
            <a:pPr algn="ctr" indent="0" marL="0">
              <a:buNone/>
            </a:pPr>
            <a:r>
              <a:rPr lang="en-US" sz="1200" b="1" dirty="0">
                <a:solidFill>
                  <a:srgbClr val="E0474C"/>
                </a:solidFill>
                <a:latin typeface="Consolas" pitchFamily="34" charset="0"/>
                <a:ea typeface="Consolas" pitchFamily="34" charset="-122"/>
                <a:cs typeface="Consolas" pitchFamily="34" charset="-120"/>
              </a:rPr>
              <a:t>06</a:t>
            </a:r>
            <a:endParaRPr lang="en-US" sz="1200" dirty="0"/>
          </a:p>
        </p:txBody>
      </p:sp>
      <p:sp>
        <p:nvSpPr>
          <p:cNvPr id="50" name="mT5"/>
          <p:cNvSpPr txBox="1"/>
          <p:nvPr/>
        </p:nvSpPr>
        <p:spPr>
          <a:xfrm>
            <a:off x="9985248" y="3456432"/>
            <a:ext cx="1792224" cy="347472"/>
          </a:xfrm>
          <a:prstGeom prst="rect">
            <a:avLst/>
          </a:prstGeom>
          <a:noFill/>
          <a:ln/>
        </p:spPr>
        <p:txBody>
          <a:bodyPr wrap="square" lIns="0" tIns="0" rIns="0" bIns="0" rtlCol="0" anchor="t"/>
          <a:lstStyle/>
          <a:p>
            <a:pPr algn="ctr" indent="0" marL="0">
              <a:buNone/>
            </a:pPr>
            <a:r>
              <a:rPr lang="en-US" sz="1600" b="1" dirty="0">
                <a:solidFill>
                  <a:srgbClr val="16182B"/>
                </a:solidFill>
                <a:latin typeface="Calibri" pitchFamily="34" charset="0"/>
                <a:ea typeface="Calibri" pitchFamily="34" charset="-122"/>
                <a:cs typeface="Calibri" pitchFamily="34" charset="-120"/>
              </a:rPr>
              <a:t>Evaluate</a:t>
            </a:r>
            <a:endParaRPr lang="en-US" sz="1600" dirty="0"/>
          </a:p>
        </p:txBody>
      </p:sp>
      <p:sp>
        <p:nvSpPr>
          <p:cNvPr id="51" name="mD5"/>
          <p:cNvSpPr txBox="1"/>
          <p:nvPr/>
        </p:nvSpPr>
        <p:spPr>
          <a:xfrm>
            <a:off x="9985248" y="3840480"/>
            <a:ext cx="1792224" cy="1005840"/>
          </a:xfrm>
          <a:prstGeom prst="rect">
            <a:avLst/>
          </a:prstGeom>
          <a:noFill/>
          <a:ln/>
        </p:spPr>
        <p:txBody>
          <a:bodyPr wrap="square" lIns="0" tIns="0" rIns="0" bIns="0" rtlCol="0" anchor="t"/>
          <a:lstStyle/>
          <a:p>
            <a:pPr algn="ctr" indent="0" marL="0">
              <a:buNone/>
            </a:pPr>
            <a:r>
              <a:rPr lang="en-US" sz="1200" dirty="0">
                <a:solidFill>
                  <a:srgbClr val="565B75"/>
                </a:solidFill>
                <a:latin typeface="Calibri" pitchFamily="34" charset="0"/>
                <a:ea typeface="Calibri" pitchFamily="34" charset="-122"/>
                <a:cs typeface="Calibri" pitchFamily="34" charset="-120"/>
              </a:rPr>
              <a:t>Fact coverage, fact recall, claim support, citation validity, latency</a:t>
            </a:r>
            <a:endParaRPr lang="en-US" sz="1200" dirty="0"/>
          </a:p>
        </p:txBody>
      </p:sp>
      <p:sp>
        <p:nvSpPr>
          <p:cNvPr id="52" name="!!lensGlow"/>
          <p:cNvSpPr/>
          <p:nvPr/>
        </p:nvSpPr>
        <p:spPr>
          <a:xfrm>
            <a:off x="6478067" y="1933499"/>
            <a:ext cx="1162202" cy="1162202"/>
          </a:xfrm>
          <a:prstGeom prst="ellipse">
            <a:avLst/>
          </a:prstGeom>
          <a:solidFill>
            <a:srgbClr val="C97700">
              <a:alpha val="9000"/>
            </a:srgbClr>
          </a:solidFill>
          <a:ln/>
        </p:spPr>
      </p:sp>
      <p:sp>
        <p:nvSpPr>
          <p:cNvPr id="53" name="!!lensInner"/>
          <p:cNvSpPr/>
          <p:nvPr/>
        </p:nvSpPr>
        <p:spPr>
          <a:xfrm>
            <a:off x="6591452" y="2046884"/>
            <a:ext cx="935431" cy="935431"/>
          </a:xfrm>
          <a:prstGeom prst="ellipse">
            <a:avLst/>
          </a:prstGeom>
          <a:ln w="12700">
            <a:solidFill>
              <a:srgbClr val="0E9C86">
                <a:alpha val="45000"/>
              </a:srgbClr>
            </a:solidFill>
            <a:prstDash val="solid"/>
          </a:ln>
        </p:spPr>
      </p:sp>
      <p:sp>
        <p:nvSpPr>
          <p:cNvPr id="54" name="!!lensRing"/>
          <p:cNvSpPr/>
          <p:nvPr/>
        </p:nvSpPr>
        <p:spPr>
          <a:xfrm>
            <a:off x="6350508" y="1805940"/>
            <a:ext cx="1417320" cy="1417320"/>
          </a:xfrm>
          <a:prstGeom prst="ellipse">
            <a:avLst/>
          </a:prstGeom>
          <a:ln w="28575">
            <a:solidFill>
              <a:srgbClr val="C97700"/>
            </a:solidFill>
            <a:prstDash val="solid"/>
          </a:ln>
        </p:spPr>
      </p:sp>
      <p:sp>
        <p:nvSpPr>
          <p:cNvPr id="55" name="!!lensGlint"/>
          <p:cNvSpPr/>
          <p:nvPr/>
        </p:nvSpPr>
        <p:spPr>
          <a:xfrm>
            <a:off x="7510660" y="1963896"/>
            <a:ext cx="99212" cy="99212"/>
          </a:xfrm>
          <a:prstGeom prst="ellipse">
            <a:avLst/>
          </a:prstGeom>
          <a:solidFill>
            <a:srgbClr val="C97700"/>
          </a:solidFill>
          <a:ln/>
        </p:spPr>
      </p:sp>
      <p:sp>
        <p:nvSpPr>
          <p:cNvPr id="56" name="mBand"/>
          <p:cNvSpPr/>
          <p:nvPr/>
        </p:nvSpPr>
        <p:spPr>
          <a:xfrm>
            <a:off x="548640" y="5074920"/>
            <a:ext cx="11064240" cy="960120"/>
          </a:xfrm>
          <a:prstGeom prst="roundRect">
            <a:avLst>
              <a:gd name="adj" fmla="val 13333"/>
            </a:avLst>
          </a:prstGeom>
          <a:solidFill>
            <a:srgbClr val="EEF0F7"/>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57" name="mBandI"/>
          <p:cNvSpPr/>
          <p:nvPr/>
        </p:nvSpPr>
        <p:spPr>
          <a:xfrm>
            <a:off x="777240" y="5257800"/>
            <a:ext cx="566928" cy="566928"/>
          </a:xfrm>
          <a:prstGeom prst="ellipse">
            <a:avLst/>
          </a:prstGeom>
          <a:solidFill>
            <a:srgbClr val="0E9C86">
              <a:alpha val="18000"/>
            </a:srgbClr>
          </a:solidFill>
          <a:ln/>
        </p:spPr>
      </p:sp>
      <p:pic>
        <p:nvPicPr>
          <p:cNvPr id="58" name="mBandI_i" descr="preencoded.png">    </p:cNvPr>
          <p:cNvPicPr>
            <a:picLocks noChangeAspect="1"/>
          </p:cNvPicPr>
          <p:nvPr/>
        </p:nvPicPr>
        <p:blipFill>
          <a:blip r:embed="rId7"/>
          <a:stretch>
            <a:fillRect/>
          </a:stretch>
        </p:blipFill>
        <p:spPr>
          <a:xfrm>
            <a:off x="913303" y="5393863"/>
            <a:ext cx="294803" cy="294803"/>
          </a:xfrm>
          <a:prstGeom prst="rect">
            <a:avLst/>
          </a:prstGeom>
        </p:spPr>
      </p:pic>
      <p:sp>
        <p:nvSpPr>
          <p:cNvPr id="59" name="mBandH"/>
          <p:cNvSpPr txBox="1"/>
          <p:nvPr/>
        </p:nvSpPr>
        <p:spPr>
          <a:xfrm>
            <a:off x="1554480" y="5230368"/>
            <a:ext cx="9692640" cy="320040"/>
          </a:xfrm>
          <a:prstGeom prst="rect">
            <a:avLst/>
          </a:prstGeom>
          <a:noFill/>
          <a:ln/>
        </p:spPr>
        <p:txBody>
          <a:bodyPr wrap="square" lIns="0" tIns="0" rIns="0" bIns="0" rtlCol="0" anchor="t"/>
          <a:lstStyle/>
          <a:p>
            <a:pPr indent="0" marL="0">
              <a:buNone/>
            </a:pPr>
            <a:r>
              <a:rPr lang="en-US" sz="1700" b="1" dirty="0">
                <a:solidFill>
                  <a:srgbClr val="16182B"/>
                </a:solidFill>
                <a:latin typeface="Calibri" pitchFamily="34" charset="0"/>
                <a:ea typeface="Calibri" pitchFamily="34" charset="-122"/>
                <a:cs typeface="Calibri" pitchFamily="34" charset="-120"/>
              </a:rPr>
              <a:t>The same chunk set and index are reused for every K</a:t>
            </a:r>
            <a:endParaRPr lang="en-US" sz="1700" dirty="0"/>
          </a:p>
        </p:txBody>
      </p:sp>
      <p:sp>
        <p:nvSpPr>
          <p:cNvPr id="60" name="mBandD"/>
          <p:cNvSpPr txBox="1"/>
          <p:nvPr/>
        </p:nvSpPr>
        <p:spPr>
          <a:xfrm>
            <a:off x="1554480" y="5559552"/>
            <a:ext cx="9875520" cy="36576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Only retrieval depth changes between conditions, so differences in quality can be attributed to K, not to preprocessing or model drift.</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4"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00"/>
                                        <p:tgtEl>
                                          <p:spTgt spid="22"/>
                                        </p:tgtEl>
                                      </p:cBhvr>
                                    </p:animEffect>
                                    <p:anim calcmode="lin" valueType="num">
                                      <p:cBhvr>
                                        <p:cTn id="7" dur="500" decel="100000" fill="hold"/>
                                        <p:tgtEl>
                                          <p:spTgt spid="22"/>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anim calcmode="lin" valueType="num">
                                      <p:cBhvr>
                                        <p:cTn id="11" dur="500" decel="100000" fill="hold"/>
                                        <p:tgtEl>
                                          <p:spTgt spid="23"/>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500"/>
                                        <p:tgtEl>
                                          <p:spTgt spid="24"/>
                                        </p:tgtEl>
                                      </p:cBhvr>
                                    </p:animEffect>
                                    <p:anim calcmode="lin" valueType="num">
                                      <p:cBhvr>
                                        <p:cTn id="15" dur="500" decel="100000" fill="hold"/>
                                        <p:tgtEl>
                                          <p:spTgt spid="24"/>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500"/>
                                        <p:tgtEl>
                                          <p:spTgt spid="25"/>
                                        </p:tgtEl>
                                      </p:cBhvr>
                                    </p:animEffect>
                                    <p:anim calcmode="lin" valueType="num">
                                      <p:cBhvr>
                                        <p:cTn id="19" dur="500" decel="100000" fill="hold"/>
                                        <p:tgtEl>
                                          <p:spTgt spid="25"/>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anim calcmode="lin" valueType="num">
                                      <p:cBhvr>
                                        <p:cTn id="23" dur="500" decel="100000" fill="hold"/>
                                        <p:tgtEl>
                                          <p:spTgt spid="26"/>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14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anim calcmode="lin" valueType="num">
                                      <p:cBhvr>
                                        <p:cTn id="27" dur="500" decel="100000" fill="hold"/>
                                        <p:tgtEl>
                                          <p:spTgt spid="17"/>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14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anim calcmode="lin" valueType="num">
                                      <p:cBhvr>
                                        <p:cTn id="31" dur="500" decel="100000" fill="hold"/>
                                        <p:tgtEl>
                                          <p:spTgt spid="27"/>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14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anim calcmode="lin" valueType="num">
                                      <p:cBhvr>
                                        <p:cTn id="35" dur="500" decel="100000" fill="hold"/>
                                        <p:tgtEl>
                                          <p:spTgt spid="28"/>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14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500"/>
                                        <p:tgtEl>
                                          <p:spTgt spid="29"/>
                                        </p:tgtEl>
                                      </p:cBhvr>
                                    </p:animEffect>
                                    <p:anim calcmode="lin" valueType="num">
                                      <p:cBhvr>
                                        <p:cTn id="39" dur="500" decel="100000" fill="hold"/>
                                        <p:tgtEl>
                                          <p:spTgt spid="29"/>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14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500"/>
                                        <p:tgtEl>
                                          <p:spTgt spid="30"/>
                                        </p:tgtEl>
                                      </p:cBhvr>
                                    </p:animEffect>
                                    <p:anim calcmode="lin" valueType="num">
                                      <p:cBhvr>
                                        <p:cTn id="43" dur="500" decel="100000" fill="hold"/>
                                        <p:tgtEl>
                                          <p:spTgt spid="30"/>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14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00"/>
                                        <p:tgtEl>
                                          <p:spTgt spid="31"/>
                                        </p:tgtEl>
                                      </p:cBhvr>
                                    </p:animEffect>
                                    <p:anim calcmode="lin" valueType="num">
                                      <p:cBhvr>
                                        <p:cTn id="47" dur="500" decel="100000" fill="hold"/>
                                        <p:tgtEl>
                                          <p:spTgt spid="31"/>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28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anim calcmode="lin" valueType="num">
                                      <p:cBhvr>
                                        <p:cTn id="51" dur="500" decel="100000" fill="hold"/>
                                        <p:tgtEl>
                                          <p:spTgt spid="18"/>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280"/>
                                  </p:stCondLst>
                                  <p:childTnLst>
                                    <p:set>
                                      <p:cBhvr>
                                        <p:cTn id="53" dur="1" fill="hold">
                                          <p:stCondLst>
                                            <p:cond delay="0"/>
                                          </p:stCondLst>
                                        </p:cTn>
                                        <p:tgtEl>
                                          <p:spTgt spid="32"/>
                                        </p:tgtEl>
                                        <p:attrNameLst>
                                          <p:attrName>style.visibility</p:attrName>
                                        </p:attrNameLst>
                                      </p:cBhvr>
                                      <p:to>
                                        <p:strVal val="visible"/>
                                      </p:to>
                                    </p:set>
                                    <p:animEffect transition="in" filter="fade">
                                      <p:cBhvr>
                                        <p:cTn id="54" dur="500"/>
                                        <p:tgtEl>
                                          <p:spTgt spid="32"/>
                                        </p:tgtEl>
                                      </p:cBhvr>
                                    </p:animEffect>
                                    <p:anim calcmode="lin" valueType="num">
                                      <p:cBhvr>
                                        <p:cTn id="55" dur="500" decel="100000" fill="hold"/>
                                        <p:tgtEl>
                                          <p:spTgt spid="32"/>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28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500"/>
                                        <p:tgtEl>
                                          <p:spTgt spid="33"/>
                                        </p:tgtEl>
                                      </p:cBhvr>
                                    </p:animEffect>
                                    <p:anim calcmode="lin" valueType="num">
                                      <p:cBhvr>
                                        <p:cTn id="59" dur="500" decel="100000" fill="hold"/>
                                        <p:tgtEl>
                                          <p:spTgt spid="33"/>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28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500"/>
                                        <p:tgtEl>
                                          <p:spTgt spid="34"/>
                                        </p:tgtEl>
                                      </p:cBhvr>
                                    </p:animEffect>
                                    <p:anim calcmode="lin" valueType="num">
                                      <p:cBhvr>
                                        <p:cTn id="63" dur="500" decel="100000" fill="hold"/>
                                        <p:tgtEl>
                                          <p:spTgt spid="34"/>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28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500"/>
                                        <p:tgtEl>
                                          <p:spTgt spid="35"/>
                                        </p:tgtEl>
                                      </p:cBhvr>
                                    </p:animEffect>
                                    <p:anim calcmode="lin" valueType="num">
                                      <p:cBhvr>
                                        <p:cTn id="67" dur="500" decel="100000" fill="hold"/>
                                        <p:tgtEl>
                                          <p:spTgt spid="35"/>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280"/>
                                  </p:stCondLst>
                                  <p:childTnLst>
                                    <p:set>
                                      <p:cBhvr>
                                        <p:cTn id="69" dur="1" fill="hold">
                                          <p:stCondLst>
                                            <p:cond delay="0"/>
                                          </p:stCondLst>
                                        </p:cTn>
                                        <p:tgtEl>
                                          <p:spTgt spid="36"/>
                                        </p:tgtEl>
                                        <p:attrNameLst>
                                          <p:attrName>style.visibility</p:attrName>
                                        </p:attrNameLst>
                                      </p:cBhvr>
                                      <p:to>
                                        <p:strVal val="visible"/>
                                      </p:to>
                                    </p:set>
                                    <p:animEffect transition="in" filter="fade">
                                      <p:cBhvr>
                                        <p:cTn id="70" dur="500"/>
                                        <p:tgtEl>
                                          <p:spTgt spid="36"/>
                                        </p:tgtEl>
                                      </p:cBhvr>
                                    </p:animEffect>
                                    <p:anim calcmode="lin" valueType="num">
                                      <p:cBhvr>
                                        <p:cTn id="71" dur="500" decel="100000" fill="hold"/>
                                        <p:tgtEl>
                                          <p:spTgt spid="36"/>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42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decel="100000" fill="hold"/>
                                        <p:tgtEl>
                                          <p:spTgt spid="19"/>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42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500"/>
                                        <p:tgtEl>
                                          <p:spTgt spid="37"/>
                                        </p:tgtEl>
                                      </p:cBhvr>
                                    </p:animEffect>
                                    <p:anim calcmode="lin" valueType="num">
                                      <p:cBhvr>
                                        <p:cTn id="79" dur="500" decel="100000" fill="hold"/>
                                        <p:tgtEl>
                                          <p:spTgt spid="37"/>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38"/>
                                        </p:tgtEl>
                                        <p:attrNameLst>
                                          <p:attrName>style.visibility</p:attrName>
                                        </p:attrNameLst>
                                      </p:cBhvr>
                                      <p:to>
                                        <p:strVal val="visible"/>
                                      </p:to>
                                    </p:set>
                                    <p:animEffect transition="in" filter="fade">
                                      <p:cBhvr>
                                        <p:cTn id="82" dur="500"/>
                                        <p:tgtEl>
                                          <p:spTgt spid="38"/>
                                        </p:tgtEl>
                                      </p:cBhvr>
                                    </p:animEffect>
                                    <p:anim calcmode="lin" valueType="num">
                                      <p:cBhvr>
                                        <p:cTn id="83" dur="500" decel="100000" fill="hold"/>
                                        <p:tgtEl>
                                          <p:spTgt spid="38"/>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420"/>
                                  </p:stCondLst>
                                  <p:childTnLst>
                                    <p:set>
                                      <p:cBhvr>
                                        <p:cTn id="85" dur="1" fill="hold">
                                          <p:stCondLst>
                                            <p:cond delay="0"/>
                                          </p:stCondLst>
                                        </p:cTn>
                                        <p:tgtEl>
                                          <p:spTgt spid="39"/>
                                        </p:tgtEl>
                                        <p:attrNameLst>
                                          <p:attrName>style.visibility</p:attrName>
                                        </p:attrNameLst>
                                      </p:cBhvr>
                                      <p:to>
                                        <p:strVal val="visible"/>
                                      </p:to>
                                    </p:set>
                                    <p:animEffect transition="in" filter="fade">
                                      <p:cBhvr>
                                        <p:cTn id="86" dur="500"/>
                                        <p:tgtEl>
                                          <p:spTgt spid="39"/>
                                        </p:tgtEl>
                                      </p:cBhvr>
                                    </p:animEffect>
                                    <p:anim calcmode="lin" valueType="num">
                                      <p:cBhvr>
                                        <p:cTn id="87" dur="500" decel="100000" fill="hold"/>
                                        <p:tgtEl>
                                          <p:spTgt spid="39"/>
                                        </p:tgtEl>
                                        <p:attrNameLst>
                                          <p:attrName>ppt_y</p:attrName>
                                        </p:attrNameLst>
                                      </p:cBhvr>
                                      <p:tavLst>
                                        <p:tav tm="0">
                                          <p:val>
                                            <p:strVal val="#ppt_y+0.04"/>
                                          </p:val>
                                        </p:tav>
                                        <p:tav tm="100000">
                                          <p:val>
                                            <p:strVal val="#ppt_y"/>
                                          </p:val>
                                        </p:tav>
                                      </p:tavLst>
                                    </p:anim>
                                  </p:childTnLst>
                                </p:cTn>
                              </p:par>
                              <p:par>
                                <p:cTn id="88" presetID="42" presetClass="entr" presetSubtype="0" fill="hold" grpId="0" nodeType="withEffect">
                                  <p:stCondLst>
                                    <p:cond delay="420"/>
                                  </p:stCondLst>
                                  <p:childTnLst>
                                    <p:set>
                                      <p:cBhvr>
                                        <p:cTn id="89" dur="1" fill="hold">
                                          <p:stCondLst>
                                            <p:cond delay="0"/>
                                          </p:stCondLst>
                                        </p:cTn>
                                        <p:tgtEl>
                                          <p:spTgt spid="40"/>
                                        </p:tgtEl>
                                        <p:attrNameLst>
                                          <p:attrName>style.visibility</p:attrName>
                                        </p:attrNameLst>
                                      </p:cBhvr>
                                      <p:to>
                                        <p:strVal val="visible"/>
                                      </p:to>
                                    </p:set>
                                    <p:animEffect transition="in" filter="fade">
                                      <p:cBhvr>
                                        <p:cTn id="90" dur="500"/>
                                        <p:tgtEl>
                                          <p:spTgt spid="40"/>
                                        </p:tgtEl>
                                      </p:cBhvr>
                                    </p:animEffect>
                                    <p:anim calcmode="lin" valueType="num">
                                      <p:cBhvr>
                                        <p:cTn id="91" dur="500" decel="100000" fill="hold"/>
                                        <p:tgtEl>
                                          <p:spTgt spid="40"/>
                                        </p:tgtEl>
                                        <p:attrNameLst>
                                          <p:attrName>ppt_y</p:attrName>
                                        </p:attrNameLst>
                                      </p:cBhvr>
                                      <p:tavLst>
                                        <p:tav tm="0">
                                          <p:val>
                                            <p:strVal val="#ppt_y+0.04"/>
                                          </p:val>
                                        </p:tav>
                                        <p:tav tm="100000">
                                          <p:val>
                                            <p:strVal val="#ppt_y"/>
                                          </p:val>
                                        </p:tav>
                                      </p:tavLst>
                                    </p:anim>
                                  </p:childTnLst>
                                </p:cTn>
                              </p:par>
                              <p:par>
                                <p:cTn id="92" presetID="42" presetClass="entr" presetSubtype="0" fill="hold" grpId="0" nodeType="withEffect">
                                  <p:stCondLst>
                                    <p:cond delay="42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500"/>
                                        <p:tgtEl>
                                          <p:spTgt spid="41"/>
                                        </p:tgtEl>
                                      </p:cBhvr>
                                    </p:animEffect>
                                    <p:anim calcmode="lin" valueType="num">
                                      <p:cBhvr>
                                        <p:cTn id="95" dur="500" decel="100000" fill="hold"/>
                                        <p:tgtEl>
                                          <p:spTgt spid="41"/>
                                        </p:tgtEl>
                                        <p:attrNameLst>
                                          <p:attrName>ppt_y</p:attrName>
                                        </p:attrNameLst>
                                      </p:cBhvr>
                                      <p:tavLst>
                                        <p:tav tm="0">
                                          <p:val>
                                            <p:strVal val="#ppt_y+0.04"/>
                                          </p:val>
                                        </p:tav>
                                        <p:tav tm="100000">
                                          <p:val>
                                            <p:strVal val="#ppt_y"/>
                                          </p:val>
                                        </p:tav>
                                      </p:tavLst>
                                    </p:anim>
                                  </p:childTnLst>
                                </p:cTn>
                              </p:par>
                              <p:par>
                                <p:cTn id="96" presetID="42" presetClass="entr" presetSubtype="0" fill="hold" grpId="0" nodeType="withEffect">
                                  <p:stCondLst>
                                    <p:cond delay="560"/>
                                  </p:stCondLst>
                                  <p:childTnLst>
                                    <p:set>
                                      <p:cBhvr>
                                        <p:cTn id="97" dur="1" fill="hold">
                                          <p:stCondLst>
                                            <p:cond delay="0"/>
                                          </p:stCondLst>
                                        </p:cTn>
                                        <p:tgtEl>
                                          <p:spTgt spid="20"/>
                                        </p:tgtEl>
                                        <p:attrNameLst>
                                          <p:attrName>style.visibility</p:attrName>
                                        </p:attrNameLst>
                                      </p:cBhvr>
                                      <p:to>
                                        <p:strVal val="visible"/>
                                      </p:to>
                                    </p:set>
                                    <p:animEffect transition="in" filter="fade">
                                      <p:cBhvr>
                                        <p:cTn id="98" dur="500"/>
                                        <p:tgtEl>
                                          <p:spTgt spid="20"/>
                                        </p:tgtEl>
                                      </p:cBhvr>
                                    </p:animEffect>
                                    <p:anim calcmode="lin" valueType="num">
                                      <p:cBhvr>
                                        <p:cTn id="99" dur="500" decel="100000" fill="hold"/>
                                        <p:tgtEl>
                                          <p:spTgt spid="20"/>
                                        </p:tgtEl>
                                        <p:attrNameLst>
                                          <p:attrName>ppt_y</p:attrName>
                                        </p:attrNameLst>
                                      </p:cBhvr>
                                      <p:tavLst>
                                        <p:tav tm="0">
                                          <p:val>
                                            <p:strVal val="#ppt_y+0.04"/>
                                          </p:val>
                                        </p:tav>
                                        <p:tav tm="100000">
                                          <p:val>
                                            <p:strVal val="#ppt_y"/>
                                          </p:val>
                                        </p:tav>
                                      </p:tavLst>
                                    </p:anim>
                                  </p:childTnLst>
                                </p:cTn>
                              </p:par>
                              <p:par>
                                <p:cTn id="100" presetID="42" presetClass="entr" presetSubtype="0" fill="hold" grpId="0" nodeType="withEffect">
                                  <p:stCondLst>
                                    <p:cond delay="560"/>
                                  </p:stCondLst>
                                  <p:childTnLst>
                                    <p:set>
                                      <p:cBhvr>
                                        <p:cTn id="101" dur="1" fill="hold">
                                          <p:stCondLst>
                                            <p:cond delay="0"/>
                                          </p:stCondLst>
                                        </p:cTn>
                                        <p:tgtEl>
                                          <p:spTgt spid="42"/>
                                        </p:tgtEl>
                                        <p:attrNameLst>
                                          <p:attrName>style.visibility</p:attrName>
                                        </p:attrNameLst>
                                      </p:cBhvr>
                                      <p:to>
                                        <p:strVal val="visible"/>
                                      </p:to>
                                    </p:set>
                                    <p:animEffect transition="in" filter="fade">
                                      <p:cBhvr>
                                        <p:cTn id="102" dur="500"/>
                                        <p:tgtEl>
                                          <p:spTgt spid="42"/>
                                        </p:tgtEl>
                                      </p:cBhvr>
                                    </p:animEffect>
                                    <p:anim calcmode="lin" valueType="num">
                                      <p:cBhvr>
                                        <p:cTn id="103" dur="500" decel="100000" fill="hold"/>
                                        <p:tgtEl>
                                          <p:spTgt spid="42"/>
                                        </p:tgtEl>
                                        <p:attrNameLst>
                                          <p:attrName>ppt_y</p:attrName>
                                        </p:attrNameLst>
                                      </p:cBhvr>
                                      <p:tavLst>
                                        <p:tav tm="0">
                                          <p:val>
                                            <p:strVal val="#ppt_y+0.04"/>
                                          </p:val>
                                        </p:tav>
                                        <p:tav tm="100000">
                                          <p:val>
                                            <p:strVal val="#ppt_y"/>
                                          </p:val>
                                        </p:tav>
                                      </p:tavLst>
                                    </p:anim>
                                  </p:childTnLst>
                                </p:cTn>
                              </p:par>
                              <p:par>
                                <p:cTn id="104" presetID="42" presetClass="entr" presetSubtype="0" fill="hold" grpId="0" nodeType="withEffect">
                                  <p:stCondLst>
                                    <p:cond delay="56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500"/>
                                        <p:tgtEl>
                                          <p:spTgt spid="43"/>
                                        </p:tgtEl>
                                      </p:cBhvr>
                                    </p:animEffect>
                                    <p:anim calcmode="lin" valueType="num">
                                      <p:cBhvr>
                                        <p:cTn id="107" dur="500" decel="100000" fill="hold"/>
                                        <p:tgtEl>
                                          <p:spTgt spid="43"/>
                                        </p:tgtEl>
                                        <p:attrNameLst>
                                          <p:attrName>ppt_y</p:attrName>
                                        </p:attrNameLst>
                                      </p:cBhvr>
                                      <p:tavLst>
                                        <p:tav tm="0">
                                          <p:val>
                                            <p:strVal val="#ppt_y+0.04"/>
                                          </p:val>
                                        </p:tav>
                                        <p:tav tm="100000">
                                          <p:val>
                                            <p:strVal val="#ppt_y"/>
                                          </p:val>
                                        </p:tav>
                                      </p:tavLst>
                                    </p:anim>
                                  </p:childTnLst>
                                </p:cTn>
                              </p:par>
                              <p:par>
                                <p:cTn id="108" presetID="42" presetClass="entr" presetSubtype="0" fill="hold" grpId="0" nodeType="withEffect">
                                  <p:stCondLst>
                                    <p:cond delay="560"/>
                                  </p:stCondLst>
                                  <p:childTnLst>
                                    <p:set>
                                      <p:cBhvr>
                                        <p:cTn id="109" dur="1" fill="hold">
                                          <p:stCondLst>
                                            <p:cond delay="0"/>
                                          </p:stCondLst>
                                        </p:cTn>
                                        <p:tgtEl>
                                          <p:spTgt spid="44"/>
                                        </p:tgtEl>
                                        <p:attrNameLst>
                                          <p:attrName>style.visibility</p:attrName>
                                        </p:attrNameLst>
                                      </p:cBhvr>
                                      <p:to>
                                        <p:strVal val="visible"/>
                                      </p:to>
                                    </p:set>
                                    <p:animEffect transition="in" filter="fade">
                                      <p:cBhvr>
                                        <p:cTn id="110" dur="500"/>
                                        <p:tgtEl>
                                          <p:spTgt spid="44"/>
                                        </p:tgtEl>
                                      </p:cBhvr>
                                    </p:animEffect>
                                    <p:anim calcmode="lin" valueType="num">
                                      <p:cBhvr>
                                        <p:cTn id="111" dur="500" decel="100000" fill="hold"/>
                                        <p:tgtEl>
                                          <p:spTgt spid="44"/>
                                        </p:tgtEl>
                                        <p:attrNameLst>
                                          <p:attrName>ppt_y</p:attrName>
                                        </p:attrNameLst>
                                      </p:cBhvr>
                                      <p:tavLst>
                                        <p:tav tm="0">
                                          <p:val>
                                            <p:strVal val="#ppt_y+0.04"/>
                                          </p:val>
                                        </p:tav>
                                        <p:tav tm="100000">
                                          <p:val>
                                            <p:strVal val="#ppt_y"/>
                                          </p:val>
                                        </p:tav>
                                      </p:tavLst>
                                    </p:anim>
                                  </p:childTnLst>
                                </p:cTn>
                              </p:par>
                              <p:par>
                                <p:cTn id="112" presetID="42" presetClass="entr" presetSubtype="0" fill="hold" grpId="0" nodeType="withEffect">
                                  <p:stCondLst>
                                    <p:cond delay="560"/>
                                  </p:stCondLst>
                                  <p:childTnLst>
                                    <p:set>
                                      <p:cBhvr>
                                        <p:cTn id="113" dur="1" fill="hold">
                                          <p:stCondLst>
                                            <p:cond delay="0"/>
                                          </p:stCondLst>
                                        </p:cTn>
                                        <p:tgtEl>
                                          <p:spTgt spid="45"/>
                                        </p:tgtEl>
                                        <p:attrNameLst>
                                          <p:attrName>style.visibility</p:attrName>
                                        </p:attrNameLst>
                                      </p:cBhvr>
                                      <p:to>
                                        <p:strVal val="visible"/>
                                      </p:to>
                                    </p:set>
                                    <p:animEffect transition="in" filter="fade">
                                      <p:cBhvr>
                                        <p:cTn id="114" dur="500"/>
                                        <p:tgtEl>
                                          <p:spTgt spid="45"/>
                                        </p:tgtEl>
                                      </p:cBhvr>
                                    </p:animEffect>
                                    <p:anim calcmode="lin" valueType="num">
                                      <p:cBhvr>
                                        <p:cTn id="115" dur="500" decel="100000" fill="hold"/>
                                        <p:tgtEl>
                                          <p:spTgt spid="45"/>
                                        </p:tgtEl>
                                        <p:attrNameLst>
                                          <p:attrName>ppt_y</p:attrName>
                                        </p:attrNameLst>
                                      </p:cBhvr>
                                      <p:tavLst>
                                        <p:tav tm="0">
                                          <p:val>
                                            <p:strVal val="#ppt_y+0.04"/>
                                          </p:val>
                                        </p:tav>
                                        <p:tav tm="100000">
                                          <p:val>
                                            <p:strVal val="#ppt_y"/>
                                          </p:val>
                                        </p:tav>
                                      </p:tavLst>
                                    </p:anim>
                                  </p:childTnLst>
                                </p:cTn>
                              </p:par>
                              <p:par>
                                <p:cTn id="116" presetID="42" presetClass="entr" presetSubtype="0" fill="hold" grpId="0" nodeType="withEffect">
                                  <p:stCondLst>
                                    <p:cond delay="560"/>
                                  </p:stCondLst>
                                  <p:childTnLst>
                                    <p:set>
                                      <p:cBhvr>
                                        <p:cTn id="117" dur="1" fill="hold">
                                          <p:stCondLst>
                                            <p:cond delay="0"/>
                                          </p:stCondLst>
                                        </p:cTn>
                                        <p:tgtEl>
                                          <p:spTgt spid="46"/>
                                        </p:tgtEl>
                                        <p:attrNameLst>
                                          <p:attrName>style.visibility</p:attrName>
                                        </p:attrNameLst>
                                      </p:cBhvr>
                                      <p:to>
                                        <p:strVal val="visible"/>
                                      </p:to>
                                    </p:set>
                                    <p:animEffect transition="in" filter="fade">
                                      <p:cBhvr>
                                        <p:cTn id="118" dur="500"/>
                                        <p:tgtEl>
                                          <p:spTgt spid="46"/>
                                        </p:tgtEl>
                                      </p:cBhvr>
                                    </p:animEffect>
                                    <p:anim calcmode="lin" valueType="num">
                                      <p:cBhvr>
                                        <p:cTn id="119" dur="500" decel="100000" fill="hold"/>
                                        <p:tgtEl>
                                          <p:spTgt spid="46"/>
                                        </p:tgtEl>
                                        <p:attrNameLst>
                                          <p:attrName>ppt_y</p:attrName>
                                        </p:attrNameLst>
                                      </p:cBhvr>
                                      <p:tavLst>
                                        <p:tav tm="0">
                                          <p:val>
                                            <p:strVal val="#ppt_y+0.04"/>
                                          </p:val>
                                        </p:tav>
                                        <p:tav tm="100000">
                                          <p:val>
                                            <p:strVal val="#ppt_y"/>
                                          </p:val>
                                        </p:tav>
                                      </p:tavLst>
                                    </p:anim>
                                  </p:childTnLst>
                                </p:cTn>
                              </p:par>
                              <p:par>
                                <p:cTn id="120" presetID="42" presetClass="entr" presetSubtype="0" fill="hold" grpId="0" nodeType="withEffect">
                                  <p:stCondLst>
                                    <p:cond delay="700"/>
                                  </p:stCondLst>
                                  <p:childTnLst>
                                    <p:set>
                                      <p:cBhvr>
                                        <p:cTn id="121" dur="1" fill="hold">
                                          <p:stCondLst>
                                            <p:cond delay="0"/>
                                          </p:stCondLst>
                                        </p:cTn>
                                        <p:tgtEl>
                                          <p:spTgt spid="21"/>
                                        </p:tgtEl>
                                        <p:attrNameLst>
                                          <p:attrName>style.visibility</p:attrName>
                                        </p:attrNameLst>
                                      </p:cBhvr>
                                      <p:to>
                                        <p:strVal val="visible"/>
                                      </p:to>
                                    </p:set>
                                    <p:animEffect transition="in" filter="fade">
                                      <p:cBhvr>
                                        <p:cTn id="122" dur="500"/>
                                        <p:tgtEl>
                                          <p:spTgt spid="21"/>
                                        </p:tgtEl>
                                      </p:cBhvr>
                                    </p:animEffect>
                                    <p:anim calcmode="lin" valueType="num">
                                      <p:cBhvr>
                                        <p:cTn id="123" dur="500" decel="100000" fill="hold"/>
                                        <p:tgtEl>
                                          <p:spTgt spid="21"/>
                                        </p:tgtEl>
                                        <p:attrNameLst>
                                          <p:attrName>ppt_y</p:attrName>
                                        </p:attrNameLst>
                                      </p:cBhvr>
                                      <p:tavLst>
                                        <p:tav tm="0">
                                          <p:val>
                                            <p:strVal val="#ppt_y+0.04"/>
                                          </p:val>
                                        </p:tav>
                                        <p:tav tm="100000">
                                          <p:val>
                                            <p:strVal val="#ppt_y"/>
                                          </p:val>
                                        </p:tav>
                                      </p:tavLst>
                                    </p:anim>
                                  </p:childTnLst>
                                </p:cTn>
                              </p:par>
                              <p:par>
                                <p:cTn id="124" presetID="42" presetClass="entr" presetSubtype="0" fill="hold" grpId="0" nodeType="withEffect">
                                  <p:stCondLst>
                                    <p:cond delay="70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500"/>
                                        <p:tgtEl>
                                          <p:spTgt spid="47"/>
                                        </p:tgtEl>
                                      </p:cBhvr>
                                    </p:animEffect>
                                    <p:anim calcmode="lin" valueType="num">
                                      <p:cBhvr>
                                        <p:cTn id="127" dur="500" decel="100000" fill="hold"/>
                                        <p:tgtEl>
                                          <p:spTgt spid="47"/>
                                        </p:tgtEl>
                                        <p:attrNameLst>
                                          <p:attrName>ppt_y</p:attrName>
                                        </p:attrNameLst>
                                      </p:cBhvr>
                                      <p:tavLst>
                                        <p:tav tm="0">
                                          <p:val>
                                            <p:strVal val="#ppt_y+0.04"/>
                                          </p:val>
                                        </p:tav>
                                        <p:tav tm="100000">
                                          <p:val>
                                            <p:strVal val="#ppt_y"/>
                                          </p:val>
                                        </p:tav>
                                      </p:tavLst>
                                    </p:anim>
                                  </p:childTnLst>
                                </p:cTn>
                              </p:par>
                              <p:par>
                                <p:cTn id="128" presetID="42" presetClass="entr" presetSubtype="0" fill="hold" grpId="0" nodeType="withEffect">
                                  <p:stCondLst>
                                    <p:cond delay="700"/>
                                  </p:stCondLst>
                                  <p:childTnLst>
                                    <p:set>
                                      <p:cBhvr>
                                        <p:cTn id="129" dur="1" fill="hold">
                                          <p:stCondLst>
                                            <p:cond delay="0"/>
                                          </p:stCondLst>
                                        </p:cTn>
                                        <p:tgtEl>
                                          <p:spTgt spid="48"/>
                                        </p:tgtEl>
                                        <p:attrNameLst>
                                          <p:attrName>style.visibility</p:attrName>
                                        </p:attrNameLst>
                                      </p:cBhvr>
                                      <p:to>
                                        <p:strVal val="visible"/>
                                      </p:to>
                                    </p:set>
                                    <p:animEffect transition="in" filter="fade">
                                      <p:cBhvr>
                                        <p:cTn id="130" dur="500"/>
                                        <p:tgtEl>
                                          <p:spTgt spid="48"/>
                                        </p:tgtEl>
                                      </p:cBhvr>
                                    </p:animEffect>
                                    <p:anim calcmode="lin" valueType="num">
                                      <p:cBhvr>
                                        <p:cTn id="131" dur="500" decel="100000" fill="hold"/>
                                        <p:tgtEl>
                                          <p:spTgt spid="48"/>
                                        </p:tgtEl>
                                        <p:attrNameLst>
                                          <p:attrName>ppt_y</p:attrName>
                                        </p:attrNameLst>
                                      </p:cBhvr>
                                      <p:tavLst>
                                        <p:tav tm="0">
                                          <p:val>
                                            <p:strVal val="#ppt_y+0.04"/>
                                          </p:val>
                                        </p:tav>
                                        <p:tav tm="100000">
                                          <p:val>
                                            <p:strVal val="#ppt_y"/>
                                          </p:val>
                                        </p:tav>
                                      </p:tavLst>
                                    </p:anim>
                                  </p:childTnLst>
                                </p:cTn>
                              </p:par>
                              <p:par>
                                <p:cTn id="132" presetID="42" presetClass="entr" presetSubtype="0" fill="hold" grpId="0" nodeType="withEffect">
                                  <p:stCondLst>
                                    <p:cond delay="700"/>
                                  </p:stCondLst>
                                  <p:childTnLst>
                                    <p:set>
                                      <p:cBhvr>
                                        <p:cTn id="133" dur="1" fill="hold">
                                          <p:stCondLst>
                                            <p:cond delay="0"/>
                                          </p:stCondLst>
                                        </p:cTn>
                                        <p:tgtEl>
                                          <p:spTgt spid="49"/>
                                        </p:tgtEl>
                                        <p:attrNameLst>
                                          <p:attrName>style.visibility</p:attrName>
                                        </p:attrNameLst>
                                      </p:cBhvr>
                                      <p:to>
                                        <p:strVal val="visible"/>
                                      </p:to>
                                    </p:set>
                                    <p:animEffect transition="in" filter="fade">
                                      <p:cBhvr>
                                        <p:cTn id="134" dur="500"/>
                                        <p:tgtEl>
                                          <p:spTgt spid="49"/>
                                        </p:tgtEl>
                                      </p:cBhvr>
                                    </p:animEffect>
                                    <p:anim calcmode="lin" valueType="num">
                                      <p:cBhvr>
                                        <p:cTn id="135" dur="500" decel="100000" fill="hold"/>
                                        <p:tgtEl>
                                          <p:spTgt spid="49"/>
                                        </p:tgtEl>
                                        <p:attrNameLst>
                                          <p:attrName>ppt_y</p:attrName>
                                        </p:attrNameLst>
                                      </p:cBhvr>
                                      <p:tavLst>
                                        <p:tav tm="0">
                                          <p:val>
                                            <p:strVal val="#ppt_y+0.04"/>
                                          </p:val>
                                        </p:tav>
                                        <p:tav tm="100000">
                                          <p:val>
                                            <p:strVal val="#ppt_y"/>
                                          </p:val>
                                        </p:tav>
                                      </p:tavLst>
                                    </p:anim>
                                  </p:childTnLst>
                                </p:cTn>
                              </p:par>
                              <p:par>
                                <p:cTn id="136" presetID="42" presetClass="entr" presetSubtype="0" fill="hold" grpId="0" nodeType="withEffect">
                                  <p:stCondLst>
                                    <p:cond delay="700"/>
                                  </p:stCondLst>
                                  <p:childTnLst>
                                    <p:set>
                                      <p:cBhvr>
                                        <p:cTn id="137" dur="1" fill="hold">
                                          <p:stCondLst>
                                            <p:cond delay="0"/>
                                          </p:stCondLst>
                                        </p:cTn>
                                        <p:tgtEl>
                                          <p:spTgt spid="50"/>
                                        </p:tgtEl>
                                        <p:attrNameLst>
                                          <p:attrName>style.visibility</p:attrName>
                                        </p:attrNameLst>
                                      </p:cBhvr>
                                      <p:to>
                                        <p:strVal val="visible"/>
                                      </p:to>
                                    </p:set>
                                    <p:animEffect transition="in" filter="fade">
                                      <p:cBhvr>
                                        <p:cTn id="138" dur="500"/>
                                        <p:tgtEl>
                                          <p:spTgt spid="50"/>
                                        </p:tgtEl>
                                      </p:cBhvr>
                                    </p:animEffect>
                                    <p:anim calcmode="lin" valueType="num">
                                      <p:cBhvr>
                                        <p:cTn id="139" dur="500" decel="100000" fill="hold"/>
                                        <p:tgtEl>
                                          <p:spTgt spid="50"/>
                                        </p:tgtEl>
                                        <p:attrNameLst>
                                          <p:attrName>ppt_y</p:attrName>
                                        </p:attrNameLst>
                                      </p:cBhvr>
                                      <p:tavLst>
                                        <p:tav tm="0">
                                          <p:val>
                                            <p:strVal val="#ppt_y+0.04"/>
                                          </p:val>
                                        </p:tav>
                                        <p:tav tm="100000">
                                          <p:val>
                                            <p:strVal val="#ppt_y"/>
                                          </p:val>
                                        </p:tav>
                                      </p:tavLst>
                                    </p:anim>
                                  </p:childTnLst>
                                </p:cTn>
                              </p:par>
                              <p:par>
                                <p:cTn id="140" presetID="42" presetClass="entr" presetSubtype="0" fill="hold" grpId="0" nodeType="withEffect">
                                  <p:stCondLst>
                                    <p:cond delay="700"/>
                                  </p:stCondLst>
                                  <p:childTnLst>
                                    <p:set>
                                      <p:cBhvr>
                                        <p:cTn id="141" dur="1" fill="hold">
                                          <p:stCondLst>
                                            <p:cond delay="0"/>
                                          </p:stCondLst>
                                        </p:cTn>
                                        <p:tgtEl>
                                          <p:spTgt spid="51"/>
                                        </p:tgtEl>
                                        <p:attrNameLst>
                                          <p:attrName>style.visibility</p:attrName>
                                        </p:attrNameLst>
                                      </p:cBhvr>
                                      <p:to>
                                        <p:strVal val="visible"/>
                                      </p:to>
                                    </p:set>
                                    <p:animEffect transition="in" filter="fade">
                                      <p:cBhvr>
                                        <p:cTn id="142" dur="500"/>
                                        <p:tgtEl>
                                          <p:spTgt spid="51"/>
                                        </p:tgtEl>
                                      </p:cBhvr>
                                    </p:animEffect>
                                    <p:anim calcmode="lin" valueType="num">
                                      <p:cBhvr>
                                        <p:cTn id="143" dur="500" decel="100000" fill="hold"/>
                                        <p:tgtEl>
                                          <p:spTgt spid="51"/>
                                        </p:tgtEl>
                                        <p:attrNameLst>
                                          <p:attrName>ppt_y</p:attrName>
                                        </p:attrNameLst>
                                      </p:cBhvr>
                                      <p:tavLst>
                                        <p:tav tm="0">
                                          <p:val>
                                            <p:strVal val="#ppt_y+0.04"/>
                                          </p:val>
                                        </p:tav>
                                        <p:tav tm="100000">
                                          <p:val>
                                            <p:strVal val="#ppt_y"/>
                                          </p:val>
                                        </p:tav>
                                      </p:tavLst>
                                    </p:anim>
                                  </p:childTnLst>
                                </p:cTn>
                              </p:par>
                              <p:par>
                                <p:cTn id="144" presetID="42" presetClass="entr" presetSubtype="0" fill="hold" grpId="0" nodeType="withEffect">
                                  <p:stCondLst>
                                    <p:cond delay="84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500"/>
                                        <p:tgtEl>
                                          <p:spTgt spid="56"/>
                                        </p:tgtEl>
                                      </p:cBhvr>
                                    </p:animEffect>
                                    <p:anim calcmode="lin" valueType="num">
                                      <p:cBhvr>
                                        <p:cTn id="147" dur="500" decel="100000" fill="hold"/>
                                        <p:tgtEl>
                                          <p:spTgt spid="56"/>
                                        </p:tgtEl>
                                        <p:attrNameLst>
                                          <p:attrName>ppt_y</p:attrName>
                                        </p:attrNameLst>
                                      </p:cBhvr>
                                      <p:tavLst>
                                        <p:tav tm="0">
                                          <p:val>
                                            <p:strVal val="#ppt_y+0.04"/>
                                          </p:val>
                                        </p:tav>
                                        <p:tav tm="100000">
                                          <p:val>
                                            <p:strVal val="#ppt_y"/>
                                          </p:val>
                                        </p:tav>
                                      </p:tavLst>
                                    </p:anim>
                                  </p:childTnLst>
                                </p:cTn>
                              </p:par>
                              <p:par>
                                <p:cTn id="148" presetID="42" presetClass="entr" presetSubtype="0" fill="hold" grpId="0" nodeType="withEffect">
                                  <p:stCondLst>
                                    <p:cond delay="840"/>
                                  </p:stCondLst>
                                  <p:childTnLst>
                                    <p:set>
                                      <p:cBhvr>
                                        <p:cTn id="149" dur="1" fill="hold">
                                          <p:stCondLst>
                                            <p:cond delay="0"/>
                                          </p:stCondLst>
                                        </p:cTn>
                                        <p:tgtEl>
                                          <p:spTgt spid="57"/>
                                        </p:tgtEl>
                                        <p:attrNameLst>
                                          <p:attrName>style.visibility</p:attrName>
                                        </p:attrNameLst>
                                      </p:cBhvr>
                                      <p:to>
                                        <p:strVal val="visible"/>
                                      </p:to>
                                    </p:set>
                                    <p:animEffect transition="in" filter="fade">
                                      <p:cBhvr>
                                        <p:cTn id="150" dur="500"/>
                                        <p:tgtEl>
                                          <p:spTgt spid="57"/>
                                        </p:tgtEl>
                                      </p:cBhvr>
                                    </p:animEffect>
                                    <p:anim calcmode="lin" valueType="num">
                                      <p:cBhvr>
                                        <p:cTn id="151" dur="500" decel="100000" fill="hold"/>
                                        <p:tgtEl>
                                          <p:spTgt spid="57"/>
                                        </p:tgtEl>
                                        <p:attrNameLst>
                                          <p:attrName>ppt_y</p:attrName>
                                        </p:attrNameLst>
                                      </p:cBhvr>
                                      <p:tavLst>
                                        <p:tav tm="0">
                                          <p:val>
                                            <p:strVal val="#ppt_y+0.04"/>
                                          </p:val>
                                        </p:tav>
                                        <p:tav tm="100000">
                                          <p:val>
                                            <p:strVal val="#ppt_y"/>
                                          </p:val>
                                        </p:tav>
                                      </p:tavLst>
                                    </p:anim>
                                  </p:childTnLst>
                                </p:cTn>
                              </p:par>
                              <p:par>
                                <p:cTn id="152" presetID="42" presetClass="entr" presetSubtype="0" fill="hold" grpId="0" nodeType="withEffect">
                                  <p:stCondLst>
                                    <p:cond delay="840"/>
                                  </p:stCondLst>
                                  <p:childTnLst>
                                    <p:set>
                                      <p:cBhvr>
                                        <p:cTn id="153" dur="1" fill="hold">
                                          <p:stCondLst>
                                            <p:cond delay="0"/>
                                          </p:stCondLst>
                                        </p:cTn>
                                        <p:tgtEl>
                                          <p:spTgt spid="58"/>
                                        </p:tgtEl>
                                        <p:attrNameLst>
                                          <p:attrName>style.visibility</p:attrName>
                                        </p:attrNameLst>
                                      </p:cBhvr>
                                      <p:to>
                                        <p:strVal val="visible"/>
                                      </p:to>
                                    </p:set>
                                    <p:animEffect transition="in" filter="fade">
                                      <p:cBhvr>
                                        <p:cTn id="154" dur="500"/>
                                        <p:tgtEl>
                                          <p:spTgt spid="58"/>
                                        </p:tgtEl>
                                      </p:cBhvr>
                                    </p:animEffect>
                                    <p:anim calcmode="lin" valueType="num">
                                      <p:cBhvr>
                                        <p:cTn id="155" dur="500" decel="100000" fill="hold"/>
                                        <p:tgtEl>
                                          <p:spTgt spid="58"/>
                                        </p:tgtEl>
                                        <p:attrNameLst>
                                          <p:attrName>ppt_y</p:attrName>
                                        </p:attrNameLst>
                                      </p:cBhvr>
                                      <p:tavLst>
                                        <p:tav tm="0">
                                          <p:val>
                                            <p:strVal val="#ppt_y+0.04"/>
                                          </p:val>
                                        </p:tav>
                                        <p:tav tm="100000">
                                          <p:val>
                                            <p:strVal val="#ppt_y"/>
                                          </p:val>
                                        </p:tav>
                                      </p:tavLst>
                                    </p:anim>
                                  </p:childTnLst>
                                </p:cTn>
                              </p:par>
                              <p:par>
                                <p:cTn id="156" presetID="42" presetClass="entr" presetSubtype="0" fill="hold" grpId="0" nodeType="withEffect">
                                  <p:stCondLst>
                                    <p:cond delay="840"/>
                                  </p:stCondLst>
                                  <p:childTnLst>
                                    <p:set>
                                      <p:cBhvr>
                                        <p:cTn id="157" dur="1" fill="hold">
                                          <p:stCondLst>
                                            <p:cond delay="0"/>
                                          </p:stCondLst>
                                        </p:cTn>
                                        <p:tgtEl>
                                          <p:spTgt spid="59"/>
                                        </p:tgtEl>
                                        <p:attrNameLst>
                                          <p:attrName>style.visibility</p:attrName>
                                        </p:attrNameLst>
                                      </p:cBhvr>
                                      <p:to>
                                        <p:strVal val="visible"/>
                                      </p:to>
                                    </p:set>
                                    <p:animEffect transition="in" filter="fade">
                                      <p:cBhvr>
                                        <p:cTn id="158" dur="500"/>
                                        <p:tgtEl>
                                          <p:spTgt spid="59"/>
                                        </p:tgtEl>
                                      </p:cBhvr>
                                    </p:animEffect>
                                    <p:anim calcmode="lin" valueType="num">
                                      <p:cBhvr>
                                        <p:cTn id="159" dur="500" decel="100000" fill="hold"/>
                                        <p:tgtEl>
                                          <p:spTgt spid="59"/>
                                        </p:tgtEl>
                                        <p:attrNameLst>
                                          <p:attrName>ppt_y</p:attrName>
                                        </p:attrNameLst>
                                      </p:cBhvr>
                                      <p:tavLst>
                                        <p:tav tm="0">
                                          <p:val>
                                            <p:strVal val="#ppt_y+0.04"/>
                                          </p:val>
                                        </p:tav>
                                        <p:tav tm="100000">
                                          <p:val>
                                            <p:strVal val="#ppt_y"/>
                                          </p:val>
                                        </p:tav>
                                      </p:tavLst>
                                    </p:anim>
                                  </p:childTnLst>
                                </p:cTn>
                              </p:par>
                              <p:par>
                                <p:cTn id="160" presetID="42" presetClass="entr" presetSubtype="0" fill="hold" grpId="0" nodeType="withEffect">
                                  <p:stCondLst>
                                    <p:cond delay="840"/>
                                  </p:stCondLst>
                                  <p:childTnLst>
                                    <p:set>
                                      <p:cBhvr>
                                        <p:cTn id="161" dur="1" fill="hold">
                                          <p:stCondLst>
                                            <p:cond delay="0"/>
                                          </p:stCondLst>
                                        </p:cTn>
                                        <p:tgtEl>
                                          <p:spTgt spid="60"/>
                                        </p:tgtEl>
                                        <p:attrNameLst>
                                          <p:attrName>style.visibility</p:attrName>
                                        </p:attrNameLst>
                                      </p:cBhvr>
                                      <p:to>
                                        <p:strVal val="visible"/>
                                      </p:to>
                                    </p:set>
                                    <p:animEffect transition="in" filter="fade">
                                      <p:cBhvr>
                                        <p:cTn id="162" dur="500"/>
                                        <p:tgtEl>
                                          <p:spTgt spid="60"/>
                                        </p:tgtEl>
                                      </p:cBhvr>
                                    </p:animEffect>
                                    <p:anim calcmode="lin" valueType="num">
                                      <p:cBhvr>
                                        <p:cTn id="163" dur="500" decel="100000" fill="hold"/>
                                        <p:tgtEl>
                                          <p:spTgt spid="60"/>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5" grpId="0" animBg="1"/>
      <p:bldP spid="26" grpId="0" animBg="1"/>
      <p:bldP spid="17" grpId="0" animBg="1"/>
      <p:bldP spid="27" grpId="0" animBg="1"/>
      <p:bldP spid="29" grpId="0" animBg="1"/>
      <p:bldP spid="30" grpId="0" animBg="1"/>
      <p:bldP spid="31" grpId="0" animBg="1"/>
      <p:bldP spid="18" grpId="0" animBg="1"/>
      <p:bldP spid="32" grpId="0" animBg="1"/>
      <p:bldP spid="34" grpId="0" animBg="1"/>
      <p:bldP spid="35" grpId="0" animBg="1"/>
      <p:bldP spid="36" grpId="0" animBg="1"/>
      <p:bldP spid="19" grpId="0" animBg="1"/>
      <p:bldP spid="37" grpId="0" animBg="1"/>
      <p:bldP spid="39" grpId="0" animBg="1"/>
      <p:bldP spid="40" grpId="0" animBg="1"/>
      <p:bldP spid="41" grpId="0" animBg="1"/>
      <p:bldP spid="20" grpId="0" animBg="1"/>
      <p:bldP spid="42" grpId="0" animBg="1"/>
      <p:bldP spid="44" grpId="0" animBg="1"/>
      <p:bldP spid="45" grpId="0" animBg="1"/>
      <p:bldP spid="46" grpId="0" animBg="1"/>
      <p:bldP spid="21" grpId="0" animBg="1"/>
      <p:bldP spid="47" grpId="0" animBg="1"/>
      <p:bldP spid="49" grpId="0" animBg="1"/>
      <p:bldP spid="50" grpId="0" animBg="1"/>
      <p:bldP spid="51" grpId="0" animBg="1"/>
      <p:bldP spid="56" grpId="0" animBg="1"/>
      <p:bldP spid="57" grpId="0" animBg="1"/>
      <p:bldP spid="59" grpId="0" animBg="1"/>
      <p:bldP spid="6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06  ·  EXPERIMENTAL SETUP</a:t>
            </a:r>
            <a:endParaRPr lang="en-US" sz="1200" dirty="0"/>
          </a:p>
        </p:txBody>
      </p:sp>
      <p:sp>
        <p:nvSpPr>
          <p:cNvPr id="3" name="!!title"/>
          <p:cNvSpPr txBox="1"/>
          <p:nvPr/>
        </p:nvSpPr>
        <p:spPr>
          <a:xfrm>
            <a:off x="548640" y="804672"/>
            <a:ext cx="1042416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Paired design: K is the only variable</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06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91440" cy="91440"/>
          </a:xfrm>
          <a:prstGeom prst="roundRect">
            <a:avLst>
              <a:gd name="adj" fmla="val 50000"/>
            </a:avLst>
          </a:prstGeom>
          <a:solidFill>
            <a:srgbClr val="C97700">
              <a:alpha val="45000"/>
            </a:srgbClr>
          </a:solidFill>
          <a:ln/>
        </p:spPr>
      </p:sp>
      <p:sp>
        <p:nvSpPr>
          <p:cNvPr id="10" name="!!dot5"/>
          <p:cNvSpPr/>
          <p:nvPr/>
        </p:nvSpPr>
        <p:spPr>
          <a:xfrm>
            <a:off x="10378440" y="6451092"/>
            <a:ext cx="91440" cy="91440"/>
          </a:xfrm>
          <a:prstGeom prst="roundRect">
            <a:avLst>
              <a:gd name="adj" fmla="val 50000"/>
            </a:avLst>
          </a:prstGeom>
          <a:solidFill>
            <a:srgbClr val="C97700">
              <a:alpha val="45000"/>
            </a:srgbClr>
          </a:solidFill>
          <a:ln/>
        </p:spPr>
      </p:sp>
      <p:sp>
        <p:nvSpPr>
          <p:cNvPr id="11" name="!!dot6"/>
          <p:cNvSpPr/>
          <p:nvPr/>
        </p:nvSpPr>
        <p:spPr>
          <a:xfrm>
            <a:off x="10561320" y="6451092"/>
            <a:ext cx="365760" cy="91440"/>
          </a:xfrm>
          <a:prstGeom prst="roundRect">
            <a:avLst>
              <a:gd name="adj" fmla="val 50000"/>
            </a:avLst>
          </a:prstGeom>
          <a:solidFill>
            <a:srgbClr val="C97700"/>
          </a:solidFill>
          <a:ln/>
        </p:spPr>
      </p:sp>
      <p:sp>
        <p:nvSpPr>
          <p:cNvPr id="12" name="!!dot7"/>
          <p:cNvSpPr/>
          <p:nvPr/>
        </p:nvSpPr>
        <p:spPr>
          <a:xfrm>
            <a:off x="11018520" y="6451092"/>
            <a:ext cx="91440" cy="91440"/>
          </a:xfrm>
          <a:prstGeom prst="roundRect">
            <a:avLst>
              <a:gd name="adj" fmla="val 50000"/>
            </a:avLst>
          </a:prstGeom>
          <a:solidFill>
            <a:srgbClr val="D9DCE8"/>
          </a:solidFill>
          <a:ln/>
        </p:spPr>
      </p:sp>
      <p:sp>
        <p:nvSpPr>
          <p:cNvPr id="13" name="!!dot8"/>
          <p:cNvSpPr/>
          <p:nvPr/>
        </p:nvSpPr>
        <p:spPr>
          <a:xfrm>
            <a:off x="11201400" y="6451092"/>
            <a:ext cx="91440" cy="91440"/>
          </a:xfrm>
          <a:prstGeom prst="roundRect">
            <a:avLst>
              <a:gd name="adj" fmla="val 50000"/>
            </a:avLst>
          </a:prstGeom>
          <a:solidFill>
            <a:srgbClr val="D9DCE8"/>
          </a:solidFill>
          <a:ln/>
        </p:spPr>
      </p:sp>
      <p:sp>
        <p:nvSpPr>
          <p:cNvPr id="14" name="!!dot9"/>
          <p:cNvSpPr/>
          <p:nvPr/>
        </p:nvSpPr>
        <p:spPr>
          <a:xfrm>
            <a:off x="11384280" y="6451092"/>
            <a:ext cx="91440" cy="91440"/>
          </a:xfrm>
          <a:prstGeom prst="roundRect">
            <a:avLst>
              <a:gd name="adj" fmla="val 50000"/>
            </a:avLst>
          </a:prstGeom>
          <a:solidFill>
            <a:srgbClr val="D9DCE8"/>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eL"/>
          <p:cNvSpPr/>
          <p:nvPr/>
        </p:nvSpPr>
        <p:spPr>
          <a:xfrm>
            <a:off x="548640" y="1828800"/>
            <a:ext cx="3611880" cy="4206240"/>
          </a:xfrm>
          <a:prstGeom prst="roundRect">
            <a:avLst>
              <a:gd name="adj" fmla="val 3544"/>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18" name="eLl"/>
          <p:cNvSpPr txBox="1"/>
          <p:nvPr/>
        </p:nvSpPr>
        <p:spPr>
          <a:xfrm>
            <a:off x="804672" y="2029968"/>
            <a:ext cx="3108960" cy="256032"/>
          </a:xfrm>
          <a:prstGeom prst="rect">
            <a:avLst/>
          </a:prstGeom>
          <a:noFill/>
          <a:ln/>
        </p:spPr>
        <p:txBody>
          <a:bodyPr wrap="square" lIns="0" tIns="0" rIns="0" bIns="0" rtlCol="0" anchor="t"/>
          <a:lstStyle/>
          <a:p>
            <a:pPr indent="0" marL="0">
              <a:buNone/>
            </a:pPr>
            <a:r>
              <a:rPr lang="en-US" sz="1100" spc="100" kern="0" dirty="0">
                <a:solidFill>
                  <a:srgbClr val="C97700"/>
                </a:solidFill>
                <a:latin typeface="Consolas" pitchFamily="34" charset="0"/>
                <a:ea typeface="Consolas" pitchFamily="34" charset="-122"/>
                <a:cs typeface="Consolas" pitchFamily="34" charset="-120"/>
              </a:rPr>
              <a:t>INDEPENDENT VARIABLE</a:t>
            </a:r>
            <a:endParaRPr lang="en-US" sz="1100" dirty="0"/>
          </a:p>
        </p:txBody>
      </p:sp>
      <p:sp>
        <p:nvSpPr>
          <p:cNvPr id="19" name="eLh"/>
          <p:cNvSpPr txBox="1"/>
          <p:nvPr/>
        </p:nvSpPr>
        <p:spPr>
          <a:xfrm>
            <a:off x="804672" y="2331720"/>
            <a:ext cx="3108960" cy="384048"/>
          </a:xfrm>
          <a:prstGeom prst="rect">
            <a:avLst/>
          </a:prstGeom>
          <a:noFill/>
          <a:ln/>
        </p:spPr>
        <p:txBody>
          <a:bodyPr wrap="square" lIns="0" tIns="0" rIns="0" bIns="0" rtlCol="0" anchor="t"/>
          <a:lstStyle/>
          <a:p>
            <a:pPr indent="0" marL="0">
              <a:buNone/>
            </a:pPr>
            <a:r>
              <a:rPr lang="en-US" sz="2000" b="1" dirty="0">
                <a:solidFill>
                  <a:srgbClr val="16182B"/>
                </a:solidFill>
                <a:latin typeface="Calibri" pitchFamily="34" charset="0"/>
                <a:ea typeface="Calibri" pitchFamily="34" charset="-122"/>
                <a:cs typeface="Calibri" pitchFamily="34" charset="-120"/>
              </a:rPr>
              <a:t>Retrieval depth K</a:t>
            </a:r>
            <a:endParaRPr lang="en-US" sz="2000" dirty="0"/>
          </a:p>
        </p:txBody>
      </p:sp>
      <p:sp>
        <p:nvSpPr>
          <p:cNvPr id="20" name="!!k1"/>
          <p:cNvSpPr/>
          <p:nvPr/>
        </p:nvSpPr>
        <p:spPr>
          <a:xfrm>
            <a:off x="804672" y="2880360"/>
            <a:ext cx="1463040" cy="502920"/>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600" b="1" dirty="0">
                <a:solidFill>
                  <a:srgbClr val="C97700"/>
                </a:solidFill>
                <a:latin typeface="Consolas" pitchFamily="34" charset="0"/>
                <a:ea typeface="Consolas" pitchFamily="34" charset="-122"/>
                <a:cs typeface="Consolas" pitchFamily="34" charset="-120"/>
              </a:rPr>
              <a:t>K = 1</a:t>
            </a:r>
            <a:endParaRPr lang="en-US" sz="1600" dirty="0"/>
          </a:p>
        </p:txBody>
      </p:sp>
      <p:sp>
        <p:nvSpPr>
          <p:cNvPr id="21" name="!!k3"/>
          <p:cNvSpPr/>
          <p:nvPr/>
        </p:nvSpPr>
        <p:spPr>
          <a:xfrm>
            <a:off x="2423160" y="2880360"/>
            <a:ext cx="1463040" cy="502920"/>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600" b="1" dirty="0">
                <a:solidFill>
                  <a:srgbClr val="C97700"/>
                </a:solidFill>
                <a:latin typeface="Consolas" pitchFamily="34" charset="0"/>
                <a:ea typeface="Consolas" pitchFamily="34" charset="-122"/>
                <a:cs typeface="Consolas" pitchFamily="34" charset="-120"/>
              </a:rPr>
              <a:t>K = 3</a:t>
            </a:r>
            <a:endParaRPr lang="en-US" sz="1600" dirty="0"/>
          </a:p>
        </p:txBody>
      </p:sp>
      <p:sp>
        <p:nvSpPr>
          <p:cNvPr id="22" name="!!k5"/>
          <p:cNvSpPr/>
          <p:nvPr/>
        </p:nvSpPr>
        <p:spPr>
          <a:xfrm>
            <a:off x="804672" y="3520440"/>
            <a:ext cx="1463040" cy="502920"/>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600" b="1" dirty="0">
                <a:solidFill>
                  <a:srgbClr val="C97700"/>
                </a:solidFill>
                <a:latin typeface="Consolas" pitchFamily="34" charset="0"/>
                <a:ea typeface="Consolas" pitchFamily="34" charset="-122"/>
                <a:cs typeface="Consolas" pitchFamily="34" charset="-120"/>
              </a:rPr>
              <a:t>K = 5</a:t>
            </a:r>
            <a:endParaRPr lang="en-US" sz="1600" dirty="0"/>
          </a:p>
        </p:txBody>
      </p:sp>
      <p:sp>
        <p:nvSpPr>
          <p:cNvPr id="23" name="!!k10"/>
          <p:cNvSpPr/>
          <p:nvPr/>
        </p:nvSpPr>
        <p:spPr>
          <a:xfrm>
            <a:off x="2423160" y="3520440"/>
            <a:ext cx="1463040" cy="502920"/>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600" b="1" dirty="0">
                <a:solidFill>
                  <a:srgbClr val="C97700"/>
                </a:solidFill>
                <a:latin typeface="Consolas" pitchFamily="34" charset="0"/>
                <a:ea typeface="Consolas" pitchFamily="34" charset="-122"/>
                <a:cs typeface="Consolas" pitchFamily="34" charset="-120"/>
              </a:rPr>
              <a:t>K = 10</a:t>
            </a:r>
            <a:endParaRPr lang="en-US" sz="1600" dirty="0"/>
          </a:p>
        </p:txBody>
      </p:sp>
      <p:sp>
        <p:nvSpPr>
          <p:cNvPr id="24" name="!!lensGlow"/>
          <p:cNvSpPr/>
          <p:nvPr/>
        </p:nvSpPr>
        <p:spPr>
          <a:xfrm>
            <a:off x="3311957" y="2095805"/>
            <a:ext cx="599846" cy="599846"/>
          </a:xfrm>
          <a:prstGeom prst="ellipse">
            <a:avLst/>
          </a:prstGeom>
          <a:solidFill>
            <a:srgbClr val="C97700">
              <a:alpha val="20000"/>
            </a:srgbClr>
          </a:solidFill>
          <a:ln/>
        </p:spPr>
      </p:sp>
      <p:sp>
        <p:nvSpPr>
          <p:cNvPr id="25" name="!!lensInner"/>
          <p:cNvSpPr/>
          <p:nvPr/>
        </p:nvSpPr>
        <p:spPr>
          <a:xfrm>
            <a:off x="3370478" y="2154326"/>
            <a:ext cx="482803" cy="482803"/>
          </a:xfrm>
          <a:prstGeom prst="ellipse">
            <a:avLst/>
          </a:prstGeom>
          <a:ln w="12700">
            <a:solidFill>
              <a:srgbClr val="0E9C86">
                <a:alpha val="45000"/>
              </a:srgbClr>
            </a:solidFill>
            <a:prstDash val="solid"/>
          </a:ln>
        </p:spPr>
      </p:sp>
      <p:sp>
        <p:nvSpPr>
          <p:cNvPr id="26" name="!!lensRing"/>
          <p:cNvSpPr/>
          <p:nvPr/>
        </p:nvSpPr>
        <p:spPr>
          <a:xfrm>
            <a:off x="3246120" y="2029968"/>
            <a:ext cx="731520" cy="731520"/>
          </a:xfrm>
          <a:prstGeom prst="ellipse">
            <a:avLst/>
          </a:prstGeom>
          <a:ln w="25400">
            <a:solidFill>
              <a:srgbClr val="C97700"/>
            </a:solidFill>
            <a:prstDash val="solid"/>
          </a:ln>
        </p:spPr>
      </p:sp>
      <p:sp>
        <p:nvSpPr>
          <p:cNvPr id="27" name="!!lensGlint"/>
          <p:cNvSpPr/>
          <p:nvPr/>
        </p:nvSpPr>
        <p:spPr>
          <a:xfrm>
            <a:off x="3824791" y="2091377"/>
            <a:ext cx="91440" cy="91440"/>
          </a:xfrm>
          <a:prstGeom prst="ellipse">
            <a:avLst/>
          </a:prstGeom>
          <a:solidFill>
            <a:srgbClr val="C97700"/>
          </a:solidFill>
          <a:ln/>
        </p:spPr>
      </p:sp>
      <p:pic>
        <p:nvPicPr>
          <p:cNvPr id="28" name="eLens" descr="preencoded.png">    </p:cNvPr>
          <p:cNvPicPr>
            <a:picLocks noChangeAspect="1"/>
          </p:cNvPicPr>
          <p:nvPr/>
        </p:nvPicPr>
        <p:blipFill>
          <a:blip r:embed="rId1"/>
          <a:stretch>
            <a:fillRect/>
          </a:stretch>
        </p:blipFill>
        <p:spPr>
          <a:xfrm>
            <a:off x="3465576" y="2249424"/>
            <a:ext cx="292608" cy="292608"/>
          </a:xfrm>
          <a:prstGeom prst="rect">
            <a:avLst/>
          </a:prstGeom>
        </p:spPr>
      </p:pic>
      <p:sp>
        <p:nvSpPr>
          <p:cNvPr id="29" name="eBl"/>
          <p:cNvSpPr txBox="1"/>
          <p:nvPr/>
        </p:nvSpPr>
        <p:spPr>
          <a:xfrm>
            <a:off x="804672" y="4297680"/>
            <a:ext cx="3108960" cy="256032"/>
          </a:xfrm>
          <a:prstGeom prst="rect">
            <a:avLst/>
          </a:prstGeom>
          <a:noFill/>
          <a:ln/>
        </p:spPr>
        <p:txBody>
          <a:bodyPr wrap="square" lIns="0" tIns="0" rIns="0" bIns="0" rtlCol="0" anchor="t"/>
          <a:lstStyle/>
          <a:p>
            <a:pPr indent="0" marL="0">
              <a:buNone/>
            </a:pPr>
            <a:r>
              <a:rPr lang="en-US" sz="1100" spc="100" kern="0" dirty="0">
                <a:solidFill>
                  <a:srgbClr val="8A8EA6"/>
                </a:solidFill>
                <a:latin typeface="Consolas" pitchFamily="34" charset="0"/>
                <a:ea typeface="Consolas" pitchFamily="34" charset="-122"/>
                <a:cs typeface="Consolas" pitchFamily="34" charset="-120"/>
              </a:rPr>
              <a:t>BASELINES</a:t>
            </a:r>
            <a:endParaRPr lang="en-US" sz="1100" dirty="0"/>
          </a:p>
        </p:txBody>
      </p:sp>
      <p:sp>
        <p:nvSpPr>
          <p:cNvPr id="30" name="eB0"/>
          <p:cNvSpPr/>
          <p:nvPr/>
        </p:nvSpPr>
        <p:spPr>
          <a:xfrm>
            <a:off x="804672" y="4590288"/>
            <a:ext cx="1234440" cy="365760"/>
          </a:xfrm>
          <a:prstGeom prst="roundRect">
            <a:avLst>
              <a:gd name="adj" fmla="val 47500"/>
            </a:avLst>
          </a:prstGeom>
          <a:ln w="12700">
            <a:solidFill>
              <a:srgbClr val="565B75"/>
            </a:solidFill>
            <a:prstDash val="dash"/>
          </a:ln>
        </p:spPr>
        <p:txBody>
          <a:bodyPr wrap="square" lIns="0" tIns="0" rIns="0" bIns="0" rtlCol="0" anchor="ctr"/>
          <a:lstStyle/>
          <a:p>
            <a:pPr algn="ctr" indent="0" marL="0">
              <a:buNone/>
            </a:pPr>
            <a:r>
              <a:rPr lang="en-US" sz="1200" dirty="0">
                <a:solidFill>
                  <a:srgbClr val="565B75"/>
                </a:solidFill>
                <a:latin typeface="Calibri" pitchFamily="34" charset="0"/>
                <a:ea typeface="Calibri" pitchFamily="34" charset="-122"/>
                <a:cs typeface="Calibri" pitchFamily="34" charset="-120"/>
              </a:rPr>
              <a:t>No-RAG</a:t>
            </a:r>
            <a:endParaRPr lang="en-US" sz="1200" dirty="0"/>
          </a:p>
        </p:txBody>
      </p:sp>
      <p:sp>
        <p:nvSpPr>
          <p:cNvPr id="31" name="eB1"/>
          <p:cNvSpPr/>
          <p:nvPr/>
        </p:nvSpPr>
        <p:spPr>
          <a:xfrm>
            <a:off x="2148840" y="4590288"/>
            <a:ext cx="1737360" cy="365760"/>
          </a:xfrm>
          <a:prstGeom prst="roundRect">
            <a:avLst>
              <a:gd name="adj" fmla="val 47500"/>
            </a:avLst>
          </a:prstGeom>
          <a:ln w="12700">
            <a:solidFill>
              <a:srgbClr val="565B75"/>
            </a:solidFill>
            <a:prstDash val="dash"/>
          </a:ln>
        </p:spPr>
        <p:txBody>
          <a:bodyPr wrap="square" lIns="0" tIns="0" rIns="0" bIns="0" rtlCol="0" anchor="ctr"/>
          <a:lstStyle/>
          <a:p>
            <a:pPr algn="ctr" indent="0" marL="0">
              <a:buNone/>
            </a:pPr>
            <a:r>
              <a:rPr lang="en-US" sz="1200" dirty="0">
                <a:solidFill>
                  <a:srgbClr val="565B75"/>
                </a:solidFill>
                <a:latin typeface="Calibri" pitchFamily="34" charset="0"/>
                <a:ea typeface="Calibri" pitchFamily="34" charset="-122"/>
                <a:cs typeface="Calibri" pitchFamily="34" charset="-120"/>
              </a:rPr>
              <a:t>Gold page (oracle)</a:t>
            </a:r>
            <a:endParaRPr lang="en-US" sz="1200" dirty="0"/>
          </a:p>
        </p:txBody>
      </p:sp>
      <p:sp>
        <p:nvSpPr>
          <p:cNvPr id="32" name="eLd"/>
          <p:cNvSpPr txBox="1"/>
          <p:nvPr/>
        </p:nvSpPr>
        <p:spPr>
          <a:xfrm>
            <a:off x="804672" y="5138928"/>
            <a:ext cx="3154680" cy="685800"/>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Measured: accuracy, context relevance, hallucination rate, response time</a:t>
            </a:r>
            <a:endParaRPr lang="en-US" sz="1300" dirty="0"/>
          </a:p>
        </p:txBody>
      </p:sp>
      <p:sp>
        <p:nvSpPr>
          <p:cNvPr id="33" name="eM"/>
          <p:cNvSpPr/>
          <p:nvPr/>
        </p:nvSpPr>
        <p:spPr>
          <a:xfrm>
            <a:off x="4343400" y="1828800"/>
            <a:ext cx="3794760" cy="4206240"/>
          </a:xfrm>
          <a:prstGeom prst="roundRect">
            <a:avLst>
              <a:gd name="adj" fmla="val 3373"/>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34" name="eMl"/>
          <p:cNvSpPr txBox="1"/>
          <p:nvPr/>
        </p:nvSpPr>
        <p:spPr>
          <a:xfrm>
            <a:off x="4599432" y="2029968"/>
            <a:ext cx="3200400" cy="256032"/>
          </a:xfrm>
          <a:prstGeom prst="rect">
            <a:avLst/>
          </a:prstGeom>
          <a:noFill/>
          <a:ln/>
        </p:spPr>
        <p:txBody>
          <a:bodyPr wrap="square" lIns="0" tIns="0" rIns="0" bIns="0" rtlCol="0" anchor="t"/>
          <a:lstStyle/>
          <a:p>
            <a:pPr indent="0" marL="0">
              <a:buNone/>
            </a:pPr>
            <a:r>
              <a:rPr lang="en-US" sz="1100" spc="100" kern="0" dirty="0">
                <a:solidFill>
                  <a:srgbClr val="0E9C86"/>
                </a:solidFill>
                <a:latin typeface="Consolas" pitchFamily="34" charset="0"/>
                <a:ea typeface="Consolas" pitchFamily="34" charset="-122"/>
                <a:cs typeface="Consolas" pitchFamily="34" charset="-120"/>
              </a:rPr>
              <a:t>HELD CONSTANT</a:t>
            </a:r>
            <a:endParaRPr lang="en-US" sz="1100" dirty="0"/>
          </a:p>
        </p:txBody>
      </p:sp>
      <p:sp>
        <p:nvSpPr>
          <p:cNvPr id="35" name="eC0"/>
          <p:cNvSpPr/>
          <p:nvPr/>
        </p:nvSpPr>
        <p:spPr>
          <a:xfrm>
            <a:off x="4599432" y="2423160"/>
            <a:ext cx="1541678"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2 PDFs · 62 pages</a:t>
            </a:r>
            <a:endParaRPr lang="en-US" sz="1200" dirty="0"/>
          </a:p>
        </p:txBody>
      </p:sp>
      <p:sp>
        <p:nvSpPr>
          <p:cNvPr id="36" name="eC1"/>
          <p:cNvSpPr/>
          <p:nvPr/>
        </p:nvSpPr>
        <p:spPr>
          <a:xfrm>
            <a:off x="6232550" y="2423160"/>
            <a:ext cx="1470355"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PyMuPDF cleaning</a:t>
            </a:r>
            <a:endParaRPr lang="en-US" sz="1200" dirty="0"/>
          </a:p>
        </p:txBody>
      </p:sp>
      <p:sp>
        <p:nvSpPr>
          <p:cNvPr id="37" name="eC2"/>
          <p:cNvSpPr/>
          <p:nvPr/>
        </p:nvSpPr>
        <p:spPr>
          <a:xfrm>
            <a:off x="4599432" y="2880360"/>
            <a:ext cx="1399032"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500 / 80 chunks</a:t>
            </a:r>
            <a:endParaRPr lang="en-US" sz="1200" dirty="0"/>
          </a:p>
        </p:txBody>
      </p:sp>
      <p:sp>
        <p:nvSpPr>
          <p:cNvPr id="38" name="eC3"/>
          <p:cNvSpPr/>
          <p:nvPr/>
        </p:nvSpPr>
        <p:spPr>
          <a:xfrm>
            <a:off x="6089904" y="2880360"/>
            <a:ext cx="1185062"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MiniLM-L6-v2</a:t>
            </a:r>
            <a:endParaRPr lang="en-US" sz="1200" dirty="0"/>
          </a:p>
        </p:txBody>
      </p:sp>
      <p:sp>
        <p:nvSpPr>
          <p:cNvPr id="39" name="eC4"/>
          <p:cNvSpPr/>
          <p:nvPr/>
        </p:nvSpPr>
        <p:spPr>
          <a:xfrm>
            <a:off x="4599432" y="3337560"/>
            <a:ext cx="1470355"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FAISS flat index</a:t>
            </a:r>
            <a:endParaRPr lang="en-US" sz="1200" dirty="0"/>
          </a:p>
        </p:txBody>
      </p:sp>
      <p:sp>
        <p:nvSpPr>
          <p:cNvPr id="40" name="eC5"/>
          <p:cNvSpPr/>
          <p:nvPr/>
        </p:nvSpPr>
        <p:spPr>
          <a:xfrm>
            <a:off x="6161227" y="3337560"/>
            <a:ext cx="1541678"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cosine similarity</a:t>
            </a:r>
            <a:endParaRPr lang="en-US" sz="1200" dirty="0"/>
          </a:p>
        </p:txBody>
      </p:sp>
      <p:sp>
        <p:nvSpPr>
          <p:cNvPr id="41" name="eC6"/>
          <p:cNvSpPr/>
          <p:nvPr/>
        </p:nvSpPr>
        <p:spPr>
          <a:xfrm>
            <a:off x="4599432" y="3794760"/>
            <a:ext cx="1185062"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50 questions</a:t>
            </a:r>
            <a:endParaRPr lang="en-US" sz="1200" dirty="0"/>
          </a:p>
        </p:txBody>
      </p:sp>
      <p:sp>
        <p:nvSpPr>
          <p:cNvPr id="42" name="eC7"/>
          <p:cNvSpPr/>
          <p:nvPr/>
        </p:nvSpPr>
        <p:spPr>
          <a:xfrm>
            <a:off x="5875934" y="3794760"/>
            <a:ext cx="1185062"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ground truth</a:t>
            </a:r>
            <a:endParaRPr lang="en-US" sz="1200" dirty="0"/>
          </a:p>
        </p:txBody>
      </p:sp>
      <p:sp>
        <p:nvSpPr>
          <p:cNvPr id="43" name="eC8"/>
          <p:cNvSpPr/>
          <p:nvPr/>
        </p:nvSpPr>
        <p:spPr>
          <a:xfrm>
            <a:off x="4599432" y="4251960"/>
            <a:ext cx="1327709"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Qwen3-4B (MLX)</a:t>
            </a:r>
            <a:endParaRPr lang="en-US" sz="1200" dirty="0"/>
          </a:p>
        </p:txBody>
      </p:sp>
      <p:sp>
        <p:nvSpPr>
          <p:cNvPr id="44" name="eC9"/>
          <p:cNvSpPr/>
          <p:nvPr/>
        </p:nvSpPr>
        <p:spPr>
          <a:xfrm>
            <a:off x="6018581" y="4251960"/>
            <a:ext cx="1256386"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prompt rag-v1</a:t>
            </a:r>
            <a:endParaRPr lang="en-US" sz="1200" dirty="0"/>
          </a:p>
        </p:txBody>
      </p:sp>
      <p:sp>
        <p:nvSpPr>
          <p:cNvPr id="45" name="eC10"/>
          <p:cNvSpPr/>
          <p:nvPr/>
        </p:nvSpPr>
        <p:spPr>
          <a:xfrm>
            <a:off x="4599432" y="4709160"/>
            <a:ext cx="1256386"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temperature 0</a:t>
            </a:r>
            <a:endParaRPr lang="en-US" sz="1200" dirty="0"/>
          </a:p>
        </p:txBody>
      </p:sp>
      <p:sp>
        <p:nvSpPr>
          <p:cNvPr id="46" name="eC11"/>
          <p:cNvSpPr/>
          <p:nvPr/>
        </p:nvSpPr>
        <p:spPr>
          <a:xfrm>
            <a:off x="5947258" y="4709160"/>
            <a:ext cx="1327709"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max 384 tokens</a:t>
            </a:r>
            <a:endParaRPr lang="en-US" sz="1200" dirty="0"/>
          </a:p>
        </p:txBody>
      </p:sp>
      <p:sp>
        <p:nvSpPr>
          <p:cNvPr id="47" name="eC12"/>
          <p:cNvSpPr/>
          <p:nvPr/>
        </p:nvSpPr>
        <p:spPr>
          <a:xfrm>
            <a:off x="4599432" y="5166360"/>
            <a:ext cx="1755648" cy="347472"/>
          </a:xfrm>
          <a:prstGeom prst="roundRect">
            <a:avLst>
              <a:gd name="adj" fmla="val 44737"/>
            </a:avLst>
          </a:prstGeom>
          <a:solidFill>
            <a:srgbClr val="EEF0F7"/>
          </a:solidFill>
          <a:ln w="9525">
            <a:solidFill>
              <a:srgbClr val="D9DCE8"/>
            </a:solidFill>
          </a:ln>
        </p:spPr>
        <p:txBody>
          <a:bodyPr wrap="square" lIns="0" tIns="0" rIns="0" bIns="0" rtlCol="0" anchor="ctr"/>
          <a:lstStyle/>
          <a:p>
            <a:pPr algn="ctr" indent="0" marL="0">
              <a:buNone/>
            </a:pPr>
            <a:r>
              <a:rPr lang="en-US" sz="1200" dirty="0">
                <a:solidFill>
                  <a:srgbClr val="16182B"/>
                </a:solidFill>
                <a:latin typeface="Calibri" pitchFamily="34" charset="0"/>
                <a:ea typeface="Calibri" pitchFamily="34" charset="-122"/>
                <a:cs typeface="Calibri" pitchFamily="34" charset="-120"/>
              </a:rPr>
              <a:t>rule-based evaluator</a:t>
            </a:r>
            <a:endParaRPr lang="en-US" sz="1200" dirty="0"/>
          </a:p>
        </p:txBody>
      </p:sp>
      <p:sp>
        <p:nvSpPr>
          <p:cNvPr id="48" name="eR"/>
          <p:cNvSpPr/>
          <p:nvPr/>
        </p:nvSpPr>
        <p:spPr>
          <a:xfrm>
            <a:off x="8321040" y="1828800"/>
            <a:ext cx="3291840" cy="4206240"/>
          </a:xfrm>
          <a:prstGeom prst="roundRect">
            <a:avLst>
              <a:gd name="adj" fmla="val 3889"/>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49" name="eRl"/>
          <p:cNvSpPr txBox="1"/>
          <p:nvPr/>
        </p:nvSpPr>
        <p:spPr>
          <a:xfrm>
            <a:off x="8577072" y="2029968"/>
            <a:ext cx="2834640" cy="256032"/>
          </a:xfrm>
          <a:prstGeom prst="rect">
            <a:avLst/>
          </a:prstGeom>
          <a:noFill/>
          <a:ln/>
        </p:spPr>
        <p:txBody>
          <a:bodyPr wrap="square" lIns="0" tIns="0" rIns="0" bIns="0" rtlCol="0" anchor="t"/>
          <a:lstStyle/>
          <a:p>
            <a:pPr indent="0" marL="0">
              <a:buNone/>
            </a:pPr>
            <a:r>
              <a:rPr lang="en-US" sz="1100" spc="100" kern="0" dirty="0">
                <a:solidFill>
                  <a:srgbClr val="7656E0"/>
                </a:solidFill>
                <a:latin typeface="Consolas" pitchFamily="34" charset="0"/>
                <a:ea typeface="Consolas" pitchFamily="34" charset="-122"/>
                <a:cs typeface="Consolas" pitchFamily="34" charset="-120"/>
              </a:rPr>
              <a:t>DESIGN &amp; SCALE</a:t>
            </a:r>
            <a:endParaRPr lang="en-US" sz="1100" dirty="0"/>
          </a:p>
        </p:txBody>
      </p:sp>
      <p:sp>
        <p:nvSpPr>
          <p:cNvPr id="50" name="eRn"/>
          <p:cNvSpPr txBox="1"/>
          <p:nvPr/>
        </p:nvSpPr>
        <p:spPr>
          <a:xfrm>
            <a:off x="8577072" y="2286000"/>
            <a:ext cx="2834640" cy="868680"/>
          </a:xfrm>
          <a:prstGeom prst="rect">
            <a:avLst/>
          </a:prstGeom>
          <a:noFill/>
          <a:ln/>
        </p:spPr>
        <p:txBody>
          <a:bodyPr wrap="square" lIns="0" tIns="0" rIns="0" bIns="0" rtlCol="0" anchor="t"/>
          <a:lstStyle/>
          <a:p>
            <a:pPr indent="0" marL="0">
              <a:buNone/>
            </a:pPr>
            <a:r>
              <a:rPr lang="en-US" sz="5800" b="1" dirty="0">
                <a:solidFill>
                  <a:srgbClr val="C97700"/>
                </a:solidFill>
                <a:latin typeface="Cambria" pitchFamily="34" charset="0"/>
                <a:ea typeface="Cambria" pitchFamily="34" charset="-122"/>
                <a:cs typeface="Cambria" pitchFamily="34" charset="-120"/>
              </a:rPr>
              <a:t>275</a:t>
            </a:r>
            <a:endParaRPr lang="en-US" sz="5800" dirty="0"/>
          </a:p>
        </p:txBody>
      </p:sp>
      <p:sp>
        <p:nvSpPr>
          <p:cNvPr id="51" name="eRt"/>
          <p:cNvSpPr txBox="1"/>
          <p:nvPr/>
        </p:nvSpPr>
        <p:spPr>
          <a:xfrm>
            <a:off x="8577072" y="3154680"/>
            <a:ext cx="2834640" cy="292608"/>
          </a:xfrm>
          <a:prstGeom prst="rect">
            <a:avLst/>
          </a:prstGeom>
          <a:noFill/>
          <a:ln/>
        </p:spPr>
        <p:txBody>
          <a:bodyPr wrap="square" lIns="0" tIns="0" rIns="0" bIns="0" rtlCol="0" anchor="t"/>
          <a:lstStyle/>
          <a:p>
            <a:pPr indent="0" marL="0">
              <a:buNone/>
            </a:pPr>
            <a:r>
              <a:rPr lang="en-US" sz="1400" dirty="0">
                <a:solidFill>
                  <a:srgbClr val="16182B"/>
                </a:solidFill>
                <a:latin typeface="Calibri" pitchFamily="34" charset="0"/>
                <a:ea typeface="Calibri" pitchFamily="34" charset="-122"/>
                <a:cs typeface="Calibri" pitchFamily="34" charset="-120"/>
              </a:rPr>
              <a:t>answers generated and scored</a:t>
            </a:r>
            <a:endParaRPr lang="en-US" sz="1400" dirty="0"/>
          </a:p>
        </p:txBody>
      </p:sp>
      <p:sp>
        <p:nvSpPr>
          <p:cNvPr id="52" name="eRs"/>
          <p:cNvSpPr txBox="1"/>
          <p:nvPr/>
        </p:nvSpPr>
        <p:spPr>
          <a:xfrm>
            <a:off x="8577072" y="3456432"/>
            <a:ext cx="2834640" cy="292608"/>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50 questions × 5 conditions + 25 gold-eligible</a:t>
            </a:r>
            <a:endParaRPr lang="en-US" sz="1200" dirty="0"/>
          </a:p>
        </p:txBody>
      </p:sp>
      <p:sp>
        <p:nvSpPr>
          <p:cNvPr id="53" name="eRw"/>
          <p:cNvSpPr txBox="1"/>
          <p:nvPr/>
        </p:nvSpPr>
        <p:spPr>
          <a:xfrm>
            <a:off x="8577072" y="3977640"/>
            <a:ext cx="2834640" cy="32004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Wilcoxon signed-rank</a:t>
            </a:r>
            <a:endParaRPr lang="en-US" sz="1600" dirty="0"/>
          </a:p>
        </p:txBody>
      </p:sp>
      <p:sp>
        <p:nvSpPr>
          <p:cNvPr id="54" name="eRwd"/>
          <p:cNvSpPr txBox="1"/>
          <p:nvPr/>
        </p:nvSpPr>
        <p:spPr>
          <a:xfrm>
            <a:off x="8577072" y="4315968"/>
            <a:ext cx="2834640" cy="566928"/>
          </a:xfrm>
          <a:prstGeom prst="rect">
            <a:avLst/>
          </a:prstGeom>
          <a:noFill/>
          <a:ln/>
        </p:spPr>
        <p:txBody>
          <a:bodyPr wrap="square" lIns="0" tIns="0" rIns="0" bIns="0" rtlCol="0" anchor="t"/>
          <a:lstStyle/>
          <a:p>
            <a:pPr indent="0" marL="0">
              <a:buNone/>
            </a:pPr>
            <a:r>
              <a:rPr lang="en-US" sz="1200" dirty="0">
                <a:solidFill>
                  <a:srgbClr val="565B75"/>
                </a:solidFill>
                <a:latin typeface="Calibri" pitchFamily="34" charset="0"/>
                <a:ea typeface="Calibri" pitchFamily="34" charset="-122"/>
                <a:cs typeface="Calibri" pitchFamily="34" charset="-120"/>
              </a:rPr>
              <a:t>Each question answered under every condition (paired); Holm-corrected</a:t>
            </a:r>
            <a:endParaRPr lang="en-US" sz="1200" dirty="0"/>
          </a:p>
        </p:txBody>
      </p:sp>
      <p:sp>
        <p:nvSpPr>
          <p:cNvPr id="55" name="eRid"/>
          <p:cNvSpPr txBox="1"/>
          <p:nvPr/>
        </p:nvSpPr>
        <p:spPr>
          <a:xfrm>
            <a:off x="8577072" y="5120640"/>
            <a:ext cx="2834640" cy="256032"/>
          </a:xfrm>
          <a:prstGeom prst="rect">
            <a:avLst/>
          </a:prstGeom>
          <a:noFill/>
          <a:ln/>
        </p:spPr>
        <p:txBody>
          <a:bodyPr wrap="square" lIns="0" tIns="0" rIns="0" bIns="0" rtlCol="0" anchor="t"/>
          <a:lstStyle/>
          <a:p>
            <a:pPr indent="0" marL="0">
              <a:buNone/>
            </a:pPr>
            <a:r>
              <a:rPr lang="en-US" sz="1100" dirty="0">
                <a:solidFill>
                  <a:srgbClr val="8A8EA6"/>
                </a:solidFill>
                <a:latin typeface="Consolas" pitchFamily="34" charset="0"/>
                <a:ea typeface="Consolas" pitchFamily="34" charset="-122"/>
                <a:cs typeface="Consolas" pitchFamily="34" charset="-120"/>
              </a:rPr>
              <a:t>run full-50q-2026-10-12</a:t>
            </a:r>
            <a:endParaRPr lang="en-US" sz="1100" dirty="0"/>
          </a:p>
        </p:txBody>
      </p:sp>
      <p:sp>
        <p:nvSpPr>
          <p:cNvPr id="56" name="eRtm"/>
          <p:cNvSpPr txBox="1"/>
          <p:nvPr/>
        </p:nvSpPr>
        <p:spPr>
          <a:xfrm>
            <a:off x="8577072" y="5394960"/>
            <a:ext cx="2834640" cy="292608"/>
          </a:xfrm>
          <a:prstGeom prst="rect">
            <a:avLst/>
          </a:prstGeom>
          <a:noFill/>
          <a:ln/>
        </p:spPr>
        <p:txBody>
          <a:bodyPr wrap="square" lIns="0" tIns="0" rIns="0" bIns="0" rtlCol="0" anchor="t"/>
          <a:lstStyle/>
          <a:p>
            <a:pPr indent="0" marL="0">
              <a:buNone/>
            </a:pPr>
            <a:r>
              <a:rPr lang="en-US" sz="1300" dirty="0">
                <a:solidFill>
                  <a:srgbClr val="565B75"/>
                </a:solidFill>
                <a:latin typeface="Calibri" pitchFamily="34" charset="0"/>
                <a:ea typeface="Calibri" pitchFamily="34" charset="-122"/>
                <a:cs typeface="Calibri" pitchFamily="34" charset="-120"/>
              </a:rPr>
              <a:t>2 h 36 min, fully local</a:t>
            </a:r>
            <a:endParaRPr lang="en-US" sz="1300" dirty="0"/>
          </a:p>
        </p:txBody>
      </p:sp>
      <p:sp>
        <p:nvSpPr>
          <p:cNvPr id="57" name="!!bar_acc_1"/>
          <p:cNvSpPr/>
          <p:nvPr/>
        </p:nvSpPr>
        <p:spPr>
          <a:xfrm>
            <a:off x="878967" y="4562856"/>
            <a:ext cx="402336" cy="9144"/>
          </a:xfrm>
          <a:prstGeom prst="rect">
            <a:avLst/>
          </a:prstGeom>
          <a:solidFill>
            <a:srgbClr val="C97700">
              <a:alpha val="0"/>
            </a:srgbClr>
          </a:solidFill>
          <a:ln/>
        </p:spPr>
      </p:sp>
      <p:sp>
        <p:nvSpPr>
          <p:cNvPr id="58" name="!!bar_acc_3"/>
          <p:cNvSpPr/>
          <p:nvPr/>
        </p:nvSpPr>
        <p:spPr>
          <a:xfrm>
            <a:off x="1393317" y="4562856"/>
            <a:ext cx="402336" cy="9144"/>
          </a:xfrm>
          <a:prstGeom prst="rect">
            <a:avLst/>
          </a:prstGeom>
          <a:solidFill>
            <a:srgbClr val="C97700">
              <a:alpha val="0"/>
            </a:srgbClr>
          </a:solidFill>
          <a:ln/>
        </p:spPr>
      </p:sp>
      <p:sp>
        <p:nvSpPr>
          <p:cNvPr id="59" name="!!bar_acc_5"/>
          <p:cNvSpPr/>
          <p:nvPr/>
        </p:nvSpPr>
        <p:spPr>
          <a:xfrm>
            <a:off x="1907667" y="4562856"/>
            <a:ext cx="402336" cy="9144"/>
          </a:xfrm>
          <a:prstGeom prst="rect">
            <a:avLst/>
          </a:prstGeom>
          <a:solidFill>
            <a:srgbClr val="C97700">
              <a:alpha val="0"/>
            </a:srgbClr>
          </a:solidFill>
          <a:ln/>
        </p:spPr>
      </p:sp>
      <p:sp>
        <p:nvSpPr>
          <p:cNvPr id="60" name="!!bar_acc_10"/>
          <p:cNvSpPr/>
          <p:nvPr/>
        </p:nvSpPr>
        <p:spPr>
          <a:xfrm>
            <a:off x="2422017" y="4562856"/>
            <a:ext cx="402336" cy="9144"/>
          </a:xfrm>
          <a:prstGeom prst="rect">
            <a:avLst/>
          </a:prstGeom>
          <a:solidFill>
            <a:srgbClr val="C97700">
              <a:alpha val="0"/>
            </a:srgbClr>
          </a:solidFill>
          <a:ln/>
        </p:spPr>
      </p:sp>
      <p:sp>
        <p:nvSpPr>
          <p:cNvPr id="61" name="!!bar_rel_1"/>
          <p:cNvSpPr/>
          <p:nvPr/>
        </p:nvSpPr>
        <p:spPr>
          <a:xfrm>
            <a:off x="3695319" y="4562856"/>
            <a:ext cx="402336" cy="9144"/>
          </a:xfrm>
          <a:prstGeom prst="rect">
            <a:avLst/>
          </a:prstGeom>
          <a:solidFill>
            <a:srgbClr val="0E9C86">
              <a:alpha val="0"/>
            </a:srgbClr>
          </a:solidFill>
          <a:ln/>
        </p:spPr>
      </p:sp>
      <p:sp>
        <p:nvSpPr>
          <p:cNvPr id="62" name="!!bar_rel_3"/>
          <p:cNvSpPr/>
          <p:nvPr/>
        </p:nvSpPr>
        <p:spPr>
          <a:xfrm>
            <a:off x="4209669" y="4562856"/>
            <a:ext cx="402336" cy="9144"/>
          </a:xfrm>
          <a:prstGeom prst="rect">
            <a:avLst/>
          </a:prstGeom>
          <a:solidFill>
            <a:srgbClr val="0E9C86">
              <a:alpha val="0"/>
            </a:srgbClr>
          </a:solidFill>
          <a:ln/>
        </p:spPr>
      </p:sp>
      <p:sp>
        <p:nvSpPr>
          <p:cNvPr id="63" name="!!bar_rel_5"/>
          <p:cNvSpPr/>
          <p:nvPr/>
        </p:nvSpPr>
        <p:spPr>
          <a:xfrm>
            <a:off x="4724019" y="4562856"/>
            <a:ext cx="402336" cy="9144"/>
          </a:xfrm>
          <a:prstGeom prst="rect">
            <a:avLst/>
          </a:prstGeom>
          <a:solidFill>
            <a:srgbClr val="0E9C86">
              <a:alpha val="0"/>
            </a:srgbClr>
          </a:solidFill>
          <a:ln/>
        </p:spPr>
      </p:sp>
      <p:sp>
        <p:nvSpPr>
          <p:cNvPr id="64" name="!!bar_rel_10"/>
          <p:cNvSpPr/>
          <p:nvPr/>
        </p:nvSpPr>
        <p:spPr>
          <a:xfrm>
            <a:off x="5238369" y="4562856"/>
            <a:ext cx="402336" cy="9144"/>
          </a:xfrm>
          <a:prstGeom prst="rect">
            <a:avLst/>
          </a:prstGeom>
          <a:solidFill>
            <a:srgbClr val="0E9C86">
              <a:alpha val="0"/>
            </a:srgbClr>
          </a:solidFill>
          <a:ln/>
        </p:spPr>
      </p:sp>
      <p:sp>
        <p:nvSpPr>
          <p:cNvPr id="65" name="!!bar_hal_1"/>
          <p:cNvSpPr/>
          <p:nvPr/>
        </p:nvSpPr>
        <p:spPr>
          <a:xfrm>
            <a:off x="6511671" y="4562856"/>
            <a:ext cx="402336" cy="9144"/>
          </a:xfrm>
          <a:prstGeom prst="rect">
            <a:avLst/>
          </a:prstGeom>
          <a:solidFill>
            <a:srgbClr val="E0474C">
              <a:alpha val="0"/>
            </a:srgbClr>
          </a:solidFill>
          <a:ln/>
        </p:spPr>
      </p:sp>
      <p:sp>
        <p:nvSpPr>
          <p:cNvPr id="66" name="!!bar_hal_3"/>
          <p:cNvSpPr/>
          <p:nvPr/>
        </p:nvSpPr>
        <p:spPr>
          <a:xfrm>
            <a:off x="7026021" y="4562856"/>
            <a:ext cx="402336" cy="9144"/>
          </a:xfrm>
          <a:prstGeom prst="rect">
            <a:avLst/>
          </a:prstGeom>
          <a:solidFill>
            <a:srgbClr val="E0474C">
              <a:alpha val="0"/>
            </a:srgbClr>
          </a:solidFill>
          <a:ln/>
        </p:spPr>
      </p:sp>
      <p:sp>
        <p:nvSpPr>
          <p:cNvPr id="67" name="!!bar_hal_5"/>
          <p:cNvSpPr/>
          <p:nvPr/>
        </p:nvSpPr>
        <p:spPr>
          <a:xfrm>
            <a:off x="7540371" y="4562856"/>
            <a:ext cx="402336" cy="9144"/>
          </a:xfrm>
          <a:prstGeom prst="rect">
            <a:avLst/>
          </a:prstGeom>
          <a:solidFill>
            <a:srgbClr val="E0474C">
              <a:alpha val="0"/>
            </a:srgbClr>
          </a:solidFill>
          <a:ln/>
        </p:spPr>
      </p:sp>
      <p:sp>
        <p:nvSpPr>
          <p:cNvPr id="68" name="!!bar_hal_10"/>
          <p:cNvSpPr/>
          <p:nvPr/>
        </p:nvSpPr>
        <p:spPr>
          <a:xfrm>
            <a:off x="8054721" y="4562856"/>
            <a:ext cx="402336" cy="9144"/>
          </a:xfrm>
          <a:prstGeom prst="rect">
            <a:avLst/>
          </a:prstGeom>
          <a:solidFill>
            <a:srgbClr val="E0474C">
              <a:alpha val="0"/>
            </a:srgbClr>
          </a:solidFill>
          <a:ln/>
        </p:spPr>
      </p:sp>
      <p:sp>
        <p:nvSpPr>
          <p:cNvPr id="69" name="!!bar_lat_1"/>
          <p:cNvSpPr/>
          <p:nvPr/>
        </p:nvSpPr>
        <p:spPr>
          <a:xfrm>
            <a:off x="9328023" y="4562856"/>
            <a:ext cx="402336" cy="9144"/>
          </a:xfrm>
          <a:prstGeom prst="rect">
            <a:avLst/>
          </a:prstGeom>
          <a:solidFill>
            <a:srgbClr val="7656E0">
              <a:alpha val="0"/>
            </a:srgbClr>
          </a:solidFill>
          <a:ln/>
        </p:spPr>
      </p:sp>
      <p:sp>
        <p:nvSpPr>
          <p:cNvPr id="70" name="!!bar_lat_3"/>
          <p:cNvSpPr/>
          <p:nvPr/>
        </p:nvSpPr>
        <p:spPr>
          <a:xfrm>
            <a:off x="9842373" y="4562856"/>
            <a:ext cx="402336" cy="9144"/>
          </a:xfrm>
          <a:prstGeom prst="rect">
            <a:avLst/>
          </a:prstGeom>
          <a:solidFill>
            <a:srgbClr val="7656E0">
              <a:alpha val="0"/>
            </a:srgbClr>
          </a:solidFill>
          <a:ln/>
        </p:spPr>
      </p:sp>
      <p:sp>
        <p:nvSpPr>
          <p:cNvPr id="71" name="!!bar_lat_5"/>
          <p:cNvSpPr/>
          <p:nvPr/>
        </p:nvSpPr>
        <p:spPr>
          <a:xfrm>
            <a:off x="10356723" y="4562856"/>
            <a:ext cx="402336" cy="9144"/>
          </a:xfrm>
          <a:prstGeom prst="rect">
            <a:avLst/>
          </a:prstGeom>
          <a:solidFill>
            <a:srgbClr val="7656E0">
              <a:alpha val="0"/>
            </a:srgbClr>
          </a:solidFill>
          <a:ln/>
        </p:spPr>
      </p:sp>
      <p:sp>
        <p:nvSpPr>
          <p:cNvPr id="72" name="!!bar_lat_10"/>
          <p:cNvSpPr/>
          <p:nvPr/>
        </p:nvSpPr>
        <p:spPr>
          <a:xfrm>
            <a:off x="10871073" y="4562856"/>
            <a:ext cx="402336" cy="9144"/>
          </a:xfrm>
          <a:prstGeom prst="rect">
            <a:avLst/>
          </a:prstGeom>
          <a:solidFill>
            <a:srgbClr val="7656E0">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2"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00"/>
                                        <p:tgtEl>
                                          <p:spTgt spid="17"/>
                                        </p:tgtEl>
                                      </p:cBhvr>
                                    </p:animEffect>
                                    <p:anim calcmode="lin" valueType="num">
                                      <p:cBhvr>
                                        <p:cTn id="7" dur="500" decel="100000" fill="hold"/>
                                        <p:tgtEl>
                                          <p:spTgt spid="17"/>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anim calcmode="lin" valueType="num">
                                      <p:cBhvr>
                                        <p:cTn id="11" dur="500" decel="100000" fill="hold"/>
                                        <p:tgtEl>
                                          <p:spTgt spid="18"/>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anim calcmode="lin" valueType="num">
                                      <p:cBhvr>
                                        <p:cTn id="15" dur="500" decel="100000" fill="hold"/>
                                        <p:tgtEl>
                                          <p:spTgt spid="19"/>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anim calcmode="lin" valueType="num">
                                      <p:cBhvr>
                                        <p:cTn id="19" dur="500" decel="100000" fill="hold"/>
                                        <p:tgtEl>
                                          <p:spTgt spid="28"/>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14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anim calcmode="lin" valueType="num">
                                      <p:cBhvr>
                                        <p:cTn id="23" dur="500" decel="100000" fill="hold"/>
                                        <p:tgtEl>
                                          <p:spTgt spid="29"/>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14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anim calcmode="lin" valueType="num">
                                      <p:cBhvr>
                                        <p:cTn id="27" dur="500" decel="100000" fill="hold"/>
                                        <p:tgtEl>
                                          <p:spTgt spid="30"/>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14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anim calcmode="lin" valueType="num">
                                      <p:cBhvr>
                                        <p:cTn id="31" dur="500" decel="100000" fill="hold"/>
                                        <p:tgtEl>
                                          <p:spTgt spid="31"/>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28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500"/>
                                        <p:tgtEl>
                                          <p:spTgt spid="32"/>
                                        </p:tgtEl>
                                      </p:cBhvr>
                                    </p:animEffect>
                                    <p:anim calcmode="lin" valueType="num">
                                      <p:cBhvr>
                                        <p:cTn id="35" dur="500" decel="100000" fill="hold"/>
                                        <p:tgtEl>
                                          <p:spTgt spid="32"/>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42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anim calcmode="lin" valueType="num">
                                      <p:cBhvr>
                                        <p:cTn id="39" dur="500" decel="100000" fill="hold"/>
                                        <p:tgtEl>
                                          <p:spTgt spid="33"/>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42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500"/>
                                        <p:tgtEl>
                                          <p:spTgt spid="34"/>
                                        </p:tgtEl>
                                      </p:cBhvr>
                                    </p:animEffect>
                                    <p:anim calcmode="lin" valueType="num">
                                      <p:cBhvr>
                                        <p:cTn id="43" dur="500" decel="100000" fill="hold"/>
                                        <p:tgtEl>
                                          <p:spTgt spid="34"/>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56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500"/>
                                        <p:tgtEl>
                                          <p:spTgt spid="35"/>
                                        </p:tgtEl>
                                      </p:cBhvr>
                                    </p:animEffect>
                                    <p:anim calcmode="lin" valueType="num">
                                      <p:cBhvr>
                                        <p:cTn id="47" dur="500" decel="100000" fill="hold"/>
                                        <p:tgtEl>
                                          <p:spTgt spid="35"/>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7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500"/>
                                        <p:tgtEl>
                                          <p:spTgt spid="36"/>
                                        </p:tgtEl>
                                      </p:cBhvr>
                                    </p:animEffect>
                                    <p:anim calcmode="lin" valueType="num">
                                      <p:cBhvr>
                                        <p:cTn id="51" dur="500" decel="100000" fill="hold"/>
                                        <p:tgtEl>
                                          <p:spTgt spid="36"/>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84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500"/>
                                        <p:tgtEl>
                                          <p:spTgt spid="37"/>
                                        </p:tgtEl>
                                      </p:cBhvr>
                                    </p:animEffect>
                                    <p:anim calcmode="lin" valueType="num">
                                      <p:cBhvr>
                                        <p:cTn id="55" dur="500" decel="100000" fill="hold"/>
                                        <p:tgtEl>
                                          <p:spTgt spid="37"/>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98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500"/>
                                        <p:tgtEl>
                                          <p:spTgt spid="38"/>
                                        </p:tgtEl>
                                      </p:cBhvr>
                                    </p:animEffect>
                                    <p:anim calcmode="lin" valueType="num">
                                      <p:cBhvr>
                                        <p:cTn id="59" dur="500" decel="100000" fill="hold"/>
                                        <p:tgtEl>
                                          <p:spTgt spid="38"/>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112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500"/>
                                        <p:tgtEl>
                                          <p:spTgt spid="39"/>
                                        </p:tgtEl>
                                      </p:cBhvr>
                                    </p:animEffect>
                                    <p:anim calcmode="lin" valueType="num">
                                      <p:cBhvr>
                                        <p:cTn id="63" dur="500" decel="100000" fill="hold"/>
                                        <p:tgtEl>
                                          <p:spTgt spid="39"/>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126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500"/>
                                        <p:tgtEl>
                                          <p:spTgt spid="40"/>
                                        </p:tgtEl>
                                      </p:cBhvr>
                                    </p:animEffect>
                                    <p:anim calcmode="lin" valueType="num">
                                      <p:cBhvr>
                                        <p:cTn id="67" dur="500" decel="100000" fill="hold"/>
                                        <p:tgtEl>
                                          <p:spTgt spid="40"/>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1400"/>
                                  </p:stCondLst>
                                  <p:childTnLst>
                                    <p:set>
                                      <p:cBhvr>
                                        <p:cTn id="69" dur="1" fill="hold">
                                          <p:stCondLst>
                                            <p:cond delay="0"/>
                                          </p:stCondLst>
                                        </p:cTn>
                                        <p:tgtEl>
                                          <p:spTgt spid="41"/>
                                        </p:tgtEl>
                                        <p:attrNameLst>
                                          <p:attrName>style.visibility</p:attrName>
                                        </p:attrNameLst>
                                      </p:cBhvr>
                                      <p:to>
                                        <p:strVal val="visible"/>
                                      </p:to>
                                    </p:set>
                                    <p:animEffect transition="in" filter="fade">
                                      <p:cBhvr>
                                        <p:cTn id="70" dur="500"/>
                                        <p:tgtEl>
                                          <p:spTgt spid="41"/>
                                        </p:tgtEl>
                                      </p:cBhvr>
                                    </p:animEffect>
                                    <p:anim calcmode="lin" valueType="num">
                                      <p:cBhvr>
                                        <p:cTn id="71" dur="500" decel="100000" fill="hold"/>
                                        <p:tgtEl>
                                          <p:spTgt spid="41"/>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1540"/>
                                  </p:stCondLst>
                                  <p:childTnLst>
                                    <p:set>
                                      <p:cBhvr>
                                        <p:cTn id="73" dur="1" fill="hold">
                                          <p:stCondLst>
                                            <p:cond delay="0"/>
                                          </p:stCondLst>
                                        </p:cTn>
                                        <p:tgtEl>
                                          <p:spTgt spid="42"/>
                                        </p:tgtEl>
                                        <p:attrNameLst>
                                          <p:attrName>style.visibility</p:attrName>
                                        </p:attrNameLst>
                                      </p:cBhvr>
                                      <p:to>
                                        <p:strVal val="visible"/>
                                      </p:to>
                                    </p:set>
                                    <p:animEffect transition="in" filter="fade">
                                      <p:cBhvr>
                                        <p:cTn id="74" dur="500"/>
                                        <p:tgtEl>
                                          <p:spTgt spid="42"/>
                                        </p:tgtEl>
                                      </p:cBhvr>
                                    </p:animEffect>
                                    <p:anim calcmode="lin" valueType="num">
                                      <p:cBhvr>
                                        <p:cTn id="75" dur="500" decel="100000" fill="hold"/>
                                        <p:tgtEl>
                                          <p:spTgt spid="42"/>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168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anim calcmode="lin" valueType="num">
                                      <p:cBhvr>
                                        <p:cTn id="79" dur="500" decel="100000" fill="hold"/>
                                        <p:tgtEl>
                                          <p:spTgt spid="43"/>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182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500"/>
                                        <p:tgtEl>
                                          <p:spTgt spid="44"/>
                                        </p:tgtEl>
                                      </p:cBhvr>
                                    </p:animEffect>
                                    <p:anim calcmode="lin" valueType="num">
                                      <p:cBhvr>
                                        <p:cTn id="83" dur="500" decel="100000" fill="hold"/>
                                        <p:tgtEl>
                                          <p:spTgt spid="44"/>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196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500"/>
                                        <p:tgtEl>
                                          <p:spTgt spid="45"/>
                                        </p:tgtEl>
                                      </p:cBhvr>
                                    </p:animEffect>
                                    <p:anim calcmode="lin" valueType="num">
                                      <p:cBhvr>
                                        <p:cTn id="87" dur="500" decel="100000" fill="hold"/>
                                        <p:tgtEl>
                                          <p:spTgt spid="45"/>
                                        </p:tgtEl>
                                        <p:attrNameLst>
                                          <p:attrName>ppt_y</p:attrName>
                                        </p:attrNameLst>
                                      </p:cBhvr>
                                      <p:tavLst>
                                        <p:tav tm="0">
                                          <p:val>
                                            <p:strVal val="#ppt_y+0.04"/>
                                          </p:val>
                                        </p:tav>
                                        <p:tav tm="100000">
                                          <p:val>
                                            <p:strVal val="#ppt_y"/>
                                          </p:val>
                                        </p:tav>
                                      </p:tavLst>
                                    </p:anim>
                                  </p:childTnLst>
                                </p:cTn>
                              </p:par>
                              <p:par>
                                <p:cTn id="88" presetID="42" presetClass="entr" presetSubtype="0" fill="hold" grpId="0" nodeType="withEffect">
                                  <p:stCondLst>
                                    <p:cond delay="210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500"/>
                                        <p:tgtEl>
                                          <p:spTgt spid="46"/>
                                        </p:tgtEl>
                                      </p:cBhvr>
                                    </p:animEffect>
                                    <p:anim calcmode="lin" valueType="num">
                                      <p:cBhvr>
                                        <p:cTn id="91" dur="500" decel="100000" fill="hold"/>
                                        <p:tgtEl>
                                          <p:spTgt spid="46"/>
                                        </p:tgtEl>
                                        <p:attrNameLst>
                                          <p:attrName>ppt_y</p:attrName>
                                        </p:attrNameLst>
                                      </p:cBhvr>
                                      <p:tavLst>
                                        <p:tav tm="0">
                                          <p:val>
                                            <p:strVal val="#ppt_y+0.04"/>
                                          </p:val>
                                        </p:tav>
                                        <p:tav tm="100000">
                                          <p:val>
                                            <p:strVal val="#ppt_y"/>
                                          </p:val>
                                        </p:tav>
                                      </p:tavLst>
                                    </p:anim>
                                  </p:childTnLst>
                                </p:cTn>
                              </p:par>
                              <p:par>
                                <p:cTn id="92" presetID="42" presetClass="entr" presetSubtype="0" fill="hold" grpId="0" nodeType="withEffect">
                                  <p:stCondLst>
                                    <p:cond delay="2240"/>
                                  </p:stCondLst>
                                  <p:childTnLst>
                                    <p:set>
                                      <p:cBhvr>
                                        <p:cTn id="93" dur="1" fill="hold">
                                          <p:stCondLst>
                                            <p:cond delay="0"/>
                                          </p:stCondLst>
                                        </p:cTn>
                                        <p:tgtEl>
                                          <p:spTgt spid="47"/>
                                        </p:tgtEl>
                                        <p:attrNameLst>
                                          <p:attrName>style.visibility</p:attrName>
                                        </p:attrNameLst>
                                      </p:cBhvr>
                                      <p:to>
                                        <p:strVal val="visible"/>
                                      </p:to>
                                    </p:set>
                                    <p:animEffect transition="in" filter="fade">
                                      <p:cBhvr>
                                        <p:cTn id="94" dur="500"/>
                                        <p:tgtEl>
                                          <p:spTgt spid="47"/>
                                        </p:tgtEl>
                                      </p:cBhvr>
                                    </p:animEffect>
                                    <p:anim calcmode="lin" valueType="num">
                                      <p:cBhvr>
                                        <p:cTn id="95" dur="500" decel="100000" fill="hold"/>
                                        <p:tgtEl>
                                          <p:spTgt spid="47"/>
                                        </p:tgtEl>
                                        <p:attrNameLst>
                                          <p:attrName>ppt_y</p:attrName>
                                        </p:attrNameLst>
                                      </p:cBhvr>
                                      <p:tavLst>
                                        <p:tav tm="0">
                                          <p:val>
                                            <p:strVal val="#ppt_y+0.04"/>
                                          </p:val>
                                        </p:tav>
                                        <p:tav tm="100000">
                                          <p:val>
                                            <p:strVal val="#ppt_y"/>
                                          </p:val>
                                        </p:tav>
                                      </p:tavLst>
                                    </p:anim>
                                  </p:childTnLst>
                                </p:cTn>
                              </p:par>
                              <p:par>
                                <p:cTn id="96" presetID="42" presetClass="entr" presetSubtype="0" fill="hold" grpId="0" nodeType="withEffect">
                                  <p:stCondLst>
                                    <p:cond delay="238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anim calcmode="lin" valueType="num">
                                      <p:cBhvr>
                                        <p:cTn id="99" dur="500" decel="100000" fill="hold"/>
                                        <p:tgtEl>
                                          <p:spTgt spid="48"/>
                                        </p:tgtEl>
                                        <p:attrNameLst>
                                          <p:attrName>ppt_y</p:attrName>
                                        </p:attrNameLst>
                                      </p:cBhvr>
                                      <p:tavLst>
                                        <p:tav tm="0">
                                          <p:val>
                                            <p:strVal val="#ppt_y+0.04"/>
                                          </p:val>
                                        </p:tav>
                                        <p:tav tm="100000">
                                          <p:val>
                                            <p:strVal val="#ppt_y"/>
                                          </p:val>
                                        </p:tav>
                                      </p:tavLst>
                                    </p:anim>
                                  </p:childTnLst>
                                </p:cTn>
                              </p:par>
                              <p:par>
                                <p:cTn id="100" presetID="42" presetClass="entr" presetSubtype="0" fill="hold" grpId="0" nodeType="withEffect">
                                  <p:stCondLst>
                                    <p:cond delay="2380"/>
                                  </p:stCondLst>
                                  <p:childTnLst>
                                    <p:set>
                                      <p:cBhvr>
                                        <p:cTn id="101" dur="1" fill="hold">
                                          <p:stCondLst>
                                            <p:cond delay="0"/>
                                          </p:stCondLst>
                                        </p:cTn>
                                        <p:tgtEl>
                                          <p:spTgt spid="49"/>
                                        </p:tgtEl>
                                        <p:attrNameLst>
                                          <p:attrName>style.visibility</p:attrName>
                                        </p:attrNameLst>
                                      </p:cBhvr>
                                      <p:to>
                                        <p:strVal val="visible"/>
                                      </p:to>
                                    </p:set>
                                    <p:animEffect transition="in" filter="fade">
                                      <p:cBhvr>
                                        <p:cTn id="102" dur="500"/>
                                        <p:tgtEl>
                                          <p:spTgt spid="49"/>
                                        </p:tgtEl>
                                      </p:cBhvr>
                                    </p:animEffect>
                                    <p:anim calcmode="lin" valueType="num">
                                      <p:cBhvr>
                                        <p:cTn id="103" dur="500" decel="100000" fill="hold"/>
                                        <p:tgtEl>
                                          <p:spTgt spid="49"/>
                                        </p:tgtEl>
                                        <p:attrNameLst>
                                          <p:attrName>ppt_y</p:attrName>
                                        </p:attrNameLst>
                                      </p:cBhvr>
                                      <p:tavLst>
                                        <p:tav tm="0">
                                          <p:val>
                                            <p:strVal val="#ppt_y+0.04"/>
                                          </p:val>
                                        </p:tav>
                                        <p:tav tm="100000">
                                          <p:val>
                                            <p:strVal val="#ppt_y"/>
                                          </p:val>
                                        </p:tav>
                                      </p:tavLst>
                                    </p:anim>
                                  </p:childTnLst>
                                </p:cTn>
                              </p:par>
                              <p:par>
                                <p:cTn id="104" presetID="42" presetClass="entr" presetSubtype="0" fill="hold" grpId="0" nodeType="withEffect">
                                  <p:stCondLst>
                                    <p:cond delay="2520"/>
                                  </p:stCondLst>
                                  <p:childTnLst>
                                    <p:set>
                                      <p:cBhvr>
                                        <p:cTn id="105" dur="1" fill="hold">
                                          <p:stCondLst>
                                            <p:cond delay="0"/>
                                          </p:stCondLst>
                                        </p:cTn>
                                        <p:tgtEl>
                                          <p:spTgt spid="50"/>
                                        </p:tgtEl>
                                        <p:attrNameLst>
                                          <p:attrName>style.visibility</p:attrName>
                                        </p:attrNameLst>
                                      </p:cBhvr>
                                      <p:to>
                                        <p:strVal val="visible"/>
                                      </p:to>
                                    </p:set>
                                    <p:animEffect transition="in" filter="fade">
                                      <p:cBhvr>
                                        <p:cTn id="106" dur="500"/>
                                        <p:tgtEl>
                                          <p:spTgt spid="50"/>
                                        </p:tgtEl>
                                      </p:cBhvr>
                                    </p:animEffect>
                                    <p:anim calcmode="lin" valueType="num">
                                      <p:cBhvr>
                                        <p:cTn id="107" dur="500" decel="100000" fill="hold"/>
                                        <p:tgtEl>
                                          <p:spTgt spid="50"/>
                                        </p:tgtEl>
                                        <p:attrNameLst>
                                          <p:attrName>ppt_y</p:attrName>
                                        </p:attrNameLst>
                                      </p:cBhvr>
                                      <p:tavLst>
                                        <p:tav tm="0">
                                          <p:val>
                                            <p:strVal val="#ppt_y+0.04"/>
                                          </p:val>
                                        </p:tav>
                                        <p:tav tm="100000">
                                          <p:val>
                                            <p:strVal val="#ppt_y"/>
                                          </p:val>
                                        </p:tav>
                                      </p:tavLst>
                                    </p:anim>
                                  </p:childTnLst>
                                </p:cTn>
                              </p:par>
                              <p:par>
                                <p:cTn id="108" presetID="42" presetClass="entr" presetSubtype="0" fill="hold" grpId="0" nodeType="withEffect">
                                  <p:stCondLst>
                                    <p:cond delay="2520"/>
                                  </p:stCondLst>
                                  <p:childTnLst>
                                    <p:set>
                                      <p:cBhvr>
                                        <p:cTn id="109" dur="1" fill="hold">
                                          <p:stCondLst>
                                            <p:cond delay="0"/>
                                          </p:stCondLst>
                                        </p:cTn>
                                        <p:tgtEl>
                                          <p:spTgt spid="51"/>
                                        </p:tgtEl>
                                        <p:attrNameLst>
                                          <p:attrName>style.visibility</p:attrName>
                                        </p:attrNameLst>
                                      </p:cBhvr>
                                      <p:to>
                                        <p:strVal val="visible"/>
                                      </p:to>
                                    </p:set>
                                    <p:animEffect transition="in" filter="fade">
                                      <p:cBhvr>
                                        <p:cTn id="110" dur="500"/>
                                        <p:tgtEl>
                                          <p:spTgt spid="51"/>
                                        </p:tgtEl>
                                      </p:cBhvr>
                                    </p:animEffect>
                                    <p:anim calcmode="lin" valueType="num">
                                      <p:cBhvr>
                                        <p:cTn id="111" dur="500" decel="100000" fill="hold"/>
                                        <p:tgtEl>
                                          <p:spTgt spid="51"/>
                                        </p:tgtEl>
                                        <p:attrNameLst>
                                          <p:attrName>ppt_y</p:attrName>
                                        </p:attrNameLst>
                                      </p:cBhvr>
                                      <p:tavLst>
                                        <p:tav tm="0">
                                          <p:val>
                                            <p:strVal val="#ppt_y+0.04"/>
                                          </p:val>
                                        </p:tav>
                                        <p:tav tm="100000">
                                          <p:val>
                                            <p:strVal val="#ppt_y"/>
                                          </p:val>
                                        </p:tav>
                                      </p:tavLst>
                                    </p:anim>
                                  </p:childTnLst>
                                </p:cTn>
                              </p:par>
                              <p:par>
                                <p:cTn id="112" presetID="42" presetClass="entr" presetSubtype="0" fill="hold" grpId="0" nodeType="withEffect">
                                  <p:stCondLst>
                                    <p:cond delay="2520"/>
                                  </p:stCondLst>
                                  <p:childTnLst>
                                    <p:set>
                                      <p:cBhvr>
                                        <p:cTn id="113" dur="1" fill="hold">
                                          <p:stCondLst>
                                            <p:cond delay="0"/>
                                          </p:stCondLst>
                                        </p:cTn>
                                        <p:tgtEl>
                                          <p:spTgt spid="52"/>
                                        </p:tgtEl>
                                        <p:attrNameLst>
                                          <p:attrName>style.visibility</p:attrName>
                                        </p:attrNameLst>
                                      </p:cBhvr>
                                      <p:to>
                                        <p:strVal val="visible"/>
                                      </p:to>
                                    </p:set>
                                    <p:animEffect transition="in" filter="fade">
                                      <p:cBhvr>
                                        <p:cTn id="114" dur="500"/>
                                        <p:tgtEl>
                                          <p:spTgt spid="52"/>
                                        </p:tgtEl>
                                      </p:cBhvr>
                                    </p:animEffect>
                                    <p:anim calcmode="lin" valueType="num">
                                      <p:cBhvr>
                                        <p:cTn id="115" dur="500" decel="100000" fill="hold"/>
                                        <p:tgtEl>
                                          <p:spTgt spid="52"/>
                                        </p:tgtEl>
                                        <p:attrNameLst>
                                          <p:attrName>ppt_y</p:attrName>
                                        </p:attrNameLst>
                                      </p:cBhvr>
                                      <p:tavLst>
                                        <p:tav tm="0">
                                          <p:val>
                                            <p:strVal val="#ppt_y+0.04"/>
                                          </p:val>
                                        </p:tav>
                                        <p:tav tm="100000">
                                          <p:val>
                                            <p:strVal val="#ppt_y"/>
                                          </p:val>
                                        </p:tav>
                                      </p:tavLst>
                                    </p:anim>
                                  </p:childTnLst>
                                </p:cTn>
                              </p:par>
                              <p:par>
                                <p:cTn id="116" presetID="42" presetClass="entr" presetSubtype="0" fill="hold" grpId="0" nodeType="withEffect">
                                  <p:stCondLst>
                                    <p:cond delay="266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500"/>
                                        <p:tgtEl>
                                          <p:spTgt spid="53"/>
                                        </p:tgtEl>
                                      </p:cBhvr>
                                    </p:animEffect>
                                    <p:anim calcmode="lin" valueType="num">
                                      <p:cBhvr>
                                        <p:cTn id="119" dur="500" decel="100000" fill="hold"/>
                                        <p:tgtEl>
                                          <p:spTgt spid="53"/>
                                        </p:tgtEl>
                                        <p:attrNameLst>
                                          <p:attrName>ppt_y</p:attrName>
                                        </p:attrNameLst>
                                      </p:cBhvr>
                                      <p:tavLst>
                                        <p:tav tm="0">
                                          <p:val>
                                            <p:strVal val="#ppt_y+0.04"/>
                                          </p:val>
                                        </p:tav>
                                        <p:tav tm="100000">
                                          <p:val>
                                            <p:strVal val="#ppt_y"/>
                                          </p:val>
                                        </p:tav>
                                      </p:tavLst>
                                    </p:anim>
                                  </p:childTnLst>
                                </p:cTn>
                              </p:par>
                              <p:par>
                                <p:cTn id="120" presetID="42" presetClass="entr" presetSubtype="0" fill="hold" grpId="0" nodeType="withEffect">
                                  <p:stCondLst>
                                    <p:cond delay="266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500"/>
                                        <p:tgtEl>
                                          <p:spTgt spid="54"/>
                                        </p:tgtEl>
                                      </p:cBhvr>
                                    </p:animEffect>
                                    <p:anim calcmode="lin" valueType="num">
                                      <p:cBhvr>
                                        <p:cTn id="123" dur="500" decel="100000" fill="hold"/>
                                        <p:tgtEl>
                                          <p:spTgt spid="54"/>
                                        </p:tgtEl>
                                        <p:attrNameLst>
                                          <p:attrName>ppt_y</p:attrName>
                                        </p:attrNameLst>
                                      </p:cBhvr>
                                      <p:tavLst>
                                        <p:tav tm="0">
                                          <p:val>
                                            <p:strVal val="#ppt_y+0.04"/>
                                          </p:val>
                                        </p:tav>
                                        <p:tav tm="100000">
                                          <p:val>
                                            <p:strVal val="#ppt_y"/>
                                          </p:val>
                                        </p:tav>
                                      </p:tavLst>
                                    </p:anim>
                                  </p:childTnLst>
                                </p:cTn>
                              </p:par>
                              <p:par>
                                <p:cTn id="124" presetID="42" presetClass="entr" presetSubtype="0" fill="hold" grpId="0" nodeType="withEffect">
                                  <p:stCondLst>
                                    <p:cond delay="2800"/>
                                  </p:stCondLst>
                                  <p:childTnLst>
                                    <p:set>
                                      <p:cBhvr>
                                        <p:cTn id="125" dur="1" fill="hold">
                                          <p:stCondLst>
                                            <p:cond delay="0"/>
                                          </p:stCondLst>
                                        </p:cTn>
                                        <p:tgtEl>
                                          <p:spTgt spid="55"/>
                                        </p:tgtEl>
                                        <p:attrNameLst>
                                          <p:attrName>style.visibility</p:attrName>
                                        </p:attrNameLst>
                                      </p:cBhvr>
                                      <p:to>
                                        <p:strVal val="visible"/>
                                      </p:to>
                                    </p:set>
                                    <p:animEffect transition="in" filter="fade">
                                      <p:cBhvr>
                                        <p:cTn id="126" dur="500"/>
                                        <p:tgtEl>
                                          <p:spTgt spid="55"/>
                                        </p:tgtEl>
                                      </p:cBhvr>
                                    </p:animEffect>
                                    <p:anim calcmode="lin" valueType="num">
                                      <p:cBhvr>
                                        <p:cTn id="127" dur="500" decel="100000" fill="hold"/>
                                        <p:tgtEl>
                                          <p:spTgt spid="55"/>
                                        </p:tgtEl>
                                        <p:attrNameLst>
                                          <p:attrName>ppt_y</p:attrName>
                                        </p:attrNameLst>
                                      </p:cBhvr>
                                      <p:tavLst>
                                        <p:tav tm="0">
                                          <p:val>
                                            <p:strVal val="#ppt_y+0.04"/>
                                          </p:val>
                                        </p:tav>
                                        <p:tav tm="100000">
                                          <p:val>
                                            <p:strVal val="#ppt_y"/>
                                          </p:val>
                                        </p:tav>
                                      </p:tavLst>
                                    </p:anim>
                                  </p:childTnLst>
                                </p:cTn>
                              </p:par>
                              <p:par>
                                <p:cTn id="128" presetID="42" presetClass="entr" presetSubtype="0" fill="hold" grpId="0" nodeType="withEffect">
                                  <p:stCondLst>
                                    <p:cond delay="2800"/>
                                  </p:stCondLst>
                                  <p:childTnLst>
                                    <p:set>
                                      <p:cBhvr>
                                        <p:cTn id="129" dur="1" fill="hold">
                                          <p:stCondLst>
                                            <p:cond delay="0"/>
                                          </p:stCondLst>
                                        </p:cTn>
                                        <p:tgtEl>
                                          <p:spTgt spid="56"/>
                                        </p:tgtEl>
                                        <p:attrNameLst>
                                          <p:attrName>style.visibility</p:attrName>
                                        </p:attrNameLst>
                                      </p:cBhvr>
                                      <p:to>
                                        <p:strVal val="visible"/>
                                      </p:to>
                                    </p:set>
                                    <p:animEffect transition="in" filter="fade">
                                      <p:cBhvr>
                                        <p:cTn id="130" dur="500"/>
                                        <p:tgtEl>
                                          <p:spTgt spid="56"/>
                                        </p:tgtEl>
                                      </p:cBhvr>
                                    </p:animEffect>
                                    <p:anim calcmode="lin" valueType="num">
                                      <p:cBhvr>
                                        <p:cTn id="131" dur="500" decel="100000" fill="hold"/>
                                        <p:tgtEl>
                                          <p:spTgt spid="5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07  ·  RESULTS  (n = 50 per condition)</a:t>
            </a:r>
            <a:endParaRPr lang="en-US" sz="1200" dirty="0"/>
          </a:p>
        </p:txBody>
      </p:sp>
      <p:sp>
        <p:nvSpPr>
          <p:cNvPr id="3" name="!!title"/>
          <p:cNvSpPr txBox="1"/>
          <p:nvPr/>
        </p:nvSpPr>
        <p:spPr>
          <a:xfrm>
            <a:off x="548640" y="804672"/>
            <a:ext cx="1042416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Accuracy plateaus after K = 3; latency keeps climbing</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07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91440" cy="91440"/>
          </a:xfrm>
          <a:prstGeom prst="roundRect">
            <a:avLst>
              <a:gd name="adj" fmla="val 50000"/>
            </a:avLst>
          </a:prstGeom>
          <a:solidFill>
            <a:srgbClr val="C97700">
              <a:alpha val="45000"/>
            </a:srgbClr>
          </a:solidFill>
          <a:ln/>
        </p:spPr>
      </p:sp>
      <p:sp>
        <p:nvSpPr>
          <p:cNvPr id="10" name="!!dot5"/>
          <p:cNvSpPr/>
          <p:nvPr/>
        </p:nvSpPr>
        <p:spPr>
          <a:xfrm>
            <a:off x="10378440" y="6451092"/>
            <a:ext cx="91440" cy="91440"/>
          </a:xfrm>
          <a:prstGeom prst="roundRect">
            <a:avLst>
              <a:gd name="adj" fmla="val 50000"/>
            </a:avLst>
          </a:prstGeom>
          <a:solidFill>
            <a:srgbClr val="C97700">
              <a:alpha val="45000"/>
            </a:srgbClr>
          </a:solidFill>
          <a:ln/>
        </p:spPr>
      </p:sp>
      <p:sp>
        <p:nvSpPr>
          <p:cNvPr id="11" name="!!dot6"/>
          <p:cNvSpPr/>
          <p:nvPr/>
        </p:nvSpPr>
        <p:spPr>
          <a:xfrm>
            <a:off x="10561320" y="6451092"/>
            <a:ext cx="91440" cy="91440"/>
          </a:xfrm>
          <a:prstGeom prst="roundRect">
            <a:avLst>
              <a:gd name="adj" fmla="val 50000"/>
            </a:avLst>
          </a:prstGeom>
          <a:solidFill>
            <a:srgbClr val="C97700">
              <a:alpha val="45000"/>
            </a:srgbClr>
          </a:solidFill>
          <a:ln/>
        </p:spPr>
      </p:sp>
      <p:sp>
        <p:nvSpPr>
          <p:cNvPr id="12" name="!!dot7"/>
          <p:cNvSpPr/>
          <p:nvPr/>
        </p:nvSpPr>
        <p:spPr>
          <a:xfrm>
            <a:off x="10744200" y="6451092"/>
            <a:ext cx="365760" cy="91440"/>
          </a:xfrm>
          <a:prstGeom prst="roundRect">
            <a:avLst>
              <a:gd name="adj" fmla="val 50000"/>
            </a:avLst>
          </a:prstGeom>
          <a:solidFill>
            <a:srgbClr val="C97700"/>
          </a:solidFill>
          <a:ln/>
        </p:spPr>
      </p:sp>
      <p:sp>
        <p:nvSpPr>
          <p:cNvPr id="13" name="!!dot8"/>
          <p:cNvSpPr/>
          <p:nvPr/>
        </p:nvSpPr>
        <p:spPr>
          <a:xfrm>
            <a:off x="11201400" y="6451092"/>
            <a:ext cx="91440" cy="91440"/>
          </a:xfrm>
          <a:prstGeom prst="roundRect">
            <a:avLst>
              <a:gd name="adj" fmla="val 50000"/>
            </a:avLst>
          </a:prstGeom>
          <a:solidFill>
            <a:srgbClr val="D9DCE8"/>
          </a:solidFill>
          <a:ln/>
        </p:spPr>
      </p:sp>
      <p:sp>
        <p:nvSpPr>
          <p:cNvPr id="14" name="!!dot9"/>
          <p:cNvSpPr/>
          <p:nvPr/>
        </p:nvSpPr>
        <p:spPr>
          <a:xfrm>
            <a:off x="11384280" y="6451092"/>
            <a:ext cx="91440" cy="91440"/>
          </a:xfrm>
          <a:prstGeom prst="roundRect">
            <a:avLst>
              <a:gd name="adj" fmla="val 50000"/>
            </a:avLst>
          </a:prstGeom>
          <a:solidFill>
            <a:srgbClr val="D9DCE8"/>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rP0"/>
          <p:cNvSpPr/>
          <p:nvPr/>
        </p:nvSpPr>
        <p:spPr>
          <a:xfrm>
            <a:off x="548640" y="1783080"/>
            <a:ext cx="2606040" cy="3291840"/>
          </a:xfrm>
          <a:prstGeom prst="roundRect">
            <a:avLst>
              <a:gd name="adj" fmla="val 4912"/>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18" name="rPd0"/>
          <p:cNvSpPr/>
          <p:nvPr/>
        </p:nvSpPr>
        <p:spPr>
          <a:xfrm>
            <a:off x="777240" y="2029968"/>
            <a:ext cx="137160" cy="137160"/>
          </a:xfrm>
          <a:prstGeom prst="ellipse">
            <a:avLst/>
          </a:prstGeom>
          <a:solidFill>
            <a:srgbClr val="C97700"/>
          </a:solidFill>
          <a:ln/>
        </p:spPr>
      </p:sp>
      <p:sp>
        <p:nvSpPr>
          <p:cNvPr id="19" name="rPh0"/>
          <p:cNvSpPr txBox="1"/>
          <p:nvPr/>
        </p:nvSpPr>
        <p:spPr>
          <a:xfrm>
            <a:off x="1005840" y="1947672"/>
            <a:ext cx="2011680" cy="310896"/>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Answer accuracy</a:t>
            </a:r>
            <a:endParaRPr lang="en-US" sz="1500" dirty="0"/>
          </a:p>
        </p:txBody>
      </p:sp>
      <p:sp>
        <p:nvSpPr>
          <p:cNvPr id="20" name="rPs0"/>
          <p:cNvSpPr txBox="1"/>
          <p:nvPr/>
        </p:nvSpPr>
        <p:spPr>
          <a:xfrm>
            <a:off x="777240" y="2258568"/>
            <a:ext cx="2240280" cy="256032"/>
          </a:xfrm>
          <a:prstGeom prst="rect">
            <a:avLst/>
          </a:prstGeom>
          <a:noFill/>
          <a:ln/>
        </p:spPr>
        <p:txBody>
          <a:bodyPr wrap="square" lIns="0" tIns="0" rIns="0" bIns="0" rtlCol="0" anchor="t"/>
          <a:lstStyle/>
          <a:p>
            <a:pPr indent="0" marL="0">
              <a:buNone/>
            </a:pPr>
            <a:r>
              <a:rPr lang="en-US" sz="1100" dirty="0">
                <a:solidFill>
                  <a:srgbClr val="565B75"/>
                </a:solidFill>
                <a:latin typeface="Calibri" pitchFamily="34" charset="0"/>
                <a:ea typeface="Calibri" pitchFamily="34" charset="-122"/>
                <a:cs typeface="Calibri" pitchFamily="34" charset="-120"/>
              </a:rPr>
              <a:t>% of max score · dashed = No-RAG 37%</a:t>
            </a:r>
            <a:endParaRPr lang="en-US" sz="1100" dirty="0"/>
          </a:p>
        </p:txBody>
      </p:sp>
      <p:sp>
        <p:nvSpPr>
          <p:cNvPr id="21" name="rPax0"/>
          <p:cNvSpPr/>
          <p:nvPr/>
        </p:nvSpPr>
        <p:spPr>
          <a:xfrm>
            <a:off x="777240" y="4572000"/>
            <a:ext cx="2148840" cy="0"/>
          </a:xfrm>
          <a:prstGeom prst="line">
            <a:avLst/>
          </a:prstGeom>
          <a:noFill/>
          <a:ln w="12700">
            <a:solidFill>
              <a:srgbClr val="D9DCE8"/>
            </a:solidFill>
            <a:prstDash val="solid"/>
          </a:ln>
        </p:spPr>
      </p:sp>
      <p:sp>
        <p:nvSpPr>
          <p:cNvPr id="22" name="!!bar_acc_1"/>
          <p:cNvSpPr/>
          <p:nvPr/>
        </p:nvSpPr>
        <p:spPr>
          <a:xfrm>
            <a:off x="878967" y="4001414"/>
            <a:ext cx="402336" cy="570586"/>
          </a:xfrm>
          <a:prstGeom prst="rect">
            <a:avLst/>
          </a:prstGeom>
          <a:solidFill>
            <a:srgbClr val="C97700">
              <a:alpha val="55000"/>
            </a:srgbClr>
          </a:solidFill>
          <a:ln/>
        </p:spPr>
      </p:sp>
      <p:sp>
        <p:nvSpPr>
          <p:cNvPr id="23" name="rV00"/>
          <p:cNvSpPr txBox="1"/>
          <p:nvPr/>
        </p:nvSpPr>
        <p:spPr>
          <a:xfrm>
            <a:off x="741807" y="4056278"/>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32%</a:t>
            </a:r>
            <a:endParaRPr lang="en-US" sz="1200" dirty="0"/>
          </a:p>
        </p:txBody>
      </p:sp>
      <p:sp>
        <p:nvSpPr>
          <p:cNvPr id="24" name="rX00"/>
          <p:cNvSpPr txBox="1"/>
          <p:nvPr/>
        </p:nvSpPr>
        <p:spPr>
          <a:xfrm>
            <a:off x="787527"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a:t>
            </a:r>
            <a:endParaRPr lang="en-US" sz="1100" dirty="0"/>
          </a:p>
        </p:txBody>
      </p:sp>
      <p:sp>
        <p:nvSpPr>
          <p:cNvPr id="25" name="!!bar_acc_3"/>
          <p:cNvSpPr/>
          <p:nvPr/>
        </p:nvSpPr>
        <p:spPr>
          <a:xfrm>
            <a:off x="1393317" y="3662629"/>
            <a:ext cx="402336" cy="909371"/>
          </a:xfrm>
          <a:prstGeom prst="rect">
            <a:avLst/>
          </a:prstGeom>
          <a:solidFill>
            <a:srgbClr val="C97700"/>
          </a:solidFill>
          <a:ln/>
        </p:spPr>
      </p:sp>
      <p:sp>
        <p:nvSpPr>
          <p:cNvPr id="26" name="rV01"/>
          <p:cNvSpPr txBox="1"/>
          <p:nvPr/>
        </p:nvSpPr>
        <p:spPr>
          <a:xfrm>
            <a:off x="1256157" y="3388309"/>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51%</a:t>
            </a:r>
            <a:endParaRPr lang="en-US" sz="1200" dirty="0"/>
          </a:p>
        </p:txBody>
      </p:sp>
      <p:sp>
        <p:nvSpPr>
          <p:cNvPr id="27" name="rX01"/>
          <p:cNvSpPr txBox="1"/>
          <p:nvPr/>
        </p:nvSpPr>
        <p:spPr>
          <a:xfrm>
            <a:off x="1301877"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K3</a:t>
            </a:r>
            <a:endParaRPr lang="en-US" sz="1100" dirty="0"/>
          </a:p>
        </p:txBody>
      </p:sp>
      <p:sp>
        <p:nvSpPr>
          <p:cNvPr id="28" name="!!bar_acc_5"/>
          <p:cNvSpPr/>
          <p:nvPr/>
        </p:nvSpPr>
        <p:spPr>
          <a:xfrm>
            <a:off x="1907667" y="3591306"/>
            <a:ext cx="402336" cy="980694"/>
          </a:xfrm>
          <a:prstGeom prst="rect">
            <a:avLst/>
          </a:prstGeom>
          <a:solidFill>
            <a:srgbClr val="C97700"/>
          </a:solidFill>
          <a:ln/>
        </p:spPr>
      </p:sp>
      <p:sp>
        <p:nvSpPr>
          <p:cNvPr id="29" name="rV02"/>
          <p:cNvSpPr txBox="1"/>
          <p:nvPr/>
        </p:nvSpPr>
        <p:spPr>
          <a:xfrm>
            <a:off x="1770507" y="3316986"/>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55%</a:t>
            </a:r>
            <a:endParaRPr lang="en-US" sz="1200" dirty="0"/>
          </a:p>
        </p:txBody>
      </p:sp>
      <p:sp>
        <p:nvSpPr>
          <p:cNvPr id="30" name="rX02"/>
          <p:cNvSpPr txBox="1"/>
          <p:nvPr/>
        </p:nvSpPr>
        <p:spPr>
          <a:xfrm>
            <a:off x="1816227"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K5</a:t>
            </a:r>
            <a:endParaRPr lang="en-US" sz="1100" dirty="0"/>
          </a:p>
        </p:txBody>
      </p:sp>
      <p:sp>
        <p:nvSpPr>
          <p:cNvPr id="31" name="!!bar_acc_10"/>
          <p:cNvSpPr/>
          <p:nvPr/>
        </p:nvSpPr>
        <p:spPr>
          <a:xfrm>
            <a:off x="2422017" y="3519983"/>
            <a:ext cx="402336" cy="1052017"/>
          </a:xfrm>
          <a:prstGeom prst="rect">
            <a:avLst/>
          </a:prstGeom>
          <a:solidFill>
            <a:srgbClr val="C97700"/>
          </a:solidFill>
          <a:ln/>
        </p:spPr>
      </p:sp>
      <p:sp>
        <p:nvSpPr>
          <p:cNvPr id="32" name="rV03"/>
          <p:cNvSpPr txBox="1"/>
          <p:nvPr/>
        </p:nvSpPr>
        <p:spPr>
          <a:xfrm>
            <a:off x="2284857" y="3245663"/>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59%</a:t>
            </a:r>
            <a:endParaRPr lang="en-US" sz="1200" dirty="0"/>
          </a:p>
        </p:txBody>
      </p:sp>
      <p:sp>
        <p:nvSpPr>
          <p:cNvPr id="33" name="rX03"/>
          <p:cNvSpPr txBox="1"/>
          <p:nvPr/>
        </p:nvSpPr>
        <p:spPr>
          <a:xfrm>
            <a:off x="2330577"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K10</a:t>
            </a:r>
            <a:endParaRPr lang="en-US" sz="1100" dirty="0"/>
          </a:p>
        </p:txBody>
      </p:sp>
      <p:sp>
        <p:nvSpPr>
          <p:cNvPr id="34" name="rRef"/>
          <p:cNvSpPr/>
          <p:nvPr/>
        </p:nvSpPr>
        <p:spPr>
          <a:xfrm>
            <a:off x="777240" y="3912260"/>
            <a:ext cx="2148840" cy="0"/>
          </a:xfrm>
          <a:prstGeom prst="line">
            <a:avLst/>
          </a:prstGeom>
          <a:noFill/>
          <a:ln w="12700">
            <a:solidFill>
              <a:srgbClr val="16182B">
                <a:alpha val="70000"/>
              </a:srgbClr>
            </a:solidFill>
            <a:prstDash val="dash"/>
          </a:ln>
        </p:spPr>
      </p:sp>
      <p:sp>
        <p:nvSpPr>
          <p:cNvPr id="35" name="rP1"/>
          <p:cNvSpPr/>
          <p:nvPr/>
        </p:nvSpPr>
        <p:spPr>
          <a:xfrm>
            <a:off x="3364992" y="1783080"/>
            <a:ext cx="2606040" cy="3291840"/>
          </a:xfrm>
          <a:prstGeom prst="roundRect">
            <a:avLst>
              <a:gd name="adj" fmla="val 4912"/>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36" name="rPd1"/>
          <p:cNvSpPr/>
          <p:nvPr/>
        </p:nvSpPr>
        <p:spPr>
          <a:xfrm>
            <a:off x="3593592" y="2029968"/>
            <a:ext cx="137160" cy="137160"/>
          </a:xfrm>
          <a:prstGeom prst="ellipse">
            <a:avLst/>
          </a:prstGeom>
          <a:solidFill>
            <a:srgbClr val="0E9C86"/>
          </a:solidFill>
          <a:ln/>
        </p:spPr>
      </p:sp>
      <p:sp>
        <p:nvSpPr>
          <p:cNvPr id="37" name="rPh1"/>
          <p:cNvSpPr txBox="1"/>
          <p:nvPr/>
        </p:nvSpPr>
        <p:spPr>
          <a:xfrm>
            <a:off x="3822192" y="1947672"/>
            <a:ext cx="2011680" cy="310896"/>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Context relevance</a:t>
            </a:r>
            <a:endParaRPr lang="en-US" sz="1500" dirty="0"/>
          </a:p>
        </p:txBody>
      </p:sp>
      <p:sp>
        <p:nvSpPr>
          <p:cNvPr id="38" name="rPs1"/>
          <p:cNvSpPr txBox="1"/>
          <p:nvPr/>
        </p:nvSpPr>
        <p:spPr>
          <a:xfrm>
            <a:off x="3593592" y="2258568"/>
            <a:ext cx="2240280" cy="256032"/>
          </a:xfrm>
          <a:prstGeom prst="rect">
            <a:avLst/>
          </a:prstGeom>
          <a:noFill/>
          <a:ln/>
        </p:spPr>
        <p:txBody>
          <a:bodyPr wrap="square" lIns="0" tIns="0" rIns="0" bIns="0" rtlCol="0" anchor="t"/>
          <a:lstStyle/>
          <a:p>
            <a:pPr indent="0" marL="0">
              <a:buNone/>
            </a:pPr>
            <a:r>
              <a:rPr lang="en-US" sz="1100" dirty="0">
                <a:solidFill>
                  <a:srgbClr val="565B75"/>
                </a:solidFill>
                <a:latin typeface="Calibri" pitchFamily="34" charset="0"/>
                <a:ea typeface="Calibri" pitchFamily="34" charset="-122"/>
                <a:cs typeface="Calibri" pitchFamily="34" charset="-120"/>
              </a:rPr>
              <a:t>fact recall of retrieved text</a:t>
            </a:r>
            <a:endParaRPr lang="en-US" sz="1100" dirty="0"/>
          </a:p>
        </p:txBody>
      </p:sp>
      <p:sp>
        <p:nvSpPr>
          <p:cNvPr id="39" name="rPax1"/>
          <p:cNvSpPr/>
          <p:nvPr/>
        </p:nvSpPr>
        <p:spPr>
          <a:xfrm>
            <a:off x="3593592" y="4572000"/>
            <a:ext cx="2148840" cy="0"/>
          </a:xfrm>
          <a:prstGeom prst="line">
            <a:avLst/>
          </a:prstGeom>
          <a:noFill/>
          <a:ln w="12700">
            <a:solidFill>
              <a:srgbClr val="D9DCE8"/>
            </a:solidFill>
            <a:prstDash val="solid"/>
          </a:ln>
        </p:spPr>
      </p:sp>
      <p:sp>
        <p:nvSpPr>
          <p:cNvPr id="40" name="!!bar_rel_1"/>
          <p:cNvSpPr/>
          <p:nvPr/>
        </p:nvSpPr>
        <p:spPr>
          <a:xfrm>
            <a:off x="3695319" y="3751783"/>
            <a:ext cx="402336" cy="820217"/>
          </a:xfrm>
          <a:prstGeom prst="rect">
            <a:avLst/>
          </a:prstGeom>
          <a:solidFill>
            <a:srgbClr val="0E9C86">
              <a:alpha val="55000"/>
            </a:srgbClr>
          </a:solidFill>
          <a:ln/>
        </p:spPr>
      </p:sp>
      <p:sp>
        <p:nvSpPr>
          <p:cNvPr id="41" name="rV10"/>
          <p:cNvSpPr txBox="1"/>
          <p:nvPr/>
        </p:nvSpPr>
        <p:spPr>
          <a:xfrm>
            <a:off x="3558159" y="3477463"/>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46%</a:t>
            </a:r>
            <a:endParaRPr lang="en-US" sz="1200" dirty="0"/>
          </a:p>
        </p:txBody>
      </p:sp>
      <p:sp>
        <p:nvSpPr>
          <p:cNvPr id="42" name="rX10"/>
          <p:cNvSpPr txBox="1"/>
          <p:nvPr/>
        </p:nvSpPr>
        <p:spPr>
          <a:xfrm>
            <a:off x="3603879"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a:t>
            </a:r>
            <a:endParaRPr lang="en-US" sz="1100" dirty="0"/>
          </a:p>
        </p:txBody>
      </p:sp>
      <p:sp>
        <p:nvSpPr>
          <p:cNvPr id="43" name="!!bar_rel_3"/>
          <p:cNvSpPr/>
          <p:nvPr/>
        </p:nvSpPr>
        <p:spPr>
          <a:xfrm>
            <a:off x="4209669" y="3359506"/>
            <a:ext cx="402336" cy="1212494"/>
          </a:xfrm>
          <a:prstGeom prst="rect">
            <a:avLst/>
          </a:prstGeom>
          <a:solidFill>
            <a:srgbClr val="0E9C86"/>
          </a:solidFill>
          <a:ln/>
        </p:spPr>
      </p:sp>
      <p:sp>
        <p:nvSpPr>
          <p:cNvPr id="44" name="rV11"/>
          <p:cNvSpPr txBox="1"/>
          <p:nvPr/>
        </p:nvSpPr>
        <p:spPr>
          <a:xfrm>
            <a:off x="4072509" y="3085186"/>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68%</a:t>
            </a:r>
            <a:endParaRPr lang="en-US" sz="1200" dirty="0"/>
          </a:p>
        </p:txBody>
      </p:sp>
      <p:sp>
        <p:nvSpPr>
          <p:cNvPr id="45" name="rX11"/>
          <p:cNvSpPr txBox="1"/>
          <p:nvPr/>
        </p:nvSpPr>
        <p:spPr>
          <a:xfrm>
            <a:off x="4118229"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K3</a:t>
            </a:r>
            <a:endParaRPr lang="en-US" sz="1100" dirty="0"/>
          </a:p>
        </p:txBody>
      </p:sp>
      <p:sp>
        <p:nvSpPr>
          <p:cNvPr id="46" name="!!bar_rel_5"/>
          <p:cNvSpPr/>
          <p:nvPr/>
        </p:nvSpPr>
        <p:spPr>
          <a:xfrm>
            <a:off x="4724019" y="3163367"/>
            <a:ext cx="402336" cy="1408633"/>
          </a:xfrm>
          <a:prstGeom prst="rect">
            <a:avLst/>
          </a:prstGeom>
          <a:solidFill>
            <a:srgbClr val="0E9C86"/>
          </a:solidFill>
          <a:ln/>
        </p:spPr>
      </p:sp>
      <p:sp>
        <p:nvSpPr>
          <p:cNvPr id="47" name="rV12"/>
          <p:cNvSpPr txBox="1"/>
          <p:nvPr/>
        </p:nvSpPr>
        <p:spPr>
          <a:xfrm>
            <a:off x="4586859" y="2889047"/>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79%</a:t>
            </a:r>
            <a:endParaRPr lang="en-US" sz="1200" dirty="0"/>
          </a:p>
        </p:txBody>
      </p:sp>
      <p:sp>
        <p:nvSpPr>
          <p:cNvPr id="48" name="rX12"/>
          <p:cNvSpPr txBox="1"/>
          <p:nvPr/>
        </p:nvSpPr>
        <p:spPr>
          <a:xfrm>
            <a:off x="4632579"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K5</a:t>
            </a:r>
            <a:endParaRPr lang="en-US" sz="1100" dirty="0"/>
          </a:p>
        </p:txBody>
      </p:sp>
      <p:sp>
        <p:nvSpPr>
          <p:cNvPr id="49" name="!!bar_rel_10"/>
          <p:cNvSpPr/>
          <p:nvPr/>
        </p:nvSpPr>
        <p:spPr>
          <a:xfrm>
            <a:off x="5238369" y="3020720"/>
            <a:ext cx="402336" cy="1551280"/>
          </a:xfrm>
          <a:prstGeom prst="rect">
            <a:avLst/>
          </a:prstGeom>
          <a:solidFill>
            <a:srgbClr val="0E9C86"/>
          </a:solidFill>
          <a:ln/>
        </p:spPr>
      </p:sp>
      <p:sp>
        <p:nvSpPr>
          <p:cNvPr id="50" name="rV13"/>
          <p:cNvSpPr txBox="1"/>
          <p:nvPr/>
        </p:nvSpPr>
        <p:spPr>
          <a:xfrm>
            <a:off x="5101209" y="2746400"/>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87%</a:t>
            </a:r>
            <a:endParaRPr lang="en-US" sz="1200" dirty="0"/>
          </a:p>
        </p:txBody>
      </p:sp>
      <p:sp>
        <p:nvSpPr>
          <p:cNvPr id="51" name="rX13"/>
          <p:cNvSpPr txBox="1"/>
          <p:nvPr/>
        </p:nvSpPr>
        <p:spPr>
          <a:xfrm>
            <a:off x="5146929"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K10</a:t>
            </a:r>
            <a:endParaRPr lang="en-US" sz="1100" dirty="0"/>
          </a:p>
        </p:txBody>
      </p:sp>
      <p:sp>
        <p:nvSpPr>
          <p:cNvPr id="52" name="rPrec"/>
          <p:cNvSpPr txBox="1"/>
          <p:nvPr/>
        </p:nvSpPr>
        <p:spPr>
          <a:xfrm>
            <a:off x="3593592" y="2514600"/>
            <a:ext cx="2240280" cy="237744"/>
          </a:xfrm>
          <a:prstGeom prst="rect">
            <a:avLst/>
          </a:prstGeom>
          <a:noFill/>
          <a:ln/>
        </p:spPr>
        <p:txBody>
          <a:bodyPr wrap="square" lIns="0" tIns="0" rIns="0" bIns="0" rtlCol="0" anchor="t"/>
          <a:lstStyle/>
          <a:p>
            <a:pPr indent="0" marL="0">
              <a:buNone/>
            </a:pPr>
            <a:r>
              <a:rPr lang="en-US" sz="1100" i="1" dirty="0">
                <a:solidFill>
                  <a:srgbClr val="E0474C"/>
                </a:solidFill>
                <a:latin typeface="Calibri" pitchFamily="34" charset="0"/>
                <a:ea typeface="Calibri" pitchFamily="34" charset="-122"/>
                <a:cs typeface="Calibri" pitchFamily="34" charset="-120"/>
              </a:rPr>
              <a:t>chunk precision falls 78% → 50%</a:t>
            </a:r>
            <a:endParaRPr lang="en-US" sz="1100" dirty="0"/>
          </a:p>
        </p:txBody>
      </p:sp>
      <p:sp>
        <p:nvSpPr>
          <p:cNvPr id="53" name="rP2"/>
          <p:cNvSpPr/>
          <p:nvPr/>
        </p:nvSpPr>
        <p:spPr>
          <a:xfrm>
            <a:off x="6181344" y="1783080"/>
            <a:ext cx="2606040" cy="3291840"/>
          </a:xfrm>
          <a:prstGeom prst="roundRect">
            <a:avLst>
              <a:gd name="adj" fmla="val 4912"/>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54" name="rPd2"/>
          <p:cNvSpPr/>
          <p:nvPr/>
        </p:nvSpPr>
        <p:spPr>
          <a:xfrm>
            <a:off x="6409944" y="2029968"/>
            <a:ext cx="137160" cy="137160"/>
          </a:xfrm>
          <a:prstGeom prst="ellipse">
            <a:avLst/>
          </a:prstGeom>
          <a:solidFill>
            <a:srgbClr val="E0474C"/>
          </a:solidFill>
          <a:ln/>
        </p:spPr>
      </p:sp>
      <p:sp>
        <p:nvSpPr>
          <p:cNvPr id="55" name="rPh2"/>
          <p:cNvSpPr txBox="1"/>
          <p:nvPr/>
        </p:nvSpPr>
        <p:spPr>
          <a:xfrm>
            <a:off x="6638544" y="1947672"/>
            <a:ext cx="2011680" cy="310896"/>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Hallucination rate</a:t>
            </a:r>
            <a:endParaRPr lang="en-US" sz="1500" dirty="0"/>
          </a:p>
        </p:txBody>
      </p:sp>
      <p:sp>
        <p:nvSpPr>
          <p:cNvPr id="56" name="rPs2"/>
          <p:cNvSpPr txBox="1"/>
          <p:nvPr/>
        </p:nvSpPr>
        <p:spPr>
          <a:xfrm>
            <a:off x="6409944" y="2258568"/>
            <a:ext cx="2240280" cy="256032"/>
          </a:xfrm>
          <a:prstGeom prst="rect">
            <a:avLst/>
          </a:prstGeom>
          <a:noFill/>
          <a:ln/>
        </p:spPr>
        <p:txBody>
          <a:bodyPr wrap="square" lIns="0" tIns="0" rIns="0" bIns="0" rtlCol="0" anchor="t"/>
          <a:lstStyle/>
          <a:p>
            <a:pPr indent="0" marL="0">
              <a:buNone/>
            </a:pPr>
            <a:r>
              <a:rPr lang="en-US" sz="1100" dirty="0">
                <a:solidFill>
                  <a:srgbClr val="565B75"/>
                </a:solidFill>
                <a:latin typeface="Calibri" pitchFamily="34" charset="0"/>
                <a:ea typeface="Calibri" pitchFamily="34" charset="-122"/>
                <a:cs typeface="Calibri" pitchFamily="34" charset="-120"/>
              </a:rPr>
              <a:t>unsupported answer claims</a:t>
            </a:r>
            <a:endParaRPr lang="en-US" sz="1100" dirty="0"/>
          </a:p>
        </p:txBody>
      </p:sp>
      <p:sp>
        <p:nvSpPr>
          <p:cNvPr id="57" name="rPax2"/>
          <p:cNvSpPr/>
          <p:nvPr/>
        </p:nvSpPr>
        <p:spPr>
          <a:xfrm>
            <a:off x="6409944" y="4572000"/>
            <a:ext cx="2148840" cy="0"/>
          </a:xfrm>
          <a:prstGeom prst="line">
            <a:avLst/>
          </a:prstGeom>
          <a:noFill/>
          <a:ln w="12700">
            <a:solidFill>
              <a:srgbClr val="D9DCE8"/>
            </a:solidFill>
            <a:prstDash val="solid"/>
          </a:ln>
        </p:spPr>
      </p:sp>
      <p:sp>
        <p:nvSpPr>
          <p:cNvPr id="58" name="!!bar_hal_1"/>
          <p:cNvSpPr/>
          <p:nvPr/>
        </p:nvSpPr>
        <p:spPr>
          <a:xfrm>
            <a:off x="6511671" y="3609137"/>
            <a:ext cx="402336" cy="962863"/>
          </a:xfrm>
          <a:prstGeom prst="rect">
            <a:avLst/>
          </a:prstGeom>
          <a:solidFill>
            <a:srgbClr val="E0474C">
              <a:alpha val="55000"/>
            </a:srgbClr>
          </a:solidFill>
          <a:ln/>
        </p:spPr>
      </p:sp>
      <p:sp>
        <p:nvSpPr>
          <p:cNvPr id="59" name="rV20"/>
          <p:cNvSpPr txBox="1"/>
          <p:nvPr/>
        </p:nvSpPr>
        <p:spPr>
          <a:xfrm>
            <a:off x="6374511" y="3334817"/>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54%</a:t>
            </a:r>
            <a:endParaRPr lang="en-US" sz="1200" dirty="0"/>
          </a:p>
        </p:txBody>
      </p:sp>
      <p:sp>
        <p:nvSpPr>
          <p:cNvPr id="60" name="rX20"/>
          <p:cNvSpPr txBox="1"/>
          <p:nvPr/>
        </p:nvSpPr>
        <p:spPr>
          <a:xfrm>
            <a:off x="6420231"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a:t>
            </a:r>
            <a:endParaRPr lang="en-US" sz="1100" dirty="0"/>
          </a:p>
        </p:txBody>
      </p:sp>
      <p:sp>
        <p:nvSpPr>
          <p:cNvPr id="61" name="!!bar_hal_3"/>
          <p:cNvSpPr/>
          <p:nvPr/>
        </p:nvSpPr>
        <p:spPr>
          <a:xfrm>
            <a:off x="7026021" y="4126230"/>
            <a:ext cx="402336" cy="445770"/>
          </a:xfrm>
          <a:prstGeom prst="rect">
            <a:avLst/>
          </a:prstGeom>
          <a:solidFill>
            <a:srgbClr val="E0474C"/>
          </a:solidFill>
          <a:ln/>
        </p:spPr>
      </p:sp>
      <p:sp>
        <p:nvSpPr>
          <p:cNvPr id="62" name="rV21"/>
          <p:cNvSpPr txBox="1"/>
          <p:nvPr/>
        </p:nvSpPr>
        <p:spPr>
          <a:xfrm>
            <a:off x="6888861" y="3851910"/>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25%</a:t>
            </a:r>
            <a:endParaRPr lang="en-US" sz="1200" dirty="0"/>
          </a:p>
        </p:txBody>
      </p:sp>
      <p:sp>
        <p:nvSpPr>
          <p:cNvPr id="63" name="rX21"/>
          <p:cNvSpPr txBox="1"/>
          <p:nvPr/>
        </p:nvSpPr>
        <p:spPr>
          <a:xfrm>
            <a:off x="6934581"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K3</a:t>
            </a:r>
            <a:endParaRPr lang="en-US" sz="1100" dirty="0"/>
          </a:p>
        </p:txBody>
      </p:sp>
      <p:sp>
        <p:nvSpPr>
          <p:cNvPr id="64" name="!!bar_hal_5"/>
          <p:cNvSpPr/>
          <p:nvPr/>
        </p:nvSpPr>
        <p:spPr>
          <a:xfrm>
            <a:off x="7540371" y="4340200"/>
            <a:ext cx="402336" cy="231800"/>
          </a:xfrm>
          <a:prstGeom prst="rect">
            <a:avLst/>
          </a:prstGeom>
          <a:solidFill>
            <a:srgbClr val="E0474C"/>
          </a:solidFill>
          <a:ln/>
        </p:spPr>
      </p:sp>
      <p:sp>
        <p:nvSpPr>
          <p:cNvPr id="65" name="rV22"/>
          <p:cNvSpPr txBox="1"/>
          <p:nvPr/>
        </p:nvSpPr>
        <p:spPr>
          <a:xfrm>
            <a:off x="7403211" y="4065880"/>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13%</a:t>
            </a:r>
            <a:endParaRPr lang="en-US" sz="1200" dirty="0"/>
          </a:p>
        </p:txBody>
      </p:sp>
      <p:sp>
        <p:nvSpPr>
          <p:cNvPr id="66" name="rX22"/>
          <p:cNvSpPr txBox="1"/>
          <p:nvPr/>
        </p:nvSpPr>
        <p:spPr>
          <a:xfrm>
            <a:off x="7448931"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K5</a:t>
            </a:r>
            <a:endParaRPr lang="en-US" sz="1100" dirty="0"/>
          </a:p>
        </p:txBody>
      </p:sp>
      <p:sp>
        <p:nvSpPr>
          <p:cNvPr id="67" name="!!bar_hal_10"/>
          <p:cNvSpPr/>
          <p:nvPr/>
        </p:nvSpPr>
        <p:spPr>
          <a:xfrm>
            <a:off x="8054721" y="4447184"/>
            <a:ext cx="402336" cy="124816"/>
          </a:xfrm>
          <a:prstGeom prst="rect">
            <a:avLst/>
          </a:prstGeom>
          <a:solidFill>
            <a:srgbClr val="E0474C"/>
          </a:solidFill>
          <a:ln/>
        </p:spPr>
      </p:sp>
      <p:sp>
        <p:nvSpPr>
          <p:cNvPr id="68" name="rV23"/>
          <p:cNvSpPr txBox="1"/>
          <p:nvPr/>
        </p:nvSpPr>
        <p:spPr>
          <a:xfrm>
            <a:off x="7917561" y="4172864"/>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7%</a:t>
            </a:r>
            <a:endParaRPr lang="en-US" sz="1200" dirty="0"/>
          </a:p>
        </p:txBody>
      </p:sp>
      <p:sp>
        <p:nvSpPr>
          <p:cNvPr id="69" name="rX23"/>
          <p:cNvSpPr txBox="1"/>
          <p:nvPr/>
        </p:nvSpPr>
        <p:spPr>
          <a:xfrm>
            <a:off x="7963281"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K10</a:t>
            </a:r>
            <a:endParaRPr lang="en-US" sz="1100" dirty="0"/>
          </a:p>
        </p:txBody>
      </p:sp>
      <p:sp>
        <p:nvSpPr>
          <p:cNvPr id="70" name="rP3"/>
          <p:cNvSpPr/>
          <p:nvPr/>
        </p:nvSpPr>
        <p:spPr>
          <a:xfrm>
            <a:off x="8997696" y="1783080"/>
            <a:ext cx="2606040" cy="3291840"/>
          </a:xfrm>
          <a:prstGeom prst="roundRect">
            <a:avLst>
              <a:gd name="adj" fmla="val 4912"/>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71" name="rPd3"/>
          <p:cNvSpPr/>
          <p:nvPr/>
        </p:nvSpPr>
        <p:spPr>
          <a:xfrm>
            <a:off x="9226296" y="2029968"/>
            <a:ext cx="137160" cy="137160"/>
          </a:xfrm>
          <a:prstGeom prst="ellipse">
            <a:avLst/>
          </a:prstGeom>
          <a:solidFill>
            <a:srgbClr val="7656E0"/>
          </a:solidFill>
          <a:ln/>
        </p:spPr>
      </p:sp>
      <p:sp>
        <p:nvSpPr>
          <p:cNvPr id="72" name="rPh3"/>
          <p:cNvSpPr txBox="1"/>
          <p:nvPr/>
        </p:nvSpPr>
        <p:spPr>
          <a:xfrm>
            <a:off x="9454896" y="1947672"/>
            <a:ext cx="2011680" cy="310896"/>
          </a:xfrm>
          <a:prstGeom prst="rect">
            <a:avLst/>
          </a:prstGeom>
          <a:noFill/>
          <a:ln/>
        </p:spPr>
        <p:txBody>
          <a:bodyPr wrap="square" lIns="0" tIns="0" rIns="0" bIns="0" rtlCol="0" anchor="t"/>
          <a:lstStyle/>
          <a:p>
            <a:pPr indent="0" marL="0">
              <a:buNone/>
            </a:pPr>
            <a:r>
              <a:rPr lang="en-US" sz="1500" b="1" dirty="0">
                <a:solidFill>
                  <a:srgbClr val="16182B"/>
                </a:solidFill>
                <a:latin typeface="Calibri" pitchFamily="34" charset="0"/>
                <a:ea typeface="Calibri" pitchFamily="34" charset="-122"/>
                <a:cs typeface="Calibri" pitchFamily="34" charset="-120"/>
              </a:rPr>
              <a:t>Response time</a:t>
            </a:r>
            <a:endParaRPr lang="en-US" sz="1500" dirty="0"/>
          </a:p>
        </p:txBody>
      </p:sp>
      <p:sp>
        <p:nvSpPr>
          <p:cNvPr id="73" name="rPs3"/>
          <p:cNvSpPr txBox="1"/>
          <p:nvPr/>
        </p:nvSpPr>
        <p:spPr>
          <a:xfrm>
            <a:off x="9226296" y="2258568"/>
            <a:ext cx="2240280" cy="256032"/>
          </a:xfrm>
          <a:prstGeom prst="rect">
            <a:avLst/>
          </a:prstGeom>
          <a:noFill/>
          <a:ln/>
        </p:spPr>
        <p:txBody>
          <a:bodyPr wrap="square" lIns="0" tIns="0" rIns="0" bIns="0" rtlCol="0" anchor="t"/>
          <a:lstStyle/>
          <a:p>
            <a:pPr indent="0" marL="0">
              <a:buNone/>
            </a:pPr>
            <a:r>
              <a:rPr lang="en-US" sz="1100" dirty="0">
                <a:solidFill>
                  <a:srgbClr val="565B75"/>
                </a:solidFill>
                <a:latin typeface="Calibri" pitchFamily="34" charset="0"/>
                <a:ea typeface="Calibri" pitchFamily="34" charset="-122"/>
                <a:cs typeface="Calibri" pitchFamily="34" charset="-120"/>
              </a:rPr>
              <a:t>median seconds per answer</a:t>
            </a:r>
            <a:endParaRPr lang="en-US" sz="1100" dirty="0"/>
          </a:p>
        </p:txBody>
      </p:sp>
      <p:sp>
        <p:nvSpPr>
          <p:cNvPr id="74" name="rPax3"/>
          <p:cNvSpPr/>
          <p:nvPr/>
        </p:nvSpPr>
        <p:spPr>
          <a:xfrm>
            <a:off x="9226296" y="4572000"/>
            <a:ext cx="2148840" cy="0"/>
          </a:xfrm>
          <a:prstGeom prst="line">
            <a:avLst/>
          </a:prstGeom>
          <a:noFill/>
          <a:ln w="12700">
            <a:solidFill>
              <a:srgbClr val="D9DCE8"/>
            </a:solidFill>
            <a:prstDash val="solid"/>
          </a:ln>
        </p:spPr>
      </p:sp>
      <p:sp>
        <p:nvSpPr>
          <p:cNvPr id="75" name="!!bar_lat_1"/>
          <p:cNvSpPr/>
          <p:nvPr/>
        </p:nvSpPr>
        <p:spPr>
          <a:xfrm>
            <a:off x="9328023" y="4345063"/>
            <a:ext cx="402336" cy="226937"/>
          </a:xfrm>
          <a:prstGeom prst="rect">
            <a:avLst/>
          </a:prstGeom>
          <a:solidFill>
            <a:srgbClr val="7656E0">
              <a:alpha val="55000"/>
            </a:srgbClr>
          </a:solidFill>
          <a:ln/>
        </p:spPr>
      </p:sp>
      <p:sp>
        <p:nvSpPr>
          <p:cNvPr id="76" name="rV30"/>
          <p:cNvSpPr txBox="1"/>
          <p:nvPr/>
        </p:nvSpPr>
        <p:spPr>
          <a:xfrm>
            <a:off x="9190863" y="4070743"/>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7.0s</a:t>
            </a:r>
            <a:endParaRPr lang="en-US" sz="1200" dirty="0"/>
          </a:p>
        </p:txBody>
      </p:sp>
      <p:sp>
        <p:nvSpPr>
          <p:cNvPr id="77" name="rX30"/>
          <p:cNvSpPr txBox="1"/>
          <p:nvPr/>
        </p:nvSpPr>
        <p:spPr>
          <a:xfrm>
            <a:off x="9236583"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a:t>
            </a:r>
            <a:endParaRPr lang="en-US" sz="1100" dirty="0"/>
          </a:p>
        </p:txBody>
      </p:sp>
      <p:sp>
        <p:nvSpPr>
          <p:cNvPr id="78" name="!!bar_lat_3"/>
          <p:cNvSpPr/>
          <p:nvPr/>
        </p:nvSpPr>
        <p:spPr>
          <a:xfrm>
            <a:off x="9842373" y="4063012"/>
            <a:ext cx="402336" cy="508988"/>
          </a:xfrm>
          <a:prstGeom prst="rect">
            <a:avLst/>
          </a:prstGeom>
          <a:solidFill>
            <a:srgbClr val="7656E0"/>
          </a:solidFill>
          <a:ln/>
        </p:spPr>
      </p:sp>
      <p:sp>
        <p:nvSpPr>
          <p:cNvPr id="79" name="rV31"/>
          <p:cNvSpPr txBox="1"/>
          <p:nvPr/>
        </p:nvSpPr>
        <p:spPr>
          <a:xfrm>
            <a:off x="9705213" y="3788692"/>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15.7s</a:t>
            </a:r>
            <a:endParaRPr lang="en-US" sz="1200" dirty="0"/>
          </a:p>
        </p:txBody>
      </p:sp>
      <p:sp>
        <p:nvSpPr>
          <p:cNvPr id="80" name="rX31"/>
          <p:cNvSpPr txBox="1"/>
          <p:nvPr/>
        </p:nvSpPr>
        <p:spPr>
          <a:xfrm>
            <a:off x="9750933"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K3</a:t>
            </a:r>
            <a:endParaRPr lang="en-US" sz="1100" dirty="0"/>
          </a:p>
        </p:txBody>
      </p:sp>
      <p:sp>
        <p:nvSpPr>
          <p:cNvPr id="81" name="!!bar_lat_5"/>
          <p:cNvSpPr/>
          <p:nvPr/>
        </p:nvSpPr>
        <p:spPr>
          <a:xfrm>
            <a:off x="10356723" y="3690186"/>
            <a:ext cx="402336" cy="881814"/>
          </a:xfrm>
          <a:prstGeom prst="rect">
            <a:avLst/>
          </a:prstGeom>
          <a:solidFill>
            <a:srgbClr val="7656E0"/>
          </a:solidFill>
          <a:ln/>
        </p:spPr>
      </p:sp>
      <p:sp>
        <p:nvSpPr>
          <p:cNvPr id="82" name="rV32"/>
          <p:cNvSpPr txBox="1"/>
          <p:nvPr/>
        </p:nvSpPr>
        <p:spPr>
          <a:xfrm>
            <a:off x="10219563" y="3415866"/>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27.2s</a:t>
            </a:r>
            <a:endParaRPr lang="en-US" sz="1200" dirty="0"/>
          </a:p>
        </p:txBody>
      </p:sp>
      <p:sp>
        <p:nvSpPr>
          <p:cNvPr id="83" name="rX32"/>
          <p:cNvSpPr txBox="1"/>
          <p:nvPr/>
        </p:nvSpPr>
        <p:spPr>
          <a:xfrm>
            <a:off x="10265283"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K5</a:t>
            </a:r>
            <a:endParaRPr lang="en-US" sz="1100" dirty="0"/>
          </a:p>
        </p:txBody>
      </p:sp>
      <p:sp>
        <p:nvSpPr>
          <p:cNvPr id="84" name="!!bar_lat_10"/>
          <p:cNvSpPr/>
          <p:nvPr/>
        </p:nvSpPr>
        <p:spPr>
          <a:xfrm>
            <a:off x="10871073" y="2902389"/>
            <a:ext cx="402336" cy="1669611"/>
          </a:xfrm>
          <a:prstGeom prst="rect">
            <a:avLst/>
          </a:prstGeom>
          <a:solidFill>
            <a:srgbClr val="7656E0"/>
          </a:solidFill>
          <a:ln/>
        </p:spPr>
      </p:sp>
      <p:sp>
        <p:nvSpPr>
          <p:cNvPr id="85" name="rV33"/>
          <p:cNvSpPr txBox="1"/>
          <p:nvPr/>
        </p:nvSpPr>
        <p:spPr>
          <a:xfrm>
            <a:off x="10733913" y="2628069"/>
            <a:ext cx="676656" cy="237744"/>
          </a:xfrm>
          <a:prstGeom prst="rect">
            <a:avLst/>
          </a:prstGeom>
          <a:noFill/>
          <a:ln/>
        </p:spPr>
        <p:txBody>
          <a:bodyPr wrap="square" lIns="0" tIns="0" rIns="0" bIns="0" rtlCol="0" anchor="t"/>
          <a:lstStyle/>
          <a:p>
            <a:pPr algn="ctr" indent="0" marL="0">
              <a:buNone/>
            </a:pPr>
            <a:r>
              <a:rPr lang="en-US" sz="1200" b="1" dirty="0">
                <a:solidFill>
                  <a:srgbClr val="16182B"/>
                </a:solidFill>
                <a:latin typeface="Calibri" pitchFamily="34" charset="0"/>
                <a:ea typeface="Calibri" pitchFamily="34" charset="-122"/>
                <a:cs typeface="Calibri" pitchFamily="34" charset="-120"/>
              </a:rPr>
              <a:t>51.5s</a:t>
            </a:r>
            <a:endParaRPr lang="en-US" sz="1200" dirty="0"/>
          </a:p>
        </p:txBody>
      </p:sp>
      <p:sp>
        <p:nvSpPr>
          <p:cNvPr id="86" name="rX33"/>
          <p:cNvSpPr txBox="1"/>
          <p:nvPr/>
        </p:nvSpPr>
        <p:spPr>
          <a:xfrm>
            <a:off x="10779633" y="4645152"/>
            <a:ext cx="585216" cy="228600"/>
          </a:xfrm>
          <a:prstGeom prst="rect">
            <a:avLst/>
          </a:prstGeom>
          <a:noFill/>
          <a:ln/>
        </p:spPr>
        <p:txBody>
          <a:bodyPr wrap="square" lIns="0" tIns="0" rIns="0" bIns="0" rtlCol="0" anchor="t"/>
          <a:lstStyle/>
          <a:p>
            <a:pPr algn="ctr" indent="0" marL="0">
              <a:buNone/>
            </a:pPr>
            <a:r>
              <a:rPr lang="en-US" sz="1100" dirty="0">
                <a:solidFill>
                  <a:srgbClr val="565B75"/>
                </a:solidFill>
                <a:latin typeface="Consolas" pitchFamily="34" charset="0"/>
                <a:ea typeface="Consolas" pitchFamily="34" charset="-122"/>
                <a:cs typeface="Consolas" pitchFamily="34" charset="-120"/>
              </a:rPr>
              <a:t>K10</a:t>
            </a:r>
            <a:endParaRPr lang="en-US" sz="1100" dirty="0"/>
          </a:p>
        </p:txBody>
      </p:sp>
      <p:sp>
        <p:nvSpPr>
          <p:cNvPr id="87" name="insN0"/>
          <p:cNvSpPr txBox="1"/>
          <p:nvPr/>
        </p:nvSpPr>
        <p:spPr>
          <a:xfrm>
            <a:off x="548640" y="5321808"/>
            <a:ext cx="1371600" cy="548640"/>
          </a:xfrm>
          <a:prstGeom prst="rect">
            <a:avLst/>
          </a:prstGeom>
          <a:noFill/>
          <a:ln/>
        </p:spPr>
        <p:txBody>
          <a:bodyPr wrap="square" lIns="0" tIns="0" rIns="0" bIns="0" rtlCol="0" anchor="ctr"/>
          <a:lstStyle/>
          <a:p>
            <a:pPr indent="0" marL="0">
              <a:buNone/>
            </a:pPr>
            <a:r>
              <a:rPr lang="en-US" sz="2600" b="1" dirty="0">
                <a:solidFill>
                  <a:srgbClr val="C97700"/>
                </a:solidFill>
                <a:latin typeface="Cambria" pitchFamily="34" charset="0"/>
                <a:ea typeface="Cambria" pitchFamily="34" charset="-122"/>
                <a:cs typeface="Cambria" pitchFamily="34" charset="-120"/>
              </a:rPr>
              <a:t>+19 pts</a:t>
            </a:r>
            <a:endParaRPr lang="en-US" sz="2600" dirty="0"/>
          </a:p>
        </p:txBody>
      </p:sp>
      <p:sp>
        <p:nvSpPr>
          <p:cNvPr id="88" name="insT0"/>
          <p:cNvSpPr txBox="1"/>
          <p:nvPr/>
        </p:nvSpPr>
        <p:spPr>
          <a:xfrm>
            <a:off x="1965960" y="5321808"/>
            <a:ext cx="2103120" cy="548640"/>
          </a:xfrm>
          <a:prstGeom prst="rect">
            <a:avLst/>
          </a:prstGeom>
          <a:noFill/>
          <a:ln/>
        </p:spPr>
        <p:txBody>
          <a:bodyPr wrap="square" lIns="0" tIns="0" rIns="0" bIns="0" rtlCol="0" anchor="ctr"/>
          <a:lstStyle/>
          <a:p>
            <a:pPr indent="0" marL="0">
              <a:buNone/>
            </a:pPr>
            <a:r>
              <a:rPr lang="en-US" sz="1200" dirty="0">
                <a:solidFill>
                  <a:srgbClr val="565B75"/>
                </a:solidFill>
                <a:latin typeface="Calibri" pitchFamily="34" charset="0"/>
                <a:ea typeface="Calibri" pitchFamily="34" charset="-122"/>
                <a:cs typeface="Calibri" pitchFamily="34" charset="-120"/>
              </a:rPr>
              <a:t>accuracy K1 → K3, significant (Holm p = 0.014)</a:t>
            </a:r>
            <a:endParaRPr lang="en-US" sz="1200" dirty="0"/>
          </a:p>
        </p:txBody>
      </p:sp>
      <p:sp>
        <p:nvSpPr>
          <p:cNvPr id="89" name="insN1"/>
          <p:cNvSpPr txBox="1"/>
          <p:nvPr/>
        </p:nvSpPr>
        <p:spPr>
          <a:xfrm>
            <a:off x="4325112" y="5321808"/>
            <a:ext cx="1371600" cy="548640"/>
          </a:xfrm>
          <a:prstGeom prst="rect">
            <a:avLst/>
          </a:prstGeom>
          <a:noFill/>
          <a:ln/>
        </p:spPr>
        <p:txBody>
          <a:bodyPr wrap="square" lIns="0" tIns="0" rIns="0" bIns="0" rtlCol="0" anchor="ctr"/>
          <a:lstStyle/>
          <a:p>
            <a:pPr indent="0" marL="0">
              <a:buNone/>
            </a:pPr>
            <a:r>
              <a:rPr lang="en-US" sz="2600" b="1" dirty="0">
                <a:solidFill>
                  <a:srgbClr val="565B75"/>
                </a:solidFill>
                <a:latin typeface="Cambria" pitchFamily="34" charset="0"/>
                <a:ea typeface="Cambria" pitchFamily="34" charset="-122"/>
                <a:cs typeface="Cambria" pitchFamily="34" charset="-120"/>
              </a:rPr>
              <a:t>+8 pts</a:t>
            </a:r>
            <a:endParaRPr lang="en-US" sz="2600" dirty="0"/>
          </a:p>
        </p:txBody>
      </p:sp>
      <p:sp>
        <p:nvSpPr>
          <p:cNvPr id="90" name="insT1"/>
          <p:cNvSpPr txBox="1"/>
          <p:nvPr/>
        </p:nvSpPr>
        <p:spPr>
          <a:xfrm>
            <a:off x="5742432" y="5321808"/>
            <a:ext cx="2103120" cy="548640"/>
          </a:xfrm>
          <a:prstGeom prst="rect">
            <a:avLst/>
          </a:prstGeom>
          <a:noFill/>
          <a:ln/>
        </p:spPr>
        <p:txBody>
          <a:bodyPr wrap="square" lIns="0" tIns="0" rIns="0" bIns="0" rtlCol="0" anchor="ctr"/>
          <a:lstStyle/>
          <a:p>
            <a:pPr indent="0" marL="0">
              <a:buNone/>
            </a:pPr>
            <a:r>
              <a:rPr lang="en-US" sz="1200" dirty="0">
                <a:solidFill>
                  <a:srgbClr val="565B75"/>
                </a:solidFill>
                <a:latin typeface="Calibri" pitchFamily="34" charset="0"/>
                <a:ea typeface="Calibri" pitchFamily="34" charset="-122"/>
                <a:cs typeface="Calibri" pitchFamily="34" charset="-120"/>
              </a:rPr>
              <a:t>accuracy K3 → K10, not significant (Holm p = 0.68)</a:t>
            </a:r>
            <a:endParaRPr lang="en-US" sz="1200" dirty="0"/>
          </a:p>
        </p:txBody>
      </p:sp>
      <p:sp>
        <p:nvSpPr>
          <p:cNvPr id="91" name="insN2"/>
          <p:cNvSpPr txBox="1"/>
          <p:nvPr/>
        </p:nvSpPr>
        <p:spPr>
          <a:xfrm>
            <a:off x="8101584" y="5321808"/>
            <a:ext cx="1371600" cy="548640"/>
          </a:xfrm>
          <a:prstGeom prst="rect">
            <a:avLst/>
          </a:prstGeom>
          <a:noFill/>
          <a:ln/>
        </p:spPr>
        <p:txBody>
          <a:bodyPr wrap="square" lIns="0" tIns="0" rIns="0" bIns="0" rtlCol="0" anchor="ctr"/>
          <a:lstStyle/>
          <a:p>
            <a:pPr indent="0" marL="0">
              <a:buNone/>
            </a:pPr>
            <a:r>
              <a:rPr lang="en-US" sz="2600" b="1" dirty="0">
                <a:solidFill>
                  <a:srgbClr val="7656E0"/>
                </a:solidFill>
                <a:latin typeface="Cambria" pitchFamily="34" charset="0"/>
                <a:ea typeface="Cambria" pitchFamily="34" charset="-122"/>
                <a:cs typeface="Cambria" pitchFamily="34" charset="-120"/>
              </a:rPr>
              <a:t>7.4×</a:t>
            </a:r>
            <a:endParaRPr lang="en-US" sz="2600" dirty="0"/>
          </a:p>
        </p:txBody>
      </p:sp>
      <p:sp>
        <p:nvSpPr>
          <p:cNvPr id="92" name="insT2"/>
          <p:cNvSpPr txBox="1"/>
          <p:nvPr/>
        </p:nvSpPr>
        <p:spPr>
          <a:xfrm>
            <a:off x="9518904" y="5321808"/>
            <a:ext cx="2103120" cy="548640"/>
          </a:xfrm>
          <a:prstGeom prst="rect">
            <a:avLst/>
          </a:prstGeom>
          <a:noFill/>
          <a:ln/>
        </p:spPr>
        <p:txBody>
          <a:bodyPr wrap="square" lIns="0" tIns="0" rIns="0" bIns="0" rtlCol="0" anchor="ctr"/>
          <a:lstStyle/>
          <a:p>
            <a:pPr indent="0" marL="0">
              <a:buNone/>
            </a:pPr>
            <a:r>
              <a:rPr lang="en-US" sz="1200" dirty="0">
                <a:solidFill>
                  <a:srgbClr val="565B75"/>
                </a:solidFill>
                <a:latin typeface="Calibri" pitchFamily="34" charset="0"/>
                <a:ea typeface="Calibri" pitchFamily="34" charset="-122"/>
                <a:cs typeface="Calibri" pitchFamily="34" charset="-120"/>
              </a:rPr>
              <a:t>median latency K1 → K10 (every pair p &lt; 0.001)</a:t>
            </a:r>
            <a:endParaRPr lang="en-US" sz="1200" dirty="0"/>
          </a:p>
        </p:txBody>
      </p:sp>
      <p:sp>
        <p:nvSpPr>
          <p:cNvPr id="93" name="!!lensGlow"/>
          <p:cNvSpPr/>
          <p:nvPr/>
        </p:nvSpPr>
        <p:spPr>
          <a:xfrm>
            <a:off x="10587380" y="757580"/>
            <a:ext cx="862279" cy="862279"/>
          </a:xfrm>
          <a:prstGeom prst="ellipse">
            <a:avLst/>
          </a:prstGeom>
          <a:solidFill>
            <a:srgbClr val="C97700">
              <a:alpha val="9000"/>
            </a:srgbClr>
          </a:solidFill>
          <a:ln/>
        </p:spPr>
      </p:sp>
      <p:sp>
        <p:nvSpPr>
          <p:cNvPr id="94" name="!!lensInner"/>
          <p:cNvSpPr/>
          <p:nvPr/>
        </p:nvSpPr>
        <p:spPr>
          <a:xfrm>
            <a:off x="10671505" y="841705"/>
            <a:ext cx="694030" cy="694030"/>
          </a:xfrm>
          <a:prstGeom prst="ellipse">
            <a:avLst/>
          </a:prstGeom>
          <a:ln w="12700">
            <a:solidFill>
              <a:srgbClr val="0E9C86">
                <a:alpha val="45000"/>
              </a:srgbClr>
            </a:solidFill>
            <a:prstDash val="solid"/>
          </a:ln>
        </p:spPr>
      </p:sp>
      <p:sp>
        <p:nvSpPr>
          <p:cNvPr id="95" name="!!lensRing"/>
          <p:cNvSpPr/>
          <p:nvPr/>
        </p:nvSpPr>
        <p:spPr>
          <a:xfrm>
            <a:off x="10492740" y="662940"/>
            <a:ext cx="1051560" cy="1051560"/>
          </a:xfrm>
          <a:prstGeom prst="ellipse">
            <a:avLst/>
          </a:prstGeom>
          <a:ln w="25400">
            <a:solidFill>
              <a:srgbClr val="C97700"/>
            </a:solidFill>
            <a:prstDash val="solid"/>
          </a:ln>
        </p:spPr>
      </p:sp>
      <p:sp>
        <p:nvSpPr>
          <p:cNvPr id="96" name="!!lensGlint"/>
          <p:cNvSpPr/>
          <p:nvPr/>
        </p:nvSpPr>
        <p:spPr>
          <a:xfrm>
            <a:off x="11344583" y="771217"/>
            <a:ext cx="91440" cy="91440"/>
          </a:xfrm>
          <a:prstGeom prst="ellipse">
            <a:avLst/>
          </a:prstGeom>
          <a:solidFill>
            <a:srgbClr val="C97700"/>
          </a:solidFill>
          <a:ln/>
        </p:spPr>
      </p:sp>
      <p:pic>
        <p:nvPicPr>
          <p:cNvPr id="97" name="insIco" descr="preencoded.png">    </p:cNvPr>
          <p:cNvPicPr>
            <a:picLocks noChangeAspect="1"/>
          </p:cNvPicPr>
          <p:nvPr/>
        </p:nvPicPr>
        <p:blipFill>
          <a:blip r:embed="rId1"/>
          <a:stretch>
            <a:fillRect/>
          </a:stretch>
        </p:blipFill>
        <p:spPr>
          <a:xfrm>
            <a:off x="10844784" y="1014984"/>
            <a:ext cx="347472" cy="347472"/>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00"/>
                                        <p:tgtEl>
                                          <p:spTgt spid="23"/>
                                        </p:tgtEl>
                                      </p:cBhvr>
                                    </p:animEffect>
                                    <p:anim calcmode="lin" valueType="num">
                                      <p:cBhvr>
                                        <p:cTn id="7" dur="500" decel="100000" fill="hold"/>
                                        <p:tgtEl>
                                          <p:spTgt spid="23"/>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anim calcmode="lin" valueType="num">
                                      <p:cBhvr>
                                        <p:cTn id="11" dur="500" decel="100000" fill="hold"/>
                                        <p:tgtEl>
                                          <p:spTgt spid="26"/>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500"/>
                                        <p:tgtEl>
                                          <p:spTgt spid="29"/>
                                        </p:tgtEl>
                                      </p:cBhvr>
                                    </p:animEffect>
                                    <p:anim calcmode="lin" valueType="num">
                                      <p:cBhvr>
                                        <p:cTn id="15" dur="500" decel="100000" fill="hold"/>
                                        <p:tgtEl>
                                          <p:spTgt spid="29"/>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500"/>
                                        <p:tgtEl>
                                          <p:spTgt spid="32"/>
                                        </p:tgtEl>
                                      </p:cBhvr>
                                    </p:animEffect>
                                    <p:anim calcmode="lin" valueType="num">
                                      <p:cBhvr>
                                        <p:cTn id="19" dur="500" decel="100000" fill="hold"/>
                                        <p:tgtEl>
                                          <p:spTgt spid="32"/>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14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anim calcmode="lin" valueType="num">
                                      <p:cBhvr>
                                        <p:cTn id="23" dur="500" decel="100000" fill="hold"/>
                                        <p:tgtEl>
                                          <p:spTgt spid="41"/>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140"/>
                                  </p:stCondLst>
                                  <p:childTnLst>
                                    <p:set>
                                      <p:cBhvr>
                                        <p:cTn id="25" dur="1" fill="hold">
                                          <p:stCondLst>
                                            <p:cond delay="0"/>
                                          </p:stCondLst>
                                        </p:cTn>
                                        <p:tgtEl>
                                          <p:spTgt spid="44"/>
                                        </p:tgtEl>
                                        <p:attrNameLst>
                                          <p:attrName>style.visibility</p:attrName>
                                        </p:attrNameLst>
                                      </p:cBhvr>
                                      <p:to>
                                        <p:strVal val="visible"/>
                                      </p:to>
                                    </p:set>
                                    <p:animEffect transition="in" filter="fade">
                                      <p:cBhvr>
                                        <p:cTn id="26" dur="500"/>
                                        <p:tgtEl>
                                          <p:spTgt spid="44"/>
                                        </p:tgtEl>
                                      </p:cBhvr>
                                    </p:animEffect>
                                    <p:anim calcmode="lin" valueType="num">
                                      <p:cBhvr>
                                        <p:cTn id="27" dur="500" decel="100000" fill="hold"/>
                                        <p:tgtEl>
                                          <p:spTgt spid="44"/>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140"/>
                                  </p:stCondLst>
                                  <p:childTnLst>
                                    <p:set>
                                      <p:cBhvr>
                                        <p:cTn id="29" dur="1" fill="hold">
                                          <p:stCondLst>
                                            <p:cond delay="0"/>
                                          </p:stCondLst>
                                        </p:cTn>
                                        <p:tgtEl>
                                          <p:spTgt spid="47"/>
                                        </p:tgtEl>
                                        <p:attrNameLst>
                                          <p:attrName>style.visibility</p:attrName>
                                        </p:attrNameLst>
                                      </p:cBhvr>
                                      <p:to>
                                        <p:strVal val="visible"/>
                                      </p:to>
                                    </p:set>
                                    <p:animEffect transition="in" filter="fade">
                                      <p:cBhvr>
                                        <p:cTn id="30" dur="500"/>
                                        <p:tgtEl>
                                          <p:spTgt spid="47"/>
                                        </p:tgtEl>
                                      </p:cBhvr>
                                    </p:animEffect>
                                    <p:anim calcmode="lin" valueType="num">
                                      <p:cBhvr>
                                        <p:cTn id="31" dur="500" decel="100000" fill="hold"/>
                                        <p:tgtEl>
                                          <p:spTgt spid="47"/>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14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500"/>
                                        <p:tgtEl>
                                          <p:spTgt spid="50"/>
                                        </p:tgtEl>
                                      </p:cBhvr>
                                    </p:animEffect>
                                    <p:anim calcmode="lin" valueType="num">
                                      <p:cBhvr>
                                        <p:cTn id="35" dur="500" decel="100000" fill="hold"/>
                                        <p:tgtEl>
                                          <p:spTgt spid="50"/>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28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500"/>
                                        <p:tgtEl>
                                          <p:spTgt spid="59"/>
                                        </p:tgtEl>
                                      </p:cBhvr>
                                    </p:animEffect>
                                    <p:anim calcmode="lin" valueType="num">
                                      <p:cBhvr>
                                        <p:cTn id="39" dur="500" decel="100000" fill="hold"/>
                                        <p:tgtEl>
                                          <p:spTgt spid="59"/>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280"/>
                                  </p:stCondLst>
                                  <p:childTnLst>
                                    <p:set>
                                      <p:cBhvr>
                                        <p:cTn id="41" dur="1" fill="hold">
                                          <p:stCondLst>
                                            <p:cond delay="0"/>
                                          </p:stCondLst>
                                        </p:cTn>
                                        <p:tgtEl>
                                          <p:spTgt spid="62"/>
                                        </p:tgtEl>
                                        <p:attrNameLst>
                                          <p:attrName>style.visibility</p:attrName>
                                        </p:attrNameLst>
                                      </p:cBhvr>
                                      <p:to>
                                        <p:strVal val="visible"/>
                                      </p:to>
                                    </p:set>
                                    <p:animEffect transition="in" filter="fade">
                                      <p:cBhvr>
                                        <p:cTn id="42" dur="500"/>
                                        <p:tgtEl>
                                          <p:spTgt spid="62"/>
                                        </p:tgtEl>
                                      </p:cBhvr>
                                    </p:animEffect>
                                    <p:anim calcmode="lin" valueType="num">
                                      <p:cBhvr>
                                        <p:cTn id="43" dur="500" decel="100000" fill="hold"/>
                                        <p:tgtEl>
                                          <p:spTgt spid="62"/>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280"/>
                                  </p:stCondLst>
                                  <p:childTnLst>
                                    <p:set>
                                      <p:cBhvr>
                                        <p:cTn id="45" dur="1" fill="hold">
                                          <p:stCondLst>
                                            <p:cond delay="0"/>
                                          </p:stCondLst>
                                        </p:cTn>
                                        <p:tgtEl>
                                          <p:spTgt spid="65"/>
                                        </p:tgtEl>
                                        <p:attrNameLst>
                                          <p:attrName>style.visibility</p:attrName>
                                        </p:attrNameLst>
                                      </p:cBhvr>
                                      <p:to>
                                        <p:strVal val="visible"/>
                                      </p:to>
                                    </p:set>
                                    <p:animEffect transition="in" filter="fade">
                                      <p:cBhvr>
                                        <p:cTn id="46" dur="500"/>
                                        <p:tgtEl>
                                          <p:spTgt spid="65"/>
                                        </p:tgtEl>
                                      </p:cBhvr>
                                    </p:animEffect>
                                    <p:anim calcmode="lin" valueType="num">
                                      <p:cBhvr>
                                        <p:cTn id="47" dur="500" decel="100000" fill="hold"/>
                                        <p:tgtEl>
                                          <p:spTgt spid="65"/>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280"/>
                                  </p:stCondLst>
                                  <p:childTnLst>
                                    <p:set>
                                      <p:cBhvr>
                                        <p:cTn id="49" dur="1" fill="hold">
                                          <p:stCondLst>
                                            <p:cond delay="0"/>
                                          </p:stCondLst>
                                        </p:cTn>
                                        <p:tgtEl>
                                          <p:spTgt spid="68"/>
                                        </p:tgtEl>
                                        <p:attrNameLst>
                                          <p:attrName>style.visibility</p:attrName>
                                        </p:attrNameLst>
                                      </p:cBhvr>
                                      <p:to>
                                        <p:strVal val="visible"/>
                                      </p:to>
                                    </p:set>
                                    <p:animEffect transition="in" filter="fade">
                                      <p:cBhvr>
                                        <p:cTn id="50" dur="500"/>
                                        <p:tgtEl>
                                          <p:spTgt spid="68"/>
                                        </p:tgtEl>
                                      </p:cBhvr>
                                    </p:animEffect>
                                    <p:anim calcmode="lin" valueType="num">
                                      <p:cBhvr>
                                        <p:cTn id="51" dur="500" decel="100000" fill="hold"/>
                                        <p:tgtEl>
                                          <p:spTgt spid="68"/>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420"/>
                                  </p:stCondLst>
                                  <p:childTnLst>
                                    <p:set>
                                      <p:cBhvr>
                                        <p:cTn id="53" dur="1" fill="hold">
                                          <p:stCondLst>
                                            <p:cond delay="0"/>
                                          </p:stCondLst>
                                        </p:cTn>
                                        <p:tgtEl>
                                          <p:spTgt spid="76"/>
                                        </p:tgtEl>
                                        <p:attrNameLst>
                                          <p:attrName>style.visibility</p:attrName>
                                        </p:attrNameLst>
                                      </p:cBhvr>
                                      <p:to>
                                        <p:strVal val="visible"/>
                                      </p:to>
                                    </p:set>
                                    <p:animEffect transition="in" filter="fade">
                                      <p:cBhvr>
                                        <p:cTn id="54" dur="500"/>
                                        <p:tgtEl>
                                          <p:spTgt spid="76"/>
                                        </p:tgtEl>
                                      </p:cBhvr>
                                    </p:animEffect>
                                    <p:anim calcmode="lin" valueType="num">
                                      <p:cBhvr>
                                        <p:cTn id="55" dur="500" decel="100000" fill="hold"/>
                                        <p:tgtEl>
                                          <p:spTgt spid="76"/>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420"/>
                                  </p:stCondLst>
                                  <p:childTnLst>
                                    <p:set>
                                      <p:cBhvr>
                                        <p:cTn id="57" dur="1" fill="hold">
                                          <p:stCondLst>
                                            <p:cond delay="0"/>
                                          </p:stCondLst>
                                        </p:cTn>
                                        <p:tgtEl>
                                          <p:spTgt spid="79"/>
                                        </p:tgtEl>
                                        <p:attrNameLst>
                                          <p:attrName>style.visibility</p:attrName>
                                        </p:attrNameLst>
                                      </p:cBhvr>
                                      <p:to>
                                        <p:strVal val="visible"/>
                                      </p:to>
                                    </p:set>
                                    <p:animEffect transition="in" filter="fade">
                                      <p:cBhvr>
                                        <p:cTn id="58" dur="500"/>
                                        <p:tgtEl>
                                          <p:spTgt spid="79"/>
                                        </p:tgtEl>
                                      </p:cBhvr>
                                    </p:animEffect>
                                    <p:anim calcmode="lin" valueType="num">
                                      <p:cBhvr>
                                        <p:cTn id="59" dur="500" decel="100000" fill="hold"/>
                                        <p:tgtEl>
                                          <p:spTgt spid="79"/>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82"/>
                                        </p:tgtEl>
                                        <p:attrNameLst>
                                          <p:attrName>style.visibility</p:attrName>
                                        </p:attrNameLst>
                                      </p:cBhvr>
                                      <p:to>
                                        <p:strVal val="visible"/>
                                      </p:to>
                                    </p:set>
                                    <p:animEffect transition="in" filter="fade">
                                      <p:cBhvr>
                                        <p:cTn id="62" dur="500"/>
                                        <p:tgtEl>
                                          <p:spTgt spid="82"/>
                                        </p:tgtEl>
                                      </p:cBhvr>
                                    </p:animEffect>
                                    <p:anim calcmode="lin" valueType="num">
                                      <p:cBhvr>
                                        <p:cTn id="63" dur="500" decel="100000" fill="hold"/>
                                        <p:tgtEl>
                                          <p:spTgt spid="82"/>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420"/>
                                  </p:stCondLst>
                                  <p:childTnLst>
                                    <p:set>
                                      <p:cBhvr>
                                        <p:cTn id="65" dur="1" fill="hold">
                                          <p:stCondLst>
                                            <p:cond delay="0"/>
                                          </p:stCondLst>
                                        </p:cTn>
                                        <p:tgtEl>
                                          <p:spTgt spid="85"/>
                                        </p:tgtEl>
                                        <p:attrNameLst>
                                          <p:attrName>style.visibility</p:attrName>
                                        </p:attrNameLst>
                                      </p:cBhvr>
                                      <p:to>
                                        <p:strVal val="visible"/>
                                      </p:to>
                                    </p:set>
                                    <p:animEffect transition="in" filter="fade">
                                      <p:cBhvr>
                                        <p:cTn id="66" dur="500"/>
                                        <p:tgtEl>
                                          <p:spTgt spid="85"/>
                                        </p:tgtEl>
                                      </p:cBhvr>
                                    </p:animEffect>
                                    <p:anim calcmode="lin" valueType="num">
                                      <p:cBhvr>
                                        <p:cTn id="67" dur="500" decel="100000" fill="hold"/>
                                        <p:tgtEl>
                                          <p:spTgt spid="85"/>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56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500"/>
                                        <p:tgtEl>
                                          <p:spTgt spid="34"/>
                                        </p:tgtEl>
                                      </p:cBhvr>
                                    </p:animEffect>
                                    <p:anim calcmode="lin" valueType="num">
                                      <p:cBhvr>
                                        <p:cTn id="71" dur="500" decel="100000" fill="hold"/>
                                        <p:tgtEl>
                                          <p:spTgt spid="34"/>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700"/>
                                  </p:stCondLst>
                                  <p:childTnLst>
                                    <p:set>
                                      <p:cBhvr>
                                        <p:cTn id="73" dur="1" fill="hold">
                                          <p:stCondLst>
                                            <p:cond delay="0"/>
                                          </p:stCondLst>
                                        </p:cTn>
                                        <p:tgtEl>
                                          <p:spTgt spid="52"/>
                                        </p:tgtEl>
                                        <p:attrNameLst>
                                          <p:attrName>style.visibility</p:attrName>
                                        </p:attrNameLst>
                                      </p:cBhvr>
                                      <p:to>
                                        <p:strVal val="visible"/>
                                      </p:to>
                                    </p:set>
                                    <p:animEffect transition="in" filter="fade">
                                      <p:cBhvr>
                                        <p:cTn id="74" dur="500"/>
                                        <p:tgtEl>
                                          <p:spTgt spid="52"/>
                                        </p:tgtEl>
                                      </p:cBhvr>
                                    </p:animEffect>
                                    <p:anim calcmode="lin" valueType="num">
                                      <p:cBhvr>
                                        <p:cTn id="75" dur="500" decel="100000" fill="hold"/>
                                        <p:tgtEl>
                                          <p:spTgt spid="52"/>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840"/>
                                  </p:stCondLst>
                                  <p:childTnLst>
                                    <p:set>
                                      <p:cBhvr>
                                        <p:cTn id="77" dur="1" fill="hold">
                                          <p:stCondLst>
                                            <p:cond delay="0"/>
                                          </p:stCondLst>
                                        </p:cTn>
                                        <p:tgtEl>
                                          <p:spTgt spid="97"/>
                                        </p:tgtEl>
                                        <p:attrNameLst>
                                          <p:attrName>style.visibility</p:attrName>
                                        </p:attrNameLst>
                                      </p:cBhvr>
                                      <p:to>
                                        <p:strVal val="visible"/>
                                      </p:to>
                                    </p:set>
                                    <p:animEffect transition="in" filter="fade">
                                      <p:cBhvr>
                                        <p:cTn id="78" dur="500"/>
                                        <p:tgtEl>
                                          <p:spTgt spid="97"/>
                                        </p:tgtEl>
                                      </p:cBhvr>
                                    </p:animEffect>
                                    <p:anim calcmode="lin" valueType="num">
                                      <p:cBhvr>
                                        <p:cTn id="79" dur="500" decel="100000" fill="hold"/>
                                        <p:tgtEl>
                                          <p:spTgt spid="97"/>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980"/>
                                  </p:stCondLst>
                                  <p:childTnLst>
                                    <p:set>
                                      <p:cBhvr>
                                        <p:cTn id="81" dur="1" fill="hold">
                                          <p:stCondLst>
                                            <p:cond delay="0"/>
                                          </p:stCondLst>
                                        </p:cTn>
                                        <p:tgtEl>
                                          <p:spTgt spid="87"/>
                                        </p:tgtEl>
                                        <p:attrNameLst>
                                          <p:attrName>style.visibility</p:attrName>
                                        </p:attrNameLst>
                                      </p:cBhvr>
                                      <p:to>
                                        <p:strVal val="visible"/>
                                      </p:to>
                                    </p:set>
                                    <p:animEffect transition="in" filter="fade">
                                      <p:cBhvr>
                                        <p:cTn id="82" dur="500"/>
                                        <p:tgtEl>
                                          <p:spTgt spid="87"/>
                                        </p:tgtEl>
                                      </p:cBhvr>
                                    </p:animEffect>
                                    <p:anim calcmode="lin" valueType="num">
                                      <p:cBhvr>
                                        <p:cTn id="83" dur="500" decel="100000" fill="hold"/>
                                        <p:tgtEl>
                                          <p:spTgt spid="87"/>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980"/>
                                  </p:stCondLst>
                                  <p:childTnLst>
                                    <p:set>
                                      <p:cBhvr>
                                        <p:cTn id="85" dur="1" fill="hold">
                                          <p:stCondLst>
                                            <p:cond delay="0"/>
                                          </p:stCondLst>
                                        </p:cTn>
                                        <p:tgtEl>
                                          <p:spTgt spid="88"/>
                                        </p:tgtEl>
                                        <p:attrNameLst>
                                          <p:attrName>style.visibility</p:attrName>
                                        </p:attrNameLst>
                                      </p:cBhvr>
                                      <p:to>
                                        <p:strVal val="visible"/>
                                      </p:to>
                                    </p:set>
                                    <p:animEffect transition="in" filter="fade">
                                      <p:cBhvr>
                                        <p:cTn id="86" dur="500"/>
                                        <p:tgtEl>
                                          <p:spTgt spid="88"/>
                                        </p:tgtEl>
                                      </p:cBhvr>
                                    </p:animEffect>
                                    <p:anim calcmode="lin" valueType="num">
                                      <p:cBhvr>
                                        <p:cTn id="87" dur="500" decel="100000" fill="hold"/>
                                        <p:tgtEl>
                                          <p:spTgt spid="88"/>
                                        </p:tgtEl>
                                        <p:attrNameLst>
                                          <p:attrName>ppt_y</p:attrName>
                                        </p:attrNameLst>
                                      </p:cBhvr>
                                      <p:tavLst>
                                        <p:tav tm="0">
                                          <p:val>
                                            <p:strVal val="#ppt_y+0.04"/>
                                          </p:val>
                                        </p:tav>
                                        <p:tav tm="100000">
                                          <p:val>
                                            <p:strVal val="#ppt_y"/>
                                          </p:val>
                                        </p:tav>
                                      </p:tavLst>
                                    </p:anim>
                                  </p:childTnLst>
                                </p:cTn>
                              </p:par>
                              <p:par>
                                <p:cTn id="88" presetID="42" presetClass="entr" presetSubtype="0" fill="hold" grpId="0" nodeType="withEffect">
                                  <p:stCondLst>
                                    <p:cond delay="1120"/>
                                  </p:stCondLst>
                                  <p:childTnLst>
                                    <p:set>
                                      <p:cBhvr>
                                        <p:cTn id="89" dur="1" fill="hold">
                                          <p:stCondLst>
                                            <p:cond delay="0"/>
                                          </p:stCondLst>
                                        </p:cTn>
                                        <p:tgtEl>
                                          <p:spTgt spid="89"/>
                                        </p:tgtEl>
                                        <p:attrNameLst>
                                          <p:attrName>style.visibility</p:attrName>
                                        </p:attrNameLst>
                                      </p:cBhvr>
                                      <p:to>
                                        <p:strVal val="visible"/>
                                      </p:to>
                                    </p:set>
                                    <p:animEffect transition="in" filter="fade">
                                      <p:cBhvr>
                                        <p:cTn id="90" dur="500"/>
                                        <p:tgtEl>
                                          <p:spTgt spid="89"/>
                                        </p:tgtEl>
                                      </p:cBhvr>
                                    </p:animEffect>
                                    <p:anim calcmode="lin" valueType="num">
                                      <p:cBhvr>
                                        <p:cTn id="91" dur="500" decel="100000" fill="hold"/>
                                        <p:tgtEl>
                                          <p:spTgt spid="89"/>
                                        </p:tgtEl>
                                        <p:attrNameLst>
                                          <p:attrName>ppt_y</p:attrName>
                                        </p:attrNameLst>
                                      </p:cBhvr>
                                      <p:tavLst>
                                        <p:tav tm="0">
                                          <p:val>
                                            <p:strVal val="#ppt_y+0.04"/>
                                          </p:val>
                                        </p:tav>
                                        <p:tav tm="100000">
                                          <p:val>
                                            <p:strVal val="#ppt_y"/>
                                          </p:val>
                                        </p:tav>
                                      </p:tavLst>
                                    </p:anim>
                                  </p:childTnLst>
                                </p:cTn>
                              </p:par>
                              <p:par>
                                <p:cTn id="92" presetID="42" presetClass="entr" presetSubtype="0" fill="hold" grpId="0" nodeType="withEffect">
                                  <p:stCondLst>
                                    <p:cond delay="1120"/>
                                  </p:stCondLst>
                                  <p:childTnLst>
                                    <p:set>
                                      <p:cBhvr>
                                        <p:cTn id="93" dur="1" fill="hold">
                                          <p:stCondLst>
                                            <p:cond delay="0"/>
                                          </p:stCondLst>
                                        </p:cTn>
                                        <p:tgtEl>
                                          <p:spTgt spid="90"/>
                                        </p:tgtEl>
                                        <p:attrNameLst>
                                          <p:attrName>style.visibility</p:attrName>
                                        </p:attrNameLst>
                                      </p:cBhvr>
                                      <p:to>
                                        <p:strVal val="visible"/>
                                      </p:to>
                                    </p:set>
                                    <p:animEffect transition="in" filter="fade">
                                      <p:cBhvr>
                                        <p:cTn id="94" dur="500"/>
                                        <p:tgtEl>
                                          <p:spTgt spid="90"/>
                                        </p:tgtEl>
                                      </p:cBhvr>
                                    </p:animEffect>
                                    <p:anim calcmode="lin" valueType="num">
                                      <p:cBhvr>
                                        <p:cTn id="95" dur="500" decel="100000" fill="hold"/>
                                        <p:tgtEl>
                                          <p:spTgt spid="90"/>
                                        </p:tgtEl>
                                        <p:attrNameLst>
                                          <p:attrName>ppt_y</p:attrName>
                                        </p:attrNameLst>
                                      </p:cBhvr>
                                      <p:tavLst>
                                        <p:tav tm="0">
                                          <p:val>
                                            <p:strVal val="#ppt_y+0.04"/>
                                          </p:val>
                                        </p:tav>
                                        <p:tav tm="100000">
                                          <p:val>
                                            <p:strVal val="#ppt_y"/>
                                          </p:val>
                                        </p:tav>
                                      </p:tavLst>
                                    </p:anim>
                                  </p:childTnLst>
                                </p:cTn>
                              </p:par>
                              <p:par>
                                <p:cTn id="96" presetID="42" presetClass="entr" presetSubtype="0" fill="hold" grpId="0" nodeType="withEffect">
                                  <p:stCondLst>
                                    <p:cond delay="1260"/>
                                  </p:stCondLst>
                                  <p:childTnLst>
                                    <p:set>
                                      <p:cBhvr>
                                        <p:cTn id="97" dur="1" fill="hold">
                                          <p:stCondLst>
                                            <p:cond delay="0"/>
                                          </p:stCondLst>
                                        </p:cTn>
                                        <p:tgtEl>
                                          <p:spTgt spid="91"/>
                                        </p:tgtEl>
                                        <p:attrNameLst>
                                          <p:attrName>style.visibility</p:attrName>
                                        </p:attrNameLst>
                                      </p:cBhvr>
                                      <p:to>
                                        <p:strVal val="visible"/>
                                      </p:to>
                                    </p:set>
                                    <p:animEffect transition="in" filter="fade">
                                      <p:cBhvr>
                                        <p:cTn id="98" dur="500"/>
                                        <p:tgtEl>
                                          <p:spTgt spid="91"/>
                                        </p:tgtEl>
                                      </p:cBhvr>
                                    </p:animEffect>
                                    <p:anim calcmode="lin" valueType="num">
                                      <p:cBhvr>
                                        <p:cTn id="99" dur="500" decel="100000" fill="hold"/>
                                        <p:tgtEl>
                                          <p:spTgt spid="91"/>
                                        </p:tgtEl>
                                        <p:attrNameLst>
                                          <p:attrName>ppt_y</p:attrName>
                                        </p:attrNameLst>
                                      </p:cBhvr>
                                      <p:tavLst>
                                        <p:tav tm="0">
                                          <p:val>
                                            <p:strVal val="#ppt_y+0.04"/>
                                          </p:val>
                                        </p:tav>
                                        <p:tav tm="100000">
                                          <p:val>
                                            <p:strVal val="#ppt_y"/>
                                          </p:val>
                                        </p:tav>
                                      </p:tavLst>
                                    </p:anim>
                                  </p:childTnLst>
                                </p:cTn>
                              </p:par>
                              <p:par>
                                <p:cTn id="100" presetID="42" presetClass="entr" presetSubtype="0" fill="hold" grpId="0" nodeType="withEffect">
                                  <p:stCondLst>
                                    <p:cond delay="1260"/>
                                  </p:stCondLst>
                                  <p:childTnLst>
                                    <p:set>
                                      <p:cBhvr>
                                        <p:cTn id="101" dur="1" fill="hold">
                                          <p:stCondLst>
                                            <p:cond delay="0"/>
                                          </p:stCondLst>
                                        </p:cTn>
                                        <p:tgtEl>
                                          <p:spTgt spid="92"/>
                                        </p:tgtEl>
                                        <p:attrNameLst>
                                          <p:attrName>style.visibility</p:attrName>
                                        </p:attrNameLst>
                                      </p:cBhvr>
                                      <p:to>
                                        <p:strVal val="visible"/>
                                      </p:to>
                                    </p:set>
                                    <p:animEffect transition="in" filter="fade">
                                      <p:cBhvr>
                                        <p:cTn id="102" dur="500"/>
                                        <p:tgtEl>
                                          <p:spTgt spid="92"/>
                                        </p:tgtEl>
                                      </p:cBhvr>
                                    </p:animEffect>
                                    <p:anim calcmode="lin" valueType="num">
                                      <p:cBhvr>
                                        <p:cTn id="103" dur="500" decel="100000" fill="hold"/>
                                        <p:tgtEl>
                                          <p:spTgt spid="9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9" grpId="0" animBg="1"/>
      <p:bldP spid="32" grpId="0" animBg="1"/>
      <p:bldP spid="41" grpId="0" animBg="1"/>
      <p:bldP spid="44" grpId="0" animBg="1"/>
      <p:bldP spid="47" grpId="0" animBg="1"/>
      <p:bldP spid="50" grpId="0" animBg="1"/>
      <p:bldP spid="59" grpId="0" animBg="1"/>
      <p:bldP spid="62" grpId="0" animBg="1"/>
      <p:bldP spid="65" grpId="0" animBg="1"/>
      <p:bldP spid="68" grpId="0" animBg="1"/>
      <p:bldP spid="76" grpId="0" animBg="1"/>
      <p:bldP spid="79" grpId="0" animBg="1"/>
      <p:bldP spid="82" grpId="0" animBg="1"/>
      <p:bldP spid="85" grpId="0" animBg="1"/>
      <p:bldP spid="34" grpId="0" animBg="1"/>
      <p:bldP spid="52" grpId="0" animBg="1"/>
      <p:bldP spid="87" grpId="0" animBg="1"/>
      <p:bldP spid="88" grpId="0" animBg="1"/>
      <p:bldP spid="89" grpId="0" animBg="1"/>
      <p:bldP spid="90" grpId="0" animBg="1"/>
      <p:bldP spid="91" grpId="0" animBg="1"/>
      <p:bldP spid="9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08  ·  INTERESTING &amp; FAILURE CASES</a:t>
            </a:r>
            <a:endParaRPr lang="en-US" sz="1200" dirty="0"/>
          </a:p>
        </p:txBody>
      </p:sp>
      <p:sp>
        <p:nvSpPr>
          <p:cNvPr id="3" name="!!title"/>
          <p:cNvSpPr txBox="1"/>
          <p:nvPr/>
        </p:nvSpPr>
        <p:spPr>
          <a:xfrm>
            <a:off x="548640" y="804672"/>
            <a:ext cx="987552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Where more context helped, and where it didn't</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08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91440" cy="91440"/>
          </a:xfrm>
          <a:prstGeom prst="roundRect">
            <a:avLst>
              <a:gd name="adj" fmla="val 50000"/>
            </a:avLst>
          </a:prstGeom>
          <a:solidFill>
            <a:srgbClr val="C97700">
              <a:alpha val="45000"/>
            </a:srgbClr>
          </a:solidFill>
          <a:ln/>
        </p:spPr>
      </p:sp>
      <p:sp>
        <p:nvSpPr>
          <p:cNvPr id="10" name="!!dot5"/>
          <p:cNvSpPr/>
          <p:nvPr/>
        </p:nvSpPr>
        <p:spPr>
          <a:xfrm>
            <a:off x="10378440" y="6451092"/>
            <a:ext cx="91440" cy="91440"/>
          </a:xfrm>
          <a:prstGeom prst="roundRect">
            <a:avLst>
              <a:gd name="adj" fmla="val 50000"/>
            </a:avLst>
          </a:prstGeom>
          <a:solidFill>
            <a:srgbClr val="C97700">
              <a:alpha val="45000"/>
            </a:srgbClr>
          </a:solidFill>
          <a:ln/>
        </p:spPr>
      </p:sp>
      <p:sp>
        <p:nvSpPr>
          <p:cNvPr id="11" name="!!dot6"/>
          <p:cNvSpPr/>
          <p:nvPr/>
        </p:nvSpPr>
        <p:spPr>
          <a:xfrm>
            <a:off x="10561320" y="6451092"/>
            <a:ext cx="91440" cy="91440"/>
          </a:xfrm>
          <a:prstGeom prst="roundRect">
            <a:avLst>
              <a:gd name="adj" fmla="val 50000"/>
            </a:avLst>
          </a:prstGeom>
          <a:solidFill>
            <a:srgbClr val="C97700">
              <a:alpha val="45000"/>
            </a:srgbClr>
          </a:solidFill>
          <a:ln/>
        </p:spPr>
      </p:sp>
      <p:sp>
        <p:nvSpPr>
          <p:cNvPr id="12" name="!!dot7"/>
          <p:cNvSpPr/>
          <p:nvPr/>
        </p:nvSpPr>
        <p:spPr>
          <a:xfrm>
            <a:off x="10744200" y="6451092"/>
            <a:ext cx="91440" cy="91440"/>
          </a:xfrm>
          <a:prstGeom prst="roundRect">
            <a:avLst>
              <a:gd name="adj" fmla="val 50000"/>
            </a:avLst>
          </a:prstGeom>
          <a:solidFill>
            <a:srgbClr val="C97700">
              <a:alpha val="45000"/>
            </a:srgbClr>
          </a:solidFill>
          <a:ln/>
        </p:spPr>
      </p:sp>
      <p:sp>
        <p:nvSpPr>
          <p:cNvPr id="13" name="!!dot8"/>
          <p:cNvSpPr/>
          <p:nvPr/>
        </p:nvSpPr>
        <p:spPr>
          <a:xfrm>
            <a:off x="10927080" y="6451092"/>
            <a:ext cx="365760" cy="91440"/>
          </a:xfrm>
          <a:prstGeom prst="roundRect">
            <a:avLst>
              <a:gd name="adj" fmla="val 50000"/>
            </a:avLst>
          </a:prstGeom>
          <a:solidFill>
            <a:srgbClr val="C97700"/>
          </a:solidFill>
          <a:ln/>
        </p:spPr>
      </p:sp>
      <p:sp>
        <p:nvSpPr>
          <p:cNvPr id="14" name="!!dot9"/>
          <p:cNvSpPr/>
          <p:nvPr/>
        </p:nvSpPr>
        <p:spPr>
          <a:xfrm>
            <a:off x="11384280" y="6451092"/>
            <a:ext cx="91440" cy="91440"/>
          </a:xfrm>
          <a:prstGeom prst="roundRect">
            <a:avLst>
              <a:gd name="adj" fmla="val 50000"/>
            </a:avLst>
          </a:prstGeom>
          <a:solidFill>
            <a:srgbClr val="D9DCE8"/>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lensGlow"/>
          <p:cNvSpPr/>
          <p:nvPr/>
        </p:nvSpPr>
        <p:spPr>
          <a:xfrm>
            <a:off x="10780776" y="813816"/>
            <a:ext cx="749808" cy="749808"/>
          </a:xfrm>
          <a:prstGeom prst="ellipse">
            <a:avLst/>
          </a:prstGeom>
          <a:solidFill>
            <a:srgbClr val="C97700">
              <a:alpha val="9000"/>
            </a:srgbClr>
          </a:solidFill>
          <a:ln/>
        </p:spPr>
      </p:sp>
      <p:sp>
        <p:nvSpPr>
          <p:cNvPr id="18" name="!!lensInner"/>
          <p:cNvSpPr/>
          <p:nvPr/>
        </p:nvSpPr>
        <p:spPr>
          <a:xfrm>
            <a:off x="10853928" y="886968"/>
            <a:ext cx="603504" cy="603504"/>
          </a:xfrm>
          <a:prstGeom prst="ellipse">
            <a:avLst/>
          </a:prstGeom>
          <a:ln w="12700">
            <a:solidFill>
              <a:srgbClr val="0E9C86">
                <a:alpha val="45000"/>
              </a:srgbClr>
            </a:solidFill>
            <a:prstDash val="solid"/>
          </a:ln>
        </p:spPr>
      </p:sp>
      <p:sp>
        <p:nvSpPr>
          <p:cNvPr id="19" name="!!lensRing"/>
          <p:cNvSpPr/>
          <p:nvPr/>
        </p:nvSpPr>
        <p:spPr>
          <a:xfrm>
            <a:off x="10698480" y="731520"/>
            <a:ext cx="914400" cy="914400"/>
          </a:xfrm>
          <a:prstGeom prst="ellipse">
            <a:avLst/>
          </a:prstGeom>
          <a:ln w="25400">
            <a:solidFill>
              <a:srgbClr val="C97700"/>
            </a:solidFill>
            <a:prstDash val="solid"/>
          </a:ln>
        </p:spPr>
      </p:sp>
      <p:sp>
        <p:nvSpPr>
          <p:cNvPr id="20" name="!!lensGlint"/>
          <p:cNvSpPr/>
          <p:nvPr/>
        </p:nvSpPr>
        <p:spPr>
          <a:xfrm>
            <a:off x="11433249" y="819711"/>
            <a:ext cx="91440" cy="91440"/>
          </a:xfrm>
          <a:prstGeom prst="ellipse">
            <a:avLst/>
          </a:prstGeom>
          <a:solidFill>
            <a:srgbClr val="C97700"/>
          </a:solidFill>
          <a:ln/>
        </p:spPr>
      </p:sp>
      <p:pic>
        <p:nvPicPr>
          <p:cNvPr id="21" name="lensEye" descr="preencoded.png">    </p:cNvPr>
          <p:cNvPicPr>
            <a:picLocks noChangeAspect="1"/>
          </p:cNvPicPr>
          <p:nvPr/>
        </p:nvPicPr>
        <p:blipFill>
          <a:blip r:embed="rId1"/>
          <a:stretch>
            <a:fillRect/>
          </a:stretch>
        </p:blipFill>
        <p:spPr>
          <a:xfrm>
            <a:off x="10991088" y="1024128"/>
            <a:ext cx="329184" cy="329184"/>
          </a:xfrm>
          <a:prstGeom prst="rect">
            <a:avLst/>
          </a:prstGeom>
        </p:spPr>
      </p:pic>
      <p:sp>
        <p:nvSpPr>
          <p:cNvPr id="22" name="cs0"/>
          <p:cNvSpPr/>
          <p:nvPr/>
        </p:nvSpPr>
        <p:spPr>
          <a:xfrm>
            <a:off x="548640" y="1783080"/>
            <a:ext cx="5440680" cy="1783080"/>
          </a:xfrm>
          <a:prstGeom prst="roundRect">
            <a:avLst>
              <a:gd name="adj" fmla="val 7179"/>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23" name="csI0"/>
          <p:cNvSpPr/>
          <p:nvPr/>
        </p:nvSpPr>
        <p:spPr>
          <a:xfrm>
            <a:off x="749808" y="1984248"/>
            <a:ext cx="457200" cy="457200"/>
          </a:xfrm>
          <a:prstGeom prst="ellipse">
            <a:avLst/>
          </a:prstGeom>
          <a:solidFill>
            <a:srgbClr val="0E9C86">
              <a:alpha val="18000"/>
            </a:srgbClr>
          </a:solidFill>
          <a:ln/>
        </p:spPr>
      </p:sp>
      <p:pic>
        <p:nvPicPr>
          <p:cNvPr id="24" name="csI0_i" descr="preencoded.png">    </p:cNvPr>
          <p:cNvPicPr>
            <a:picLocks noChangeAspect="1"/>
          </p:cNvPicPr>
          <p:nvPr/>
        </p:nvPicPr>
        <p:blipFill>
          <a:blip r:embed="rId2"/>
          <a:stretch>
            <a:fillRect/>
          </a:stretch>
        </p:blipFill>
        <p:spPr>
          <a:xfrm>
            <a:off x="859536" y="2093976"/>
            <a:ext cx="237744" cy="237744"/>
          </a:xfrm>
          <a:prstGeom prst="rect">
            <a:avLst/>
          </a:prstGeom>
        </p:spPr>
      </p:pic>
      <p:sp>
        <p:nvSpPr>
          <p:cNvPr id="25" name="csT0"/>
          <p:cNvSpPr txBox="1"/>
          <p:nvPr/>
        </p:nvSpPr>
        <p:spPr>
          <a:xfrm>
            <a:off x="1325880" y="1965960"/>
            <a:ext cx="4480560" cy="228600"/>
          </a:xfrm>
          <a:prstGeom prst="rect">
            <a:avLst/>
          </a:prstGeom>
          <a:noFill/>
          <a:ln/>
        </p:spPr>
        <p:txBody>
          <a:bodyPr wrap="square" lIns="0" tIns="0" rIns="0" bIns="0" rtlCol="0" anchor="t"/>
          <a:lstStyle/>
          <a:p>
            <a:pPr indent="0" marL="0">
              <a:buNone/>
            </a:pPr>
            <a:r>
              <a:rPr lang="en-US" sz="1100" spc="100" kern="0" dirty="0">
                <a:solidFill>
                  <a:srgbClr val="0E9C86"/>
                </a:solidFill>
                <a:latin typeface="Consolas" pitchFamily="34" charset="0"/>
                <a:ea typeface="Consolas" pitchFamily="34" charset="-122"/>
                <a:cs typeface="Consolas" pitchFamily="34" charset="-120"/>
              </a:rPr>
              <a:t>UNDER-RETRIEVAL  ·  Q003</a:t>
            </a:r>
            <a:endParaRPr lang="en-US" sz="1100" dirty="0"/>
          </a:p>
        </p:txBody>
      </p:sp>
      <p:sp>
        <p:nvSpPr>
          <p:cNvPr id="26" name="csH0"/>
          <p:cNvSpPr txBox="1"/>
          <p:nvPr/>
        </p:nvSpPr>
        <p:spPr>
          <a:xfrm>
            <a:off x="1325880" y="2194560"/>
            <a:ext cx="4526280" cy="32004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Top-1 missed the passage; Top-3 found it</a:t>
            </a:r>
            <a:endParaRPr lang="en-US" sz="1600" dirty="0"/>
          </a:p>
        </p:txBody>
      </p:sp>
      <p:sp>
        <p:nvSpPr>
          <p:cNvPr id="27" name="csK00"/>
          <p:cNvSpPr txBox="1"/>
          <p:nvPr/>
        </p:nvSpPr>
        <p:spPr>
          <a:xfrm>
            <a:off x="777240" y="2679192"/>
            <a:ext cx="777240" cy="365760"/>
          </a:xfrm>
          <a:prstGeom prst="rect">
            <a:avLst/>
          </a:prstGeom>
          <a:noFill/>
          <a:ln/>
        </p:spPr>
        <p:txBody>
          <a:bodyPr wrap="square" lIns="0" tIns="0" rIns="0" bIns="0" rtlCol="0" anchor="t"/>
          <a:lstStyle/>
          <a:p>
            <a:pPr indent="0" marL="0">
              <a:buNone/>
            </a:pPr>
            <a:r>
              <a:rPr lang="en-US" sz="1100" b="1" dirty="0">
                <a:solidFill>
                  <a:srgbClr val="0E9C86"/>
                </a:solidFill>
                <a:latin typeface="Consolas" pitchFamily="34" charset="0"/>
                <a:ea typeface="Consolas" pitchFamily="34" charset="-122"/>
                <a:cs typeface="Consolas" pitchFamily="34" charset="-120"/>
              </a:rPr>
              <a:t>K = 1</a:t>
            </a:r>
            <a:endParaRPr lang="en-US" sz="1100" dirty="0"/>
          </a:p>
        </p:txBody>
      </p:sp>
      <p:sp>
        <p:nvSpPr>
          <p:cNvPr id="28" name="csR00"/>
          <p:cNvSpPr txBox="1"/>
          <p:nvPr/>
        </p:nvSpPr>
        <p:spPr>
          <a:xfrm>
            <a:off x="1600200" y="2660904"/>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“FTRS is not mentioned in any of the provided sources.” — abstained</a:t>
            </a:r>
            <a:endParaRPr lang="en-US" sz="1200" dirty="0"/>
          </a:p>
        </p:txBody>
      </p:sp>
      <p:sp>
        <p:nvSpPr>
          <p:cNvPr id="29" name="csK01"/>
          <p:cNvSpPr txBox="1"/>
          <p:nvPr/>
        </p:nvSpPr>
        <p:spPr>
          <a:xfrm>
            <a:off x="777240" y="3099816"/>
            <a:ext cx="777240" cy="365760"/>
          </a:xfrm>
          <a:prstGeom prst="rect">
            <a:avLst/>
          </a:prstGeom>
          <a:noFill/>
          <a:ln/>
        </p:spPr>
        <p:txBody>
          <a:bodyPr wrap="square" lIns="0" tIns="0" rIns="0" bIns="0" rtlCol="0" anchor="t"/>
          <a:lstStyle/>
          <a:p>
            <a:pPr indent="0" marL="0">
              <a:buNone/>
            </a:pPr>
            <a:r>
              <a:rPr lang="en-US" sz="1100" b="1" dirty="0">
                <a:solidFill>
                  <a:srgbClr val="0E9C86"/>
                </a:solidFill>
                <a:latin typeface="Consolas" pitchFamily="34" charset="0"/>
                <a:ea typeface="Consolas" pitchFamily="34" charset="-122"/>
                <a:cs typeface="Consolas" pitchFamily="34" charset="-120"/>
              </a:rPr>
              <a:t>K = 3</a:t>
            </a:r>
            <a:endParaRPr lang="en-US" sz="1100" dirty="0"/>
          </a:p>
        </p:txBody>
      </p:sp>
      <p:sp>
        <p:nvSpPr>
          <p:cNvPr id="30" name="csR01"/>
          <p:cNvSpPr txBox="1"/>
          <p:nvPr/>
        </p:nvSpPr>
        <p:spPr>
          <a:xfrm>
            <a:off x="1600200" y="3081528"/>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“Full-Time Research Scholar” ✓   (No-RAG invented “Female Teacher, Research Scholar”)</a:t>
            </a:r>
            <a:endParaRPr lang="en-US" sz="1200" dirty="0"/>
          </a:p>
        </p:txBody>
      </p:sp>
      <p:sp>
        <p:nvSpPr>
          <p:cNvPr id="31" name="cs1"/>
          <p:cNvSpPr/>
          <p:nvPr/>
        </p:nvSpPr>
        <p:spPr>
          <a:xfrm>
            <a:off x="6172200" y="1783080"/>
            <a:ext cx="5440680" cy="1783080"/>
          </a:xfrm>
          <a:prstGeom prst="roundRect">
            <a:avLst>
              <a:gd name="adj" fmla="val 7179"/>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32" name="csI1"/>
          <p:cNvSpPr/>
          <p:nvPr/>
        </p:nvSpPr>
        <p:spPr>
          <a:xfrm>
            <a:off x="6373368" y="1984248"/>
            <a:ext cx="457200" cy="457200"/>
          </a:xfrm>
          <a:prstGeom prst="ellipse">
            <a:avLst/>
          </a:prstGeom>
          <a:solidFill>
            <a:srgbClr val="E0474C">
              <a:alpha val="18000"/>
            </a:srgbClr>
          </a:solidFill>
          <a:ln/>
        </p:spPr>
      </p:sp>
      <p:pic>
        <p:nvPicPr>
          <p:cNvPr id="33" name="csI1_i" descr="preencoded.png">    </p:cNvPr>
          <p:cNvPicPr>
            <a:picLocks noChangeAspect="1"/>
          </p:cNvPicPr>
          <p:nvPr/>
        </p:nvPicPr>
        <p:blipFill>
          <a:blip r:embed="rId3"/>
          <a:stretch>
            <a:fillRect/>
          </a:stretch>
        </p:blipFill>
        <p:spPr>
          <a:xfrm>
            <a:off x="6483096" y="2093976"/>
            <a:ext cx="237744" cy="237744"/>
          </a:xfrm>
          <a:prstGeom prst="rect">
            <a:avLst/>
          </a:prstGeom>
        </p:spPr>
      </p:pic>
      <p:sp>
        <p:nvSpPr>
          <p:cNvPr id="34" name="csT1"/>
          <p:cNvSpPr txBox="1"/>
          <p:nvPr/>
        </p:nvSpPr>
        <p:spPr>
          <a:xfrm>
            <a:off x="6949440" y="1965960"/>
            <a:ext cx="4480560" cy="228600"/>
          </a:xfrm>
          <a:prstGeom prst="rect">
            <a:avLst/>
          </a:prstGeom>
          <a:noFill/>
          <a:ln/>
        </p:spPr>
        <p:txBody>
          <a:bodyPr wrap="square" lIns="0" tIns="0" rIns="0" bIns="0" rtlCol="0" anchor="t"/>
          <a:lstStyle/>
          <a:p>
            <a:pPr indent="0" marL="0">
              <a:buNone/>
            </a:pPr>
            <a:r>
              <a:rPr lang="en-US" sz="1100" spc="100" kern="0" dirty="0">
                <a:solidFill>
                  <a:srgbClr val="E0474C"/>
                </a:solidFill>
                <a:latin typeface="Consolas" pitchFamily="34" charset="0"/>
                <a:ea typeface="Consolas" pitchFamily="34" charset="-122"/>
                <a:cs typeface="Consolas" pitchFamily="34" charset="-120"/>
              </a:rPr>
              <a:t>MORE CONTEXT, LESS FOCUS  ·  Q040</a:t>
            </a:r>
            <a:endParaRPr lang="en-US" sz="1100" dirty="0"/>
          </a:p>
        </p:txBody>
      </p:sp>
      <p:sp>
        <p:nvSpPr>
          <p:cNvPr id="35" name="csH1"/>
          <p:cNvSpPr txBox="1"/>
          <p:nvPr/>
        </p:nvSpPr>
        <p:spPr>
          <a:xfrm>
            <a:off x="6949440" y="2194560"/>
            <a:ext cx="4526280" cy="32004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Top-10 found the gold page yet scored below Top-3</a:t>
            </a:r>
            <a:endParaRPr lang="en-US" sz="1600" dirty="0"/>
          </a:p>
        </p:txBody>
      </p:sp>
      <p:sp>
        <p:nvSpPr>
          <p:cNvPr id="36" name="csK10"/>
          <p:cNvSpPr txBox="1"/>
          <p:nvPr/>
        </p:nvSpPr>
        <p:spPr>
          <a:xfrm>
            <a:off x="6400800" y="2679192"/>
            <a:ext cx="777240" cy="365760"/>
          </a:xfrm>
          <a:prstGeom prst="rect">
            <a:avLst/>
          </a:prstGeom>
          <a:noFill/>
          <a:ln/>
        </p:spPr>
        <p:txBody>
          <a:bodyPr wrap="square" lIns="0" tIns="0" rIns="0" bIns="0" rtlCol="0" anchor="t"/>
          <a:lstStyle/>
          <a:p>
            <a:pPr indent="0" marL="0">
              <a:buNone/>
            </a:pPr>
            <a:r>
              <a:rPr lang="en-US" sz="1100" b="1" dirty="0">
                <a:solidFill>
                  <a:srgbClr val="E0474C"/>
                </a:solidFill>
                <a:latin typeface="Consolas" pitchFamily="34" charset="0"/>
                <a:ea typeface="Consolas" pitchFamily="34" charset="-122"/>
                <a:cs typeface="Consolas" pitchFamily="34" charset="-120"/>
              </a:rPr>
              <a:t>K = 3</a:t>
            </a:r>
            <a:endParaRPr lang="en-US" sz="1100" dirty="0"/>
          </a:p>
        </p:txBody>
      </p:sp>
      <p:sp>
        <p:nvSpPr>
          <p:cNvPr id="37" name="csR10"/>
          <p:cNvSpPr txBox="1"/>
          <p:nvPr/>
        </p:nvSpPr>
        <p:spPr>
          <a:xfrm>
            <a:off x="7223760" y="2660904"/>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full marks · 144-word answer · 67% of chunks relevant</a:t>
            </a:r>
            <a:endParaRPr lang="en-US" sz="1200" dirty="0"/>
          </a:p>
        </p:txBody>
      </p:sp>
      <p:sp>
        <p:nvSpPr>
          <p:cNvPr id="38" name="csK11"/>
          <p:cNvSpPr txBox="1"/>
          <p:nvPr/>
        </p:nvSpPr>
        <p:spPr>
          <a:xfrm>
            <a:off x="6400800" y="3099816"/>
            <a:ext cx="777240" cy="365760"/>
          </a:xfrm>
          <a:prstGeom prst="rect">
            <a:avLst/>
          </a:prstGeom>
          <a:noFill/>
          <a:ln/>
        </p:spPr>
        <p:txBody>
          <a:bodyPr wrap="square" lIns="0" tIns="0" rIns="0" bIns="0" rtlCol="0" anchor="t"/>
          <a:lstStyle/>
          <a:p>
            <a:pPr indent="0" marL="0">
              <a:buNone/>
            </a:pPr>
            <a:r>
              <a:rPr lang="en-US" sz="1100" b="1" dirty="0">
                <a:solidFill>
                  <a:srgbClr val="E0474C"/>
                </a:solidFill>
                <a:latin typeface="Consolas" pitchFamily="34" charset="0"/>
                <a:ea typeface="Consolas" pitchFamily="34" charset="-122"/>
                <a:cs typeface="Consolas" pitchFamily="34" charset="-120"/>
              </a:rPr>
              <a:t>K = 10</a:t>
            </a:r>
            <a:endParaRPr lang="en-US" sz="1100" dirty="0"/>
          </a:p>
        </p:txBody>
      </p:sp>
      <p:sp>
        <p:nvSpPr>
          <p:cNvPr id="39" name="csR11"/>
          <p:cNvSpPr txBox="1"/>
          <p:nvPr/>
        </p:nvSpPr>
        <p:spPr>
          <a:xfrm>
            <a:off x="7223760" y="3081528"/>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partial credit · 177 words · 40% of chunks relevant; one required fact lost</a:t>
            </a:r>
            <a:endParaRPr lang="en-US" sz="1200" dirty="0"/>
          </a:p>
        </p:txBody>
      </p:sp>
      <p:sp>
        <p:nvSpPr>
          <p:cNvPr id="40" name="cs2"/>
          <p:cNvSpPr/>
          <p:nvPr/>
        </p:nvSpPr>
        <p:spPr>
          <a:xfrm>
            <a:off x="548640" y="3721608"/>
            <a:ext cx="5440680" cy="1783080"/>
          </a:xfrm>
          <a:prstGeom prst="roundRect">
            <a:avLst>
              <a:gd name="adj" fmla="val 7179"/>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41" name="csI2"/>
          <p:cNvSpPr/>
          <p:nvPr/>
        </p:nvSpPr>
        <p:spPr>
          <a:xfrm>
            <a:off x="749808" y="3922776"/>
            <a:ext cx="457200" cy="457200"/>
          </a:xfrm>
          <a:prstGeom prst="ellipse">
            <a:avLst/>
          </a:prstGeom>
          <a:solidFill>
            <a:srgbClr val="C97700">
              <a:alpha val="18000"/>
            </a:srgbClr>
          </a:solidFill>
          <a:ln/>
        </p:spPr>
      </p:sp>
      <p:pic>
        <p:nvPicPr>
          <p:cNvPr id="42" name="csI2_i" descr="preencoded.png">    </p:cNvPr>
          <p:cNvPicPr>
            <a:picLocks noChangeAspect="1"/>
          </p:cNvPicPr>
          <p:nvPr/>
        </p:nvPicPr>
        <p:blipFill>
          <a:blip r:embed="rId4"/>
          <a:stretch>
            <a:fillRect/>
          </a:stretch>
        </p:blipFill>
        <p:spPr>
          <a:xfrm>
            <a:off x="859536" y="4032504"/>
            <a:ext cx="237744" cy="237744"/>
          </a:xfrm>
          <a:prstGeom prst="rect">
            <a:avLst/>
          </a:prstGeom>
        </p:spPr>
      </p:pic>
      <p:sp>
        <p:nvSpPr>
          <p:cNvPr id="43" name="csT2"/>
          <p:cNvSpPr txBox="1"/>
          <p:nvPr/>
        </p:nvSpPr>
        <p:spPr>
          <a:xfrm>
            <a:off x="1325880" y="3904488"/>
            <a:ext cx="4480560" cy="228600"/>
          </a:xfrm>
          <a:prstGeom prst="rect">
            <a:avLst/>
          </a:prstGeom>
          <a:noFill/>
          <a:ln/>
        </p:spPr>
        <p:txBody>
          <a:bodyPr wrap="square" lIns="0" tIns="0" rIns="0" bIns="0" rtlCol="0" anchor="t"/>
          <a:lstStyle/>
          <a:p>
            <a:pPr indent="0" marL="0">
              <a:buNone/>
            </a:pPr>
            <a:r>
              <a:rPr lang="en-US" sz="1100" spc="100" kern="0" dirty="0">
                <a:solidFill>
                  <a:srgbClr val="C97700"/>
                </a:solidFill>
                <a:latin typeface="Consolas" pitchFamily="34" charset="0"/>
                <a:ea typeface="Consolas" pitchFamily="34" charset="-122"/>
                <a:cs typeface="Consolas" pitchFamily="34" charset="-120"/>
              </a:rPr>
              <a:t>EVALUATOR FALSE POSITIVE  ·  Q041</a:t>
            </a:r>
            <a:endParaRPr lang="en-US" sz="1100" dirty="0"/>
          </a:p>
        </p:txBody>
      </p:sp>
      <p:sp>
        <p:nvSpPr>
          <p:cNvPr id="44" name="csH2"/>
          <p:cNvSpPr txBox="1"/>
          <p:nvPr/>
        </p:nvSpPr>
        <p:spPr>
          <a:xfrm>
            <a:off x="1325880" y="4133088"/>
            <a:ext cx="4526280" cy="32004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Lexical scoring rewarded a non-answer</a:t>
            </a:r>
            <a:endParaRPr lang="en-US" sz="1600" dirty="0"/>
          </a:p>
        </p:txBody>
      </p:sp>
      <p:sp>
        <p:nvSpPr>
          <p:cNvPr id="45" name="csK20"/>
          <p:cNvSpPr txBox="1"/>
          <p:nvPr/>
        </p:nvSpPr>
        <p:spPr>
          <a:xfrm>
            <a:off x="777240" y="4617720"/>
            <a:ext cx="777240" cy="365760"/>
          </a:xfrm>
          <a:prstGeom prst="rect">
            <a:avLst/>
          </a:prstGeom>
          <a:noFill/>
          <a:ln/>
        </p:spPr>
        <p:txBody>
          <a:bodyPr wrap="square" lIns="0" tIns="0" rIns="0" bIns="0" rtlCol="0" anchor="t"/>
          <a:lstStyle/>
          <a:p>
            <a:pPr indent="0" marL="0">
              <a:buNone/>
            </a:pPr>
            <a:r>
              <a:rPr lang="en-US" sz="1100" b="1" dirty="0">
                <a:solidFill>
                  <a:srgbClr val="C97700"/>
                </a:solidFill>
                <a:latin typeface="Consolas" pitchFamily="34" charset="0"/>
                <a:ea typeface="Consolas" pitchFamily="34" charset="-122"/>
                <a:cs typeface="Consolas" pitchFamily="34" charset="-120"/>
              </a:rPr>
              <a:t>K = 3</a:t>
            </a:r>
            <a:endParaRPr lang="en-US" sz="1100" dirty="0"/>
          </a:p>
        </p:txBody>
      </p:sp>
      <p:sp>
        <p:nvSpPr>
          <p:cNvPr id="46" name="csR20"/>
          <p:cNvSpPr txBox="1"/>
          <p:nvPr/>
        </p:nvSpPr>
        <p:spPr>
          <a:xfrm>
            <a:off x="1600200" y="4599432"/>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said the page total is “not explicitly stated” — still scored 2 / 2</a:t>
            </a:r>
            <a:endParaRPr lang="en-US" sz="1200" dirty="0"/>
          </a:p>
        </p:txBody>
      </p:sp>
      <p:sp>
        <p:nvSpPr>
          <p:cNvPr id="47" name="csK21"/>
          <p:cNvSpPr txBox="1"/>
          <p:nvPr/>
        </p:nvSpPr>
        <p:spPr>
          <a:xfrm>
            <a:off x="777240" y="5038344"/>
            <a:ext cx="777240" cy="365760"/>
          </a:xfrm>
          <a:prstGeom prst="rect">
            <a:avLst/>
          </a:prstGeom>
          <a:noFill/>
          <a:ln/>
        </p:spPr>
        <p:txBody>
          <a:bodyPr wrap="square" lIns="0" tIns="0" rIns="0" bIns="0" rtlCol="0" anchor="t"/>
          <a:lstStyle/>
          <a:p>
            <a:pPr indent="0" marL="0">
              <a:buNone/>
            </a:pPr>
            <a:r>
              <a:rPr lang="en-US" sz="1100" b="1" dirty="0">
                <a:solidFill>
                  <a:srgbClr val="C97700"/>
                </a:solidFill>
                <a:latin typeface="Consolas" pitchFamily="34" charset="0"/>
                <a:ea typeface="Consolas" pitchFamily="34" charset="-122"/>
                <a:cs typeface="Consolas" pitchFamily="34" charset="-120"/>
              </a:rPr>
              <a:t>why</a:t>
            </a:r>
            <a:endParaRPr lang="en-US" sz="1100" dirty="0"/>
          </a:p>
        </p:txBody>
      </p:sp>
      <p:sp>
        <p:nvSpPr>
          <p:cNvPr id="48" name="csR21"/>
          <p:cNvSpPr txBox="1"/>
          <p:nvPr/>
        </p:nvSpPr>
        <p:spPr>
          <a:xfrm>
            <a:off x="1600200" y="5020056"/>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“25” matched inside a page range “23–25”: heuristics need human checks</a:t>
            </a:r>
            <a:endParaRPr lang="en-US" sz="1200" dirty="0"/>
          </a:p>
        </p:txBody>
      </p:sp>
      <p:sp>
        <p:nvSpPr>
          <p:cNvPr id="49" name="cs3"/>
          <p:cNvSpPr/>
          <p:nvPr/>
        </p:nvSpPr>
        <p:spPr>
          <a:xfrm>
            <a:off x="6172200" y="3721608"/>
            <a:ext cx="5440680" cy="1783080"/>
          </a:xfrm>
          <a:prstGeom prst="roundRect">
            <a:avLst>
              <a:gd name="adj" fmla="val 7179"/>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50" name="csI3"/>
          <p:cNvSpPr/>
          <p:nvPr/>
        </p:nvSpPr>
        <p:spPr>
          <a:xfrm>
            <a:off x="6373368" y="3922776"/>
            <a:ext cx="457200" cy="457200"/>
          </a:xfrm>
          <a:prstGeom prst="ellipse">
            <a:avLst/>
          </a:prstGeom>
          <a:solidFill>
            <a:srgbClr val="7656E0">
              <a:alpha val="18000"/>
            </a:srgbClr>
          </a:solidFill>
          <a:ln/>
        </p:spPr>
      </p:sp>
      <p:pic>
        <p:nvPicPr>
          <p:cNvPr id="51" name="csI3_i" descr="preencoded.png">    </p:cNvPr>
          <p:cNvPicPr>
            <a:picLocks noChangeAspect="1"/>
          </p:cNvPicPr>
          <p:nvPr/>
        </p:nvPicPr>
        <p:blipFill>
          <a:blip r:embed="rId5"/>
          <a:stretch>
            <a:fillRect/>
          </a:stretch>
        </p:blipFill>
        <p:spPr>
          <a:xfrm>
            <a:off x="6483096" y="4032504"/>
            <a:ext cx="237744" cy="237744"/>
          </a:xfrm>
          <a:prstGeom prst="rect">
            <a:avLst/>
          </a:prstGeom>
        </p:spPr>
      </p:pic>
      <p:sp>
        <p:nvSpPr>
          <p:cNvPr id="52" name="csT3"/>
          <p:cNvSpPr txBox="1"/>
          <p:nvPr/>
        </p:nvSpPr>
        <p:spPr>
          <a:xfrm>
            <a:off x="6949440" y="3904488"/>
            <a:ext cx="4480560" cy="228600"/>
          </a:xfrm>
          <a:prstGeom prst="rect">
            <a:avLst/>
          </a:prstGeom>
          <a:noFill/>
          <a:ln/>
        </p:spPr>
        <p:txBody>
          <a:bodyPr wrap="square" lIns="0" tIns="0" rIns="0" bIns="0" rtlCol="0" anchor="t"/>
          <a:lstStyle/>
          <a:p>
            <a:pPr indent="0" marL="0">
              <a:buNone/>
            </a:pPr>
            <a:r>
              <a:rPr lang="en-US" sz="1100" spc="100" kern="0" dirty="0">
                <a:solidFill>
                  <a:srgbClr val="7656E0"/>
                </a:solidFill>
                <a:latin typeface="Consolas" pitchFamily="34" charset="0"/>
                <a:ea typeface="Consolas" pitchFamily="34" charset="-122"/>
                <a:cs typeface="Consolas" pitchFamily="34" charset="-120"/>
              </a:rPr>
              <a:t>NOT IN THE DOCUMENTS  ·  Q037</a:t>
            </a:r>
            <a:endParaRPr lang="en-US" sz="1100" dirty="0"/>
          </a:p>
        </p:txBody>
      </p:sp>
      <p:sp>
        <p:nvSpPr>
          <p:cNvPr id="53" name="csH3"/>
          <p:cNvSpPr txBox="1"/>
          <p:nvPr/>
        </p:nvSpPr>
        <p:spPr>
          <a:xfrm>
            <a:off x="6949440" y="4133088"/>
            <a:ext cx="4526280" cy="320040"/>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Every K abstained: correct behaviour, scored 0</a:t>
            </a:r>
            <a:endParaRPr lang="en-US" sz="1600" dirty="0"/>
          </a:p>
        </p:txBody>
      </p:sp>
      <p:sp>
        <p:nvSpPr>
          <p:cNvPr id="54" name="csK30"/>
          <p:cNvSpPr txBox="1"/>
          <p:nvPr/>
        </p:nvSpPr>
        <p:spPr>
          <a:xfrm>
            <a:off x="6400800" y="4617720"/>
            <a:ext cx="777240" cy="365760"/>
          </a:xfrm>
          <a:prstGeom prst="rect">
            <a:avLst/>
          </a:prstGeom>
          <a:noFill/>
          <a:ln/>
        </p:spPr>
        <p:txBody>
          <a:bodyPr wrap="square" lIns="0" tIns="0" rIns="0" bIns="0" rtlCol="0" anchor="t"/>
          <a:lstStyle/>
          <a:p>
            <a:pPr indent="0" marL="0">
              <a:buNone/>
            </a:pPr>
            <a:r>
              <a:rPr lang="en-US" sz="1100" b="1" dirty="0">
                <a:solidFill>
                  <a:srgbClr val="7656E0"/>
                </a:solidFill>
                <a:latin typeface="Consolas" pitchFamily="34" charset="0"/>
                <a:ea typeface="Consolas" pitchFamily="34" charset="-122"/>
                <a:cs typeface="Consolas" pitchFamily="34" charset="-120"/>
              </a:rPr>
              <a:t>K = 1–10</a:t>
            </a:r>
            <a:endParaRPr lang="en-US" sz="1100" dirty="0"/>
          </a:p>
        </p:txBody>
      </p:sp>
      <p:sp>
        <p:nvSpPr>
          <p:cNvPr id="55" name="csR30"/>
          <p:cNvSpPr txBox="1"/>
          <p:nvPr/>
        </p:nvSpPr>
        <p:spPr>
          <a:xfrm>
            <a:off x="7223760" y="4599432"/>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M.Tech → PhD switch rules: no supporting passage retrieved</a:t>
            </a:r>
            <a:endParaRPr lang="en-US" sz="1200" dirty="0"/>
          </a:p>
        </p:txBody>
      </p:sp>
      <p:sp>
        <p:nvSpPr>
          <p:cNvPr id="56" name="csK31"/>
          <p:cNvSpPr txBox="1"/>
          <p:nvPr/>
        </p:nvSpPr>
        <p:spPr>
          <a:xfrm>
            <a:off x="6400800" y="5038344"/>
            <a:ext cx="777240" cy="365760"/>
          </a:xfrm>
          <a:prstGeom prst="rect">
            <a:avLst/>
          </a:prstGeom>
          <a:noFill/>
          <a:ln/>
        </p:spPr>
        <p:txBody>
          <a:bodyPr wrap="square" lIns="0" tIns="0" rIns="0" bIns="0" rtlCol="0" anchor="t"/>
          <a:lstStyle/>
          <a:p>
            <a:pPr indent="0" marL="0">
              <a:buNone/>
            </a:pPr>
            <a:r>
              <a:rPr lang="en-US" sz="1100" b="1" dirty="0">
                <a:solidFill>
                  <a:srgbClr val="7656E0"/>
                </a:solidFill>
                <a:latin typeface="Consolas" pitchFamily="34" charset="0"/>
                <a:ea typeface="Consolas" pitchFamily="34" charset="-122"/>
                <a:cs typeface="Consolas" pitchFamily="34" charset="-120"/>
              </a:rPr>
              <a:t>No-RAG</a:t>
            </a:r>
            <a:endParaRPr lang="en-US" sz="1100" dirty="0"/>
          </a:p>
        </p:txBody>
      </p:sp>
      <p:sp>
        <p:nvSpPr>
          <p:cNvPr id="57" name="csR31"/>
          <p:cNvSpPr txBox="1"/>
          <p:nvPr/>
        </p:nvSpPr>
        <p:spPr>
          <a:xfrm>
            <a:off x="7223760" y="5020056"/>
            <a:ext cx="4206240" cy="402336"/>
          </a:xfrm>
          <a:prstGeom prst="rect">
            <a:avLst/>
          </a:prstGeom>
          <a:noFill/>
          <a:ln/>
        </p:spPr>
        <p:txBody>
          <a:bodyPr wrap="square" lIns="0" tIns="0" rIns="0" bIns="0" rtlCol="0" anchor="t"/>
          <a:lstStyle/>
          <a:p>
            <a:pPr indent="0" marL="0">
              <a:buNone/>
            </a:pPr>
            <a:r>
              <a:rPr lang="en-US" sz="1200" dirty="0">
                <a:solidFill>
                  <a:srgbClr val="16182B"/>
                </a:solidFill>
                <a:latin typeface="Calibri" pitchFamily="34" charset="0"/>
                <a:ea typeface="Calibri" pitchFamily="34" charset="-122"/>
                <a:cs typeface="Calibri" pitchFamily="34" charset="-120"/>
              </a:rPr>
              <a:t>gave a fluent, generic, ungrounded answer instead</a:t>
            </a:r>
            <a:endParaRPr lang="en-US" sz="1200" dirty="0"/>
          </a:p>
        </p:txBody>
      </p:sp>
      <p:sp>
        <p:nvSpPr>
          <p:cNvPr id="58" name="stD0"/>
          <p:cNvSpPr/>
          <p:nvPr/>
        </p:nvSpPr>
        <p:spPr>
          <a:xfrm>
            <a:off x="548640" y="5824728"/>
            <a:ext cx="118872" cy="118872"/>
          </a:xfrm>
          <a:prstGeom prst="ellipse">
            <a:avLst/>
          </a:prstGeom>
          <a:solidFill>
            <a:srgbClr val="E0474C"/>
          </a:solidFill>
          <a:ln/>
        </p:spPr>
      </p:sp>
      <p:sp>
        <p:nvSpPr>
          <p:cNvPr id="59" name="stT0"/>
          <p:cNvSpPr txBox="1"/>
          <p:nvPr/>
        </p:nvSpPr>
        <p:spPr>
          <a:xfrm>
            <a:off x="777240" y="5733288"/>
            <a:ext cx="5212080" cy="292608"/>
          </a:xfrm>
          <a:prstGeom prst="rect">
            <a:avLst/>
          </a:prstGeom>
          <a:noFill/>
          <a:ln/>
        </p:spPr>
        <p:txBody>
          <a:bodyPr wrap="square" lIns="0" tIns="0" rIns="0" bIns="0" rtlCol="0" anchor="t"/>
          <a:lstStyle/>
          <a:p>
            <a:pPr indent="0" marL="0">
              <a:buNone/>
            </a:pPr>
            <a:r>
              <a:rPr lang="en-US" sz="1300" dirty="0">
                <a:solidFill>
                  <a:srgbClr val="16182B"/>
                </a:solidFill>
                <a:latin typeface="Calibri" pitchFamily="34" charset="0"/>
                <a:ea typeface="Calibri" pitchFamily="34" charset="-122"/>
                <a:cs typeface="Calibri" pitchFamily="34" charset="-120"/>
              </a:rPr>
              <a:t>Top-1 (32%) scored below No-RAG (37%): it abstained on 46% of questions</a:t>
            </a:r>
            <a:endParaRPr lang="en-US" sz="1300" dirty="0"/>
          </a:p>
        </p:txBody>
      </p:sp>
      <p:sp>
        <p:nvSpPr>
          <p:cNvPr id="60" name="stD1"/>
          <p:cNvSpPr/>
          <p:nvPr/>
        </p:nvSpPr>
        <p:spPr>
          <a:xfrm>
            <a:off x="6172200" y="5824728"/>
            <a:ext cx="118872" cy="118872"/>
          </a:xfrm>
          <a:prstGeom prst="ellipse">
            <a:avLst/>
          </a:prstGeom>
          <a:solidFill>
            <a:srgbClr val="0E9C86"/>
          </a:solidFill>
          <a:ln/>
        </p:spPr>
      </p:sp>
      <p:sp>
        <p:nvSpPr>
          <p:cNvPr id="61" name="stT1"/>
          <p:cNvSpPr txBox="1"/>
          <p:nvPr/>
        </p:nvSpPr>
        <p:spPr>
          <a:xfrm>
            <a:off x="6400800" y="5733288"/>
            <a:ext cx="5212080" cy="292608"/>
          </a:xfrm>
          <a:prstGeom prst="rect">
            <a:avLst/>
          </a:prstGeom>
          <a:noFill/>
          <a:ln/>
        </p:spPr>
        <p:txBody>
          <a:bodyPr wrap="square" lIns="0" tIns="0" rIns="0" bIns="0" rtlCol="0" anchor="t"/>
          <a:lstStyle/>
          <a:p>
            <a:pPr indent="0" marL="0">
              <a:buNone/>
            </a:pPr>
            <a:r>
              <a:rPr lang="en-US" sz="1300" dirty="0">
                <a:solidFill>
                  <a:srgbClr val="16182B"/>
                </a:solidFill>
                <a:latin typeface="Calibri" pitchFamily="34" charset="0"/>
                <a:ea typeface="Calibri" pitchFamily="34" charset="-122"/>
                <a:cs typeface="Calibri" pitchFamily="34" charset="-120"/>
              </a:rPr>
              <a:t>Gold-page oracle: 72% in 3.7 s vs Top-10’s 70% in 49 s (same 25 questions)</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8"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00"/>
                                        <p:tgtEl>
                                          <p:spTgt spid="21"/>
                                        </p:tgtEl>
                                      </p:cBhvr>
                                    </p:animEffect>
                                    <p:anim calcmode="lin" valueType="num">
                                      <p:cBhvr>
                                        <p:cTn id="7" dur="500" decel="100000" fill="hold"/>
                                        <p:tgtEl>
                                          <p:spTgt spid="21"/>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14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anim calcmode="lin" valueType="num">
                                      <p:cBhvr>
                                        <p:cTn id="11" dur="500" decel="100000" fill="hold"/>
                                        <p:tgtEl>
                                          <p:spTgt spid="22"/>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14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500"/>
                                        <p:tgtEl>
                                          <p:spTgt spid="23"/>
                                        </p:tgtEl>
                                      </p:cBhvr>
                                    </p:animEffect>
                                    <p:anim calcmode="lin" valueType="num">
                                      <p:cBhvr>
                                        <p:cTn id="15" dur="500" decel="100000" fill="hold"/>
                                        <p:tgtEl>
                                          <p:spTgt spid="23"/>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14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anim calcmode="lin" valueType="num">
                                      <p:cBhvr>
                                        <p:cTn id="19" dur="500" decel="100000" fill="hold"/>
                                        <p:tgtEl>
                                          <p:spTgt spid="24"/>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14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anim calcmode="lin" valueType="num">
                                      <p:cBhvr>
                                        <p:cTn id="23" dur="500" decel="100000" fill="hold"/>
                                        <p:tgtEl>
                                          <p:spTgt spid="25"/>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14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500"/>
                                        <p:tgtEl>
                                          <p:spTgt spid="26"/>
                                        </p:tgtEl>
                                      </p:cBhvr>
                                    </p:animEffect>
                                    <p:anim calcmode="lin" valueType="num">
                                      <p:cBhvr>
                                        <p:cTn id="27" dur="500" decel="100000" fill="hold"/>
                                        <p:tgtEl>
                                          <p:spTgt spid="26"/>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14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anim calcmode="lin" valueType="num">
                                      <p:cBhvr>
                                        <p:cTn id="31" dur="500" decel="100000" fill="hold"/>
                                        <p:tgtEl>
                                          <p:spTgt spid="27"/>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14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anim calcmode="lin" valueType="num">
                                      <p:cBhvr>
                                        <p:cTn id="35" dur="500" decel="100000" fill="hold"/>
                                        <p:tgtEl>
                                          <p:spTgt spid="28"/>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14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500"/>
                                        <p:tgtEl>
                                          <p:spTgt spid="29"/>
                                        </p:tgtEl>
                                      </p:cBhvr>
                                    </p:animEffect>
                                    <p:anim calcmode="lin" valueType="num">
                                      <p:cBhvr>
                                        <p:cTn id="39" dur="500" decel="100000" fill="hold"/>
                                        <p:tgtEl>
                                          <p:spTgt spid="29"/>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14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500"/>
                                        <p:tgtEl>
                                          <p:spTgt spid="30"/>
                                        </p:tgtEl>
                                      </p:cBhvr>
                                    </p:animEffect>
                                    <p:anim calcmode="lin" valueType="num">
                                      <p:cBhvr>
                                        <p:cTn id="43" dur="500" decel="100000" fill="hold"/>
                                        <p:tgtEl>
                                          <p:spTgt spid="30"/>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28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00"/>
                                        <p:tgtEl>
                                          <p:spTgt spid="31"/>
                                        </p:tgtEl>
                                      </p:cBhvr>
                                    </p:animEffect>
                                    <p:anim calcmode="lin" valueType="num">
                                      <p:cBhvr>
                                        <p:cTn id="47" dur="500" decel="100000" fill="hold"/>
                                        <p:tgtEl>
                                          <p:spTgt spid="31"/>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28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500"/>
                                        <p:tgtEl>
                                          <p:spTgt spid="32"/>
                                        </p:tgtEl>
                                      </p:cBhvr>
                                    </p:animEffect>
                                    <p:anim calcmode="lin" valueType="num">
                                      <p:cBhvr>
                                        <p:cTn id="51" dur="500" decel="100000" fill="hold"/>
                                        <p:tgtEl>
                                          <p:spTgt spid="32"/>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28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500"/>
                                        <p:tgtEl>
                                          <p:spTgt spid="33"/>
                                        </p:tgtEl>
                                      </p:cBhvr>
                                    </p:animEffect>
                                    <p:anim calcmode="lin" valueType="num">
                                      <p:cBhvr>
                                        <p:cTn id="55" dur="500" decel="100000" fill="hold"/>
                                        <p:tgtEl>
                                          <p:spTgt spid="33"/>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28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500"/>
                                        <p:tgtEl>
                                          <p:spTgt spid="34"/>
                                        </p:tgtEl>
                                      </p:cBhvr>
                                    </p:animEffect>
                                    <p:anim calcmode="lin" valueType="num">
                                      <p:cBhvr>
                                        <p:cTn id="59" dur="500" decel="100000" fill="hold"/>
                                        <p:tgtEl>
                                          <p:spTgt spid="34"/>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280"/>
                                  </p:stCondLst>
                                  <p:childTnLst>
                                    <p:set>
                                      <p:cBhvr>
                                        <p:cTn id="61" dur="1" fill="hold">
                                          <p:stCondLst>
                                            <p:cond delay="0"/>
                                          </p:stCondLst>
                                        </p:cTn>
                                        <p:tgtEl>
                                          <p:spTgt spid="35"/>
                                        </p:tgtEl>
                                        <p:attrNameLst>
                                          <p:attrName>style.visibility</p:attrName>
                                        </p:attrNameLst>
                                      </p:cBhvr>
                                      <p:to>
                                        <p:strVal val="visible"/>
                                      </p:to>
                                    </p:set>
                                    <p:animEffect transition="in" filter="fade">
                                      <p:cBhvr>
                                        <p:cTn id="62" dur="500"/>
                                        <p:tgtEl>
                                          <p:spTgt spid="35"/>
                                        </p:tgtEl>
                                      </p:cBhvr>
                                    </p:animEffect>
                                    <p:anim calcmode="lin" valueType="num">
                                      <p:cBhvr>
                                        <p:cTn id="63" dur="500" decel="100000" fill="hold"/>
                                        <p:tgtEl>
                                          <p:spTgt spid="35"/>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280"/>
                                  </p:stCondLst>
                                  <p:childTnLst>
                                    <p:set>
                                      <p:cBhvr>
                                        <p:cTn id="65" dur="1" fill="hold">
                                          <p:stCondLst>
                                            <p:cond delay="0"/>
                                          </p:stCondLst>
                                        </p:cTn>
                                        <p:tgtEl>
                                          <p:spTgt spid="36"/>
                                        </p:tgtEl>
                                        <p:attrNameLst>
                                          <p:attrName>style.visibility</p:attrName>
                                        </p:attrNameLst>
                                      </p:cBhvr>
                                      <p:to>
                                        <p:strVal val="visible"/>
                                      </p:to>
                                    </p:set>
                                    <p:animEffect transition="in" filter="fade">
                                      <p:cBhvr>
                                        <p:cTn id="66" dur="500"/>
                                        <p:tgtEl>
                                          <p:spTgt spid="36"/>
                                        </p:tgtEl>
                                      </p:cBhvr>
                                    </p:animEffect>
                                    <p:anim calcmode="lin" valueType="num">
                                      <p:cBhvr>
                                        <p:cTn id="67" dur="500" decel="100000" fill="hold"/>
                                        <p:tgtEl>
                                          <p:spTgt spid="36"/>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28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anim calcmode="lin" valueType="num">
                                      <p:cBhvr>
                                        <p:cTn id="71" dur="500" decel="100000" fill="hold"/>
                                        <p:tgtEl>
                                          <p:spTgt spid="37"/>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28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anim calcmode="lin" valueType="num">
                                      <p:cBhvr>
                                        <p:cTn id="75" dur="500" decel="100000" fill="hold"/>
                                        <p:tgtEl>
                                          <p:spTgt spid="38"/>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28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anim calcmode="lin" valueType="num">
                                      <p:cBhvr>
                                        <p:cTn id="79" dur="500" decel="100000" fill="hold"/>
                                        <p:tgtEl>
                                          <p:spTgt spid="39"/>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40"/>
                                        </p:tgtEl>
                                        <p:attrNameLst>
                                          <p:attrName>style.visibility</p:attrName>
                                        </p:attrNameLst>
                                      </p:cBhvr>
                                      <p:to>
                                        <p:strVal val="visible"/>
                                      </p:to>
                                    </p:set>
                                    <p:animEffect transition="in" filter="fade">
                                      <p:cBhvr>
                                        <p:cTn id="82" dur="500"/>
                                        <p:tgtEl>
                                          <p:spTgt spid="40"/>
                                        </p:tgtEl>
                                      </p:cBhvr>
                                    </p:animEffect>
                                    <p:anim calcmode="lin" valueType="num">
                                      <p:cBhvr>
                                        <p:cTn id="83" dur="500" decel="100000" fill="hold"/>
                                        <p:tgtEl>
                                          <p:spTgt spid="40"/>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420"/>
                                  </p:stCondLst>
                                  <p:childTnLst>
                                    <p:set>
                                      <p:cBhvr>
                                        <p:cTn id="85" dur="1" fill="hold">
                                          <p:stCondLst>
                                            <p:cond delay="0"/>
                                          </p:stCondLst>
                                        </p:cTn>
                                        <p:tgtEl>
                                          <p:spTgt spid="41"/>
                                        </p:tgtEl>
                                        <p:attrNameLst>
                                          <p:attrName>style.visibility</p:attrName>
                                        </p:attrNameLst>
                                      </p:cBhvr>
                                      <p:to>
                                        <p:strVal val="visible"/>
                                      </p:to>
                                    </p:set>
                                    <p:animEffect transition="in" filter="fade">
                                      <p:cBhvr>
                                        <p:cTn id="86" dur="500"/>
                                        <p:tgtEl>
                                          <p:spTgt spid="41"/>
                                        </p:tgtEl>
                                      </p:cBhvr>
                                    </p:animEffect>
                                    <p:anim calcmode="lin" valueType="num">
                                      <p:cBhvr>
                                        <p:cTn id="87" dur="500" decel="100000" fill="hold"/>
                                        <p:tgtEl>
                                          <p:spTgt spid="41"/>
                                        </p:tgtEl>
                                        <p:attrNameLst>
                                          <p:attrName>ppt_y</p:attrName>
                                        </p:attrNameLst>
                                      </p:cBhvr>
                                      <p:tavLst>
                                        <p:tav tm="0">
                                          <p:val>
                                            <p:strVal val="#ppt_y+0.04"/>
                                          </p:val>
                                        </p:tav>
                                        <p:tav tm="100000">
                                          <p:val>
                                            <p:strVal val="#ppt_y"/>
                                          </p:val>
                                        </p:tav>
                                      </p:tavLst>
                                    </p:anim>
                                  </p:childTnLst>
                                </p:cTn>
                              </p:par>
                              <p:par>
                                <p:cTn id="88" presetID="42" presetClass="entr" presetSubtype="0" fill="hold" grpId="0" nodeType="withEffect">
                                  <p:stCondLst>
                                    <p:cond delay="420"/>
                                  </p:stCondLst>
                                  <p:childTnLst>
                                    <p:set>
                                      <p:cBhvr>
                                        <p:cTn id="89" dur="1" fill="hold">
                                          <p:stCondLst>
                                            <p:cond delay="0"/>
                                          </p:stCondLst>
                                        </p:cTn>
                                        <p:tgtEl>
                                          <p:spTgt spid="42"/>
                                        </p:tgtEl>
                                        <p:attrNameLst>
                                          <p:attrName>style.visibility</p:attrName>
                                        </p:attrNameLst>
                                      </p:cBhvr>
                                      <p:to>
                                        <p:strVal val="visible"/>
                                      </p:to>
                                    </p:set>
                                    <p:animEffect transition="in" filter="fade">
                                      <p:cBhvr>
                                        <p:cTn id="90" dur="500"/>
                                        <p:tgtEl>
                                          <p:spTgt spid="42"/>
                                        </p:tgtEl>
                                      </p:cBhvr>
                                    </p:animEffect>
                                    <p:anim calcmode="lin" valueType="num">
                                      <p:cBhvr>
                                        <p:cTn id="91" dur="500" decel="100000" fill="hold"/>
                                        <p:tgtEl>
                                          <p:spTgt spid="42"/>
                                        </p:tgtEl>
                                        <p:attrNameLst>
                                          <p:attrName>ppt_y</p:attrName>
                                        </p:attrNameLst>
                                      </p:cBhvr>
                                      <p:tavLst>
                                        <p:tav tm="0">
                                          <p:val>
                                            <p:strVal val="#ppt_y+0.04"/>
                                          </p:val>
                                        </p:tav>
                                        <p:tav tm="100000">
                                          <p:val>
                                            <p:strVal val="#ppt_y"/>
                                          </p:val>
                                        </p:tav>
                                      </p:tavLst>
                                    </p:anim>
                                  </p:childTnLst>
                                </p:cTn>
                              </p:par>
                              <p:par>
                                <p:cTn id="92" presetID="42" presetClass="entr" presetSubtype="0" fill="hold" grpId="0" nodeType="withEffect">
                                  <p:stCondLst>
                                    <p:cond delay="420"/>
                                  </p:stCondLst>
                                  <p:childTnLst>
                                    <p:set>
                                      <p:cBhvr>
                                        <p:cTn id="93" dur="1" fill="hold">
                                          <p:stCondLst>
                                            <p:cond delay="0"/>
                                          </p:stCondLst>
                                        </p:cTn>
                                        <p:tgtEl>
                                          <p:spTgt spid="43"/>
                                        </p:tgtEl>
                                        <p:attrNameLst>
                                          <p:attrName>style.visibility</p:attrName>
                                        </p:attrNameLst>
                                      </p:cBhvr>
                                      <p:to>
                                        <p:strVal val="visible"/>
                                      </p:to>
                                    </p:set>
                                    <p:animEffect transition="in" filter="fade">
                                      <p:cBhvr>
                                        <p:cTn id="94" dur="500"/>
                                        <p:tgtEl>
                                          <p:spTgt spid="43"/>
                                        </p:tgtEl>
                                      </p:cBhvr>
                                    </p:animEffect>
                                    <p:anim calcmode="lin" valueType="num">
                                      <p:cBhvr>
                                        <p:cTn id="95" dur="500" decel="100000" fill="hold"/>
                                        <p:tgtEl>
                                          <p:spTgt spid="43"/>
                                        </p:tgtEl>
                                        <p:attrNameLst>
                                          <p:attrName>ppt_y</p:attrName>
                                        </p:attrNameLst>
                                      </p:cBhvr>
                                      <p:tavLst>
                                        <p:tav tm="0">
                                          <p:val>
                                            <p:strVal val="#ppt_y+0.04"/>
                                          </p:val>
                                        </p:tav>
                                        <p:tav tm="100000">
                                          <p:val>
                                            <p:strVal val="#ppt_y"/>
                                          </p:val>
                                        </p:tav>
                                      </p:tavLst>
                                    </p:anim>
                                  </p:childTnLst>
                                </p:cTn>
                              </p:par>
                              <p:par>
                                <p:cTn id="96" presetID="42" presetClass="entr" presetSubtype="0" fill="hold" grpId="0" nodeType="withEffect">
                                  <p:stCondLst>
                                    <p:cond delay="420"/>
                                  </p:stCondLst>
                                  <p:childTnLst>
                                    <p:set>
                                      <p:cBhvr>
                                        <p:cTn id="97" dur="1" fill="hold">
                                          <p:stCondLst>
                                            <p:cond delay="0"/>
                                          </p:stCondLst>
                                        </p:cTn>
                                        <p:tgtEl>
                                          <p:spTgt spid="44"/>
                                        </p:tgtEl>
                                        <p:attrNameLst>
                                          <p:attrName>style.visibility</p:attrName>
                                        </p:attrNameLst>
                                      </p:cBhvr>
                                      <p:to>
                                        <p:strVal val="visible"/>
                                      </p:to>
                                    </p:set>
                                    <p:animEffect transition="in" filter="fade">
                                      <p:cBhvr>
                                        <p:cTn id="98" dur="500"/>
                                        <p:tgtEl>
                                          <p:spTgt spid="44"/>
                                        </p:tgtEl>
                                      </p:cBhvr>
                                    </p:animEffect>
                                    <p:anim calcmode="lin" valueType="num">
                                      <p:cBhvr>
                                        <p:cTn id="99" dur="500" decel="100000" fill="hold"/>
                                        <p:tgtEl>
                                          <p:spTgt spid="44"/>
                                        </p:tgtEl>
                                        <p:attrNameLst>
                                          <p:attrName>ppt_y</p:attrName>
                                        </p:attrNameLst>
                                      </p:cBhvr>
                                      <p:tavLst>
                                        <p:tav tm="0">
                                          <p:val>
                                            <p:strVal val="#ppt_y+0.04"/>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45"/>
                                        </p:tgtEl>
                                        <p:attrNameLst>
                                          <p:attrName>style.visibility</p:attrName>
                                        </p:attrNameLst>
                                      </p:cBhvr>
                                      <p:to>
                                        <p:strVal val="visible"/>
                                      </p:to>
                                    </p:set>
                                    <p:animEffect transition="in" filter="fade">
                                      <p:cBhvr>
                                        <p:cTn id="102" dur="500"/>
                                        <p:tgtEl>
                                          <p:spTgt spid="45"/>
                                        </p:tgtEl>
                                      </p:cBhvr>
                                    </p:animEffect>
                                    <p:anim calcmode="lin" valueType="num">
                                      <p:cBhvr>
                                        <p:cTn id="103" dur="500" decel="100000" fill="hold"/>
                                        <p:tgtEl>
                                          <p:spTgt spid="45"/>
                                        </p:tgtEl>
                                        <p:attrNameLst>
                                          <p:attrName>ppt_y</p:attrName>
                                        </p:attrNameLst>
                                      </p:cBhvr>
                                      <p:tavLst>
                                        <p:tav tm="0">
                                          <p:val>
                                            <p:strVal val="#ppt_y+0.04"/>
                                          </p:val>
                                        </p:tav>
                                        <p:tav tm="100000">
                                          <p:val>
                                            <p:strVal val="#ppt_y"/>
                                          </p:val>
                                        </p:tav>
                                      </p:tavLst>
                                    </p:anim>
                                  </p:childTnLst>
                                </p:cTn>
                              </p:par>
                              <p:par>
                                <p:cTn id="104" presetID="42" presetClass="entr" presetSubtype="0" fill="hold" grpId="0" nodeType="withEffect">
                                  <p:stCondLst>
                                    <p:cond delay="420"/>
                                  </p:stCondLst>
                                  <p:childTnLst>
                                    <p:set>
                                      <p:cBhvr>
                                        <p:cTn id="105" dur="1" fill="hold">
                                          <p:stCondLst>
                                            <p:cond delay="0"/>
                                          </p:stCondLst>
                                        </p:cTn>
                                        <p:tgtEl>
                                          <p:spTgt spid="46"/>
                                        </p:tgtEl>
                                        <p:attrNameLst>
                                          <p:attrName>style.visibility</p:attrName>
                                        </p:attrNameLst>
                                      </p:cBhvr>
                                      <p:to>
                                        <p:strVal val="visible"/>
                                      </p:to>
                                    </p:set>
                                    <p:animEffect transition="in" filter="fade">
                                      <p:cBhvr>
                                        <p:cTn id="106" dur="500"/>
                                        <p:tgtEl>
                                          <p:spTgt spid="46"/>
                                        </p:tgtEl>
                                      </p:cBhvr>
                                    </p:animEffect>
                                    <p:anim calcmode="lin" valueType="num">
                                      <p:cBhvr>
                                        <p:cTn id="107" dur="500" decel="100000" fill="hold"/>
                                        <p:tgtEl>
                                          <p:spTgt spid="46"/>
                                        </p:tgtEl>
                                        <p:attrNameLst>
                                          <p:attrName>ppt_y</p:attrName>
                                        </p:attrNameLst>
                                      </p:cBhvr>
                                      <p:tavLst>
                                        <p:tav tm="0">
                                          <p:val>
                                            <p:strVal val="#ppt_y+0.04"/>
                                          </p:val>
                                        </p:tav>
                                        <p:tav tm="100000">
                                          <p:val>
                                            <p:strVal val="#ppt_y"/>
                                          </p:val>
                                        </p:tav>
                                      </p:tavLst>
                                    </p:anim>
                                  </p:childTnLst>
                                </p:cTn>
                              </p:par>
                              <p:par>
                                <p:cTn id="108" presetID="42" presetClass="entr" presetSubtype="0" fill="hold" grpId="0" nodeType="withEffect">
                                  <p:stCondLst>
                                    <p:cond delay="420"/>
                                  </p:stCondLst>
                                  <p:childTnLst>
                                    <p:set>
                                      <p:cBhvr>
                                        <p:cTn id="109" dur="1" fill="hold">
                                          <p:stCondLst>
                                            <p:cond delay="0"/>
                                          </p:stCondLst>
                                        </p:cTn>
                                        <p:tgtEl>
                                          <p:spTgt spid="47"/>
                                        </p:tgtEl>
                                        <p:attrNameLst>
                                          <p:attrName>style.visibility</p:attrName>
                                        </p:attrNameLst>
                                      </p:cBhvr>
                                      <p:to>
                                        <p:strVal val="visible"/>
                                      </p:to>
                                    </p:set>
                                    <p:animEffect transition="in" filter="fade">
                                      <p:cBhvr>
                                        <p:cTn id="110" dur="500"/>
                                        <p:tgtEl>
                                          <p:spTgt spid="47"/>
                                        </p:tgtEl>
                                      </p:cBhvr>
                                    </p:animEffect>
                                    <p:anim calcmode="lin" valueType="num">
                                      <p:cBhvr>
                                        <p:cTn id="111" dur="500" decel="100000" fill="hold"/>
                                        <p:tgtEl>
                                          <p:spTgt spid="47"/>
                                        </p:tgtEl>
                                        <p:attrNameLst>
                                          <p:attrName>ppt_y</p:attrName>
                                        </p:attrNameLst>
                                      </p:cBhvr>
                                      <p:tavLst>
                                        <p:tav tm="0">
                                          <p:val>
                                            <p:strVal val="#ppt_y+0.04"/>
                                          </p:val>
                                        </p:tav>
                                        <p:tav tm="100000">
                                          <p:val>
                                            <p:strVal val="#ppt_y"/>
                                          </p:val>
                                        </p:tav>
                                      </p:tavLst>
                                    </p:anim>
                                  </p:childTnLst>
                                </p:cTn>
                              </p:par>
                              <p:par>
                                <p:cTn id="112" presetID="42" presetClass="entr" presetSubtype="0" fill="hold" grpId="0" nodeType="withEffect">
                                  <p:stCondLst>
                                    <p:cond delay="420"/>
                                  </p:stCondLst>
                                  <p:childTnLst>
                                    <p:set>
                                      <p:cBhvr>
                                        <p:cTn id="113" dur="1" fill="hold">
                                          <p:stCondLst>
                                            <p:cond delay="0"/>
                                          </p:stCondLst>
                                        </p:cTn>
                                        <p:tgtEl>
                                          <p:spTgt spid="48"/>
                                        </p:tgtEl>
                                        <p:attrNameLst>
                                          <p:attrName>style.visibility</p:attrName>
                                        </p:attrNameLst>
                                      </p:cBhvr>
                                      <p:to>
                                        <p:strVal val="visible"/>
                                      </p:to>
                                    </p:set>
                                    <p:animEffect transition="in" filter="fade">
                                      <p:cBhvr>
                                        <p:cTn id="114" dur="500"/>
                                        <p:tgtEl>
                                          <p:spTgt spid="48"/>
                                        </p:tgtEl>
                                      </p:cBhvr>
                                    </p:animEffect>
                                    <p:anim calcmode="lin" valueType="num">
                                      <p:cBhvr>
                                        <p:cTn id="115" dur="500" decel="100000" fill="hold"/>
                                        <p:tgtEl>
                                          <p:spTgt spid="48"/>
                                        </p:tgtEl>
                                        <p:attrNameLst>
                                          <p:attrName>ppt_y</p:attrName>
                                        </p:attrNameLst>
                                      </p:cBhvr>
                                      <p:tavLst>
                                        <p:tav tm="0">
                                          <p:val>
                                            <p:strVal val="#ppt_y+0.04"/>
                                          </p:val>
                                        </p:tav>
                                        <p:tav tm="100000">
                                          <p:val>
                                            <p:strVal val="#ppt_y"/>
                                          </p:val>
                                        </p:tav>
                                      </p:tavLst>
                                    </p:anim>
                                  </p:childTnLst>
                                </p:cTn>
                              </p:par>
                              <p:par>
                                <p:cTn id="116" presetID="42" presetClass="entr" presetSubtype="0" fill="hold" grpId="0" nodeType="withEffect">
                                  <p:stCondLst>
                                    <p:cond delay="56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500"/>
                                        <p:tgtEl>
                                          <p:spTgt spid="49"/>
                                        </p:tgtEl>
                                      </p:cBhvr>
                                    </p:animEffect>
                                    <p:anim calcmode="lin" valueType="num">
                                      <p:cBhvr>
                                        <p:cTn id="119" dur="500" decel="100000" fill="hold"/>
                                        <p:tgtEl>
                                          <p:spTgt spid="49"/>
                                        </p:tgtEl>
                                        <p:attrNameLst>
                                          <p:attrName>ppt_y</p:attrName>
                                        </p:attrNameLst>
                                      </p:cBhvr>
                                      <p:tavLst>
                                        <p:tav tm="0">
                                          <p:val>
                                            <p:strVal val="#ppt_y+0.04"/>
                                          </p:val>
                                        </p:tav>
                                        <p:tav tm="100000">
                                          <p:val>
                                            <p:strVal val="#ppt_y"/>
                                          </p:val>
                                        </p:tav>
                                      </p:tavLst>
                                    </p:anim>
                                  </p:childTnLst>
                                </p:cTn>
                              </p:par>
                              <p:par>
                                <p:cTn id="120" presetID="42" presetClass="entr" presetSubtype="0" fill="hold" grpId="0" nodeType="withEffect">
                                  <p:stCondLst>
                                    <p:cond delay="560"/>
                                  </p:stCondLst>
                                  <p:childTnLst>
                                    <p:set>
                                      <p:cBhvr>
                                        <p:cTn id="121" dur="1" fill="hold">
                                          <p:stCondLst>
                                            <p:cond delay="0"/>
                                          </p:stCondLst>
                                        </p:cTn>
                                        <p:tgtEl>
                                          <p:spTgt spid="50"/>
                                        </p:tgtEl>
                                        <p:attrNameLst>
                                          <p:attrName>style.visibility</p:attrName>
                                        </p:attrNameLst>
                                      </p:cBhvr>
                                      <p:to>
                                        <p:strVal val="visible"/>
                                      </p:to>
                                    </p:set>
                                    <p:animEffect transition="in" filter="fade">
                                      <p:cBhvr>
                                        <p:cTn id="122" dur="500"/>
                                        <p:tgtEl>
                                          <p:spTgt spid="50"/>
                                        </p:tgtEl>
                                      </p:cBhvr>
                                    </p:animEffect>
                                    <p:anim calcmode="lin" valueType="num">
                                      <p:cBhvr>
                                        <p:cTn id="123" dur="500" decel="100000" fill="hold"/>
                                        <p:tgtEl>
                                          <p:spTgt spid="50"/>
                                        </p:tgtEl>
                                        <p:attrNameLst>
                                          <p:attrName>ppt_y</p:attrName>
                                        </p:attrNameLst>
                                      </p:cBhvr>
                                      <p:tavLst>
                                        <p:tav tm="0">
                                          <p:val>
                                            <p:strVal val="#ppt_y+0.04"/>
                                          </p:val>
                                        </p:tav>
                                        <p:tav tm="100000">
                                          <p:val>
                                            <p:strVal val="#ppt_y"/>
                                          </p:val>
                                        </p:tav>
                                      </p:tavLst>
                                    </p:anim>
                                  </p:childTnLst>
                                </p:cTn>
                              </p:par>
                              <p:par>
                                <p:cTn id="124" presetID="42" presetClass="entr" presetSubtype="0" fill="hold" grpId="0" nodeType="withEffect">
                                  <p:stCondLst>
                                    <p:cond delay="560"/>
                                  </p:stCondLst>
                                  <p:childTnLst>
                                    <p:set>
                                      <p:cBhvr>
                                        <p:cTn id="125" dur="1" fill="hold">
                                          <p:stCondLst>
                                            <p:cond delay="0"/>
                                          </p:stCondLst>
                                        </p:cTn>
                                        <p:tgtEl>
                                          <p:spTgt spid="51"/>
                                        </p:tgtEl>
                                        <p:attrNameLst>
                                          <p:attrName>style.visibility</p:attrName>
                                        </p:attrNameLst>
                                      </p:cBhvr>
                                      <p:to>
                                        <p:strVal val="visible"/>
                                      </p:to>
                                    </p:set>
                                    <p:animEffect transition="in" filter="fade">
                                      <p:cBhvr>
                                        <p:cTn id="126" dur="500"/>
                                        <p:tgtEl>
                                          <p:spTgt spid="51"/>
                                        </p:tgtEl>
                                      </p:cBhvr>
                                    </p:animEffect>
                                    <p:anim calcmode="lin" valueType="num">
                                      <p:cBhvr>
                                        <p:cTn id="127" dur="500" decel="100000" fill="hold"/>
                                        <p:tgtEl>
                                          <p:spTgt spid="51"/>
                                        </p:tgtEl>
                                        <p:attrNameLst>
                                          <p:attrName>ppt_y</p:attrName>
                                        </p:attrNameLst>
                                      </p:cBhvr>
                                      <p:tavLst>
                                        <p:tav tm="0">
                                          <p:val>
                                            <p:strVal val="#ppt_y+0.04"/>
                                          </p:val>
                                        </p:tav>
                                        <p:tav tm="100000">
                                          <p:val>
                                            <p:strVal val="#ppt_y"/>
                                          </p:val>
                                        </p:tav>
                                      </p:tavLst>
                                    </p:anim>
                                  </p:childTnLst>
                                </p:cTn>
                              </p:par>
                              <p:par>
                                <p:cTn id="128" presetID="42" presetClass="entr" presetSubtype="0" fill="hold" grpId="0" nodeType="withEffect">
                                  <p:stCondLst>
                                    <p:cond delay="56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500"/>
                                        <p:tgtEl>
                                          <p:spTgt spid="52"/>
                                        </p:tgtEl>
                                      </p:cBhvr>
                                    </p:animEffect>
                                    <p:anim calcmode="lin" valueType="num">
                                      <p:cBhvr>
                                        <p:cTn id="131" dur="500" decel="100000" fill="hold"/>
                                        <p:tgtEl>
                                          <p:spTgt spid="52"/>
                                        </p:tgtEl>
                                        <p:attrNameLst>
                                          <p:attrName>ppt_y</p:attrName>
                                        </p:attrNameLst>
                                      </p:cBhvr>
                                      <p:tavLst>
                                        <p:tav tm="0">
                                          <p:val>
                                            <p:strVal val="#ppt_y+0.04"/>
                                          </p:val>
                                        </p:tav>
                                        <p:tav tm="100000">
                                          <p:val>
                                            <p:strVal val="#ppt_y"/>
                                          </p:val>
                                        </p:tav>
                                      </p:tavLst>
                                    </p:anim>
                                  </p:childTnLst>
                                </p:cTn>
                              </p:par>
                              <p:par>
                                <p:cTn id="132" presetID="42" presetClass="entr" presetSubtype="0" fill="hold" grpId="0" nodeType="withEffect">
                                  <p:stCondLst>
                                    <p:cond delay="560"/>
                                  </p:stCondLst>
                                  <p:childTnLst>
                                    <p:set>
                                      <p:cBhvr>
                                        <p:cTn id="133" dur="1" fill="hold">
                                          <p:stCondLst>
                                            <p:cond delay="0"/>
                                          </p:stCondLst>
                                        </p:cTn>
                                        <p:tgtEl>
                                          <p:spTgt spid="53"/>
                                        </p:tgtEl>
                                        <p:attrNameLst>
                                          <p:attrName>style.visibility</p:attrName>
                                        </p:attrNameLst>
                                      </p:cBhvr>
                                      <p:to>
                                        <p:strVal val="visible"/>
                                      </p:to>
                                    </p:set>
                                    <p:animEffect transition="in" filter="fade">
                                      <p:cBhvr>
                                        <p:cTn id="134" dur="500"/>
                                        <p:tgtEl>
                                          <p:spTgt spid="53"/>
                                        </p:tgtEl>
                                      </p:cBhvr>
                                    </p:animEffect>
                                    <p:anim calcmode="lin" valueType="num">
                                      <p:cBhvr>
                                        <p:cTn id="135" dur="500" decel="100000" fill="hold"/>
                                        <p:tgtEl>
                                          <p:spTgt spid="53"/>
                                        </p:tgtEl>
                                        <p:attrNameLst>
                                          <p:attrName>ppt_y</p:attrName>
                                        </p:attrNameLst>
                                      </p:cBhvr>
                                      <p:tavLst>
                                        <p:tav tm="0">
                                          <p:val>
                                            <p:strVal val="#ppt_y+0.04"/>
                                          </p:val>
                                        </p:tav>
                                        <p:tav tm="100000">
                                          <p:val>
                                            <p:strVal val="#ppt_y"/>
                                          </p:val>
                                        </p:tav>
                                      </p:tavLst>
                                    </p:anim>
                                  </p:childTnLst>
                                </p:cTn>
                              </p:par>
                              <p:par>
                                <p:cTn id="136" presetID="42" presetClass="entr" presetSubtype="0" fill="hold" grpId="0" nodeType="withEffect">
                                  <p:stCondLst>
                                    <p:cond delay="560"/>
                                  </p:stCondLst>
                                  <p:childTnLst>
                                    <p:set>
                                      <p:cBhvr>
                                        <p:cTn id="137" dur="1" fill="hold">
                                          <p:stCondLst>
                                            <p:cond delay="0"/>
                                          </p:stCondLst>
                                        </p:cTn>
                                        <p:tgtEl>
                                          <p:spTgt spid="54"/>
                                        </p:tgtEl>
                                        <p:attrNameLst>
                                          <p:attrName>style.visibility</p:attrName>
                                        </p:attrNameLst>
                                      </p:cBhvr>
                                      <p:to>
                                        <p:strVal val="visible"/>
                                      </p:to>
                                    </p:set>
                                    <p:animEffect transition="in" filter="fade">
                                      <p:cBhvr>
                                        <p:cTn id="138" dur="500"/>
                                        <p:tgtEl>
                                          <p:spTgt spid="54"/>
                                        </p:tgtEl>
                                      </p:cBhvr>
                                    </p:animEffect>
                                    <p:anim calcmode="lin" valueType="num">
                                      <p:cBhvr>
                                        <p:cTn id="139" dur="500" decel="100000" fill="hold"/>
                                        <p:tgtEl>
                                          <p:spTgt spid="54"/>
                                        </p:tgtEl>
                                        <p:attrNameLst>
                                          <p:attrName>ppt_y</p:attrName>
                                        </p:attrNameLst>
                                      </p:cBhvr>
                                      <p:tavLst>
                                        <p:tav tm="0">
                                          <p:val>
                                            <p:strVal val="#ppt_y+0.04"/>
                                          </p:val>
                                        </p:tav>
                                        <p:tav tm="100000">
                                          <p:val>
                                            <p:strVal val="#ppt_y"/>
                                          </p:val>
                                        </p:tav>
                                      </p:tavLst>
                                    </p:anim>
                                  </p:childTnLst>
                                </p:cTn>
                              </p:par>
                              <p:par>
                                <p:cTn id="140" presetID="42" presetClass="entr" presetSubtype="0" fill="hold" grpId="0" nodeType="withEffect">
                                  <p:stCondLst>
                                    <p:cond delay="5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500"/>
                                        <p:tgtEl>
                                          <p:spTgt spid="55"/>
                                        </p:tgtEl>
                                      </p:cBhvr>
                                    </p:animEffect>
                                    <p:anim calcmode="lin" valueType="num">
                                      <p:cBhvr>
                                        <p:cTn id="143" dur="500" decel="100000" fill="hold"/>
                                        <p:tgtEl>
                                          <p:spTgt spid="55"/>
                                        </p:tgtEl>
                                        <p:attrNameLst>
                                          <p:attrName>ppt_y</p:attrName>
                                        </p:attrNameLst>
                                      </p:cBhvr>
                                      <p:tavLst>
                                        <p:tav tm="0">
                                          <p:val>
                                            <p:strVal val="#ppt_y+0.04"/>
                                          </p:val>
                                        </p:tav>
                                        <p:tav tm="100000">
                                          <p:val>
                                            <p:strVal val="#ppt_y"/>
                                          </p:val>
                                        </p:tav>
                                      </p:tavLst>
                                    </p:anim>
                                  </p:childTnLst>
                                </p:cTn>
                              </p:par>
                              <p:par>
                                <p:cTn id="144" presetID="42" presetClass="entr" presetSubtype="0" fill="hold" grpId="0" nodeType="withEffect">
                                  <p:stCondLst>
                                    <p:cond delay="56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500"/>
                                        <p:tgtEl>
                                          <p:spTgt spid="56"/>
                                        </p:tgtEl>
                                      </p:cBhvr>
                                    </p:animEffect>
                                    <p:anim calcmode="lin" valueType="num">
                                      <p:cBhvr>
                                        <p:cTn id="147" dur="500" decel="100000" fill="hold"/>
                                        <p:tgtEl>
                                          <p:spTgt spid="56"/>
                                        </p:tgtEl>
                                        <p:attrNameLst>
                                          <p:attrName>ppt_y</p:attrName>
                                        </p:attrNameLst>
                                      </p:cBhvr>
                                      <p:tavLst>
                                        <p:tav tm="0">
                                          <p:val>
                                            <p:strVal val="#ppt_y+0.04"/>
                                          </p:val>
                                        </p:tav>
                                        <p:tav tm="100000">
                                          <p:val>
                                            <p:strVal val="#ppt_y"/>
                                          </p:val>
                                        </p:tav>
                                      </p:tavLst>
                                    </p:anim>
                                  </p:childTnLst>
                                </p:cTn>
                              </p:par>
                              <p:par>
                                <p:cTn id="148" presetID="42" presetClass="entr" presetSubtype="0" fill="hold" grpId="0" nodeType="withEffect">
                                  <p:stCondLst>
                                    <p:cond delay="560"/>
                                  </p:stCondLst>
                                  <p:childTnLst>
                                    <p:set>
                                      <p:cBhvr>
                                        <p:cTn id="149" dur="1" fill="hold">
                                          <p:stCondLst>
                                            <p:cond delay="0"/>
                                          </p:stCondLst>
                                        </p:cTn>
                                        <p:tgtEl>
                                          <p:spTgt spid="57"/>
                                        </p:tgtEl>
                                        <p:attrNameLst>
                                          <p:attrName>style.visibility</p:attrName>
                                        </p:attrNameLst>
                                      </p:cBhvr>
                                      <p:to>
                                        <p:strVal val="visible"/>
                                      </p:to>
                                    </p:set>
                                    <p:animEffect transition="in" filter="fade">
                                      <p:cBhvr>
                                        <p:cTn id="150" dur="500"/>
                                        <p:tgtEl>
                                          <p:spTgt spid="57"/>
                                        </p:tgtEl>
                                      </p:cBhvr>
                                    </p:animEffect>
                                    <p:anim calcmode="lin" valueType="num">
                                      <p:cBhvr>
                                        <p:cTn id="151" dur="500" decel="100000" fill="hold"/>
                                        <p:tgtEl>
                                          <p:spTgt spid="57"/>
                                        </p:tgtEl>
                                        <p:attrNameLst>
                                          <p:attrName>ppt_y</p:attrName>
                                        </p:attrNameLst>
                                      </p:cBhvr>
                                      <p:tavLst>
                                        <p:tav tm="0">
                                          <p:val>
                                            <p:strVal val="#ppt_y+0.04"/>
                                          </p:val>
                                        </p:tav>
                                        <p:tav tm="100000">
                                          <p:val>
                                            <p:strVal val="#ppt_y"/>
                                          </p:val>
                                        </p:tav>
                                      </p:tavLst>
                                    </p:anim>
                                  </p:childTnLst>
                                </p:cTn>
                              </p:par>
                              <p:par>
                                <p:cTn id="152" presetID="42" presetClass="entr" presetSubtype="0" fill="hold" grpId="0" nodeType="withEffect">
                                  <p:stCondLst>
                                    <p:cond delay="700"/>
                                  </p:stCondLst>
                                  <p:childTnLst>
                                    <p:set>
                                      <p:cBhvr>
                                        <p:cTn id="153" dur="1" fill="hold">
                                          <p:stCondLst>
                                            <p:cond delay="0"/>
                                          </p:stCondLst>
                                        </p:cTn>
                                        <p:tgtEl>
                                          <p:spTgt spid="58"/>
                                        </p:tgtEl>
                                        <p:attrNameLst>
                                          <p:attrName>style.visibility</p:attrName>
                                        </p:attrNameLst>
                                      </p:cBhvr>
                                      <p:to>
                                        <p:strVal val="visible"/>
                                      </p:to>
                                    </p:set>
                                    <p:animEffect transition="in" filter="fade">
                                      <p:cBhvr>
                                        <p:cTn id="154" dur="500"/>
                                        <p:tgtEl>
                                          <p:spTgt spid="58"/>
                                        </p:tgtEl>
                                      </p:cBhvr>
                                    </p:animEffect>
                                    <p:anim calcmode="lin" valueType="num">
                                      <p:cBhvr>
                                        <p:cTn id="155" dur="500" decel="100000" fill="hold"/>
                                        <p:tgtEl>
                                          <p:spTgt spid="58"/>
                                        </p:tgtEl>
                                        <p:attrNameLst>
                                          <p:attrName>ppt_y</p:attrName>
                                        </p:attrNameLst>
                                      </p:cBhvr>
                                      <p:tavLst>
                                        <p:tav tm="0">
                                          <p:val>
                                            <p:strVal val="#ppt_y+0.04"/>
                                          </p:val>
                                        </p:tav>
                                        <p:tav tm="100000">
                                          <p:val>
                                            <p:strVal val="#ppt_y"/>
                                          </p:val>
                                        </p:tav>
                                      </p:tavLst>
                                    </p:anim>
                                  </p:childTnLst>
                                </p:cTn>
                              </p:par>
                              <p:par>
                                <p:cTn id="156" presetID="42" presetClass="entr" presetSubtype="0" fill="hold" grpId="0" nodeType="withEffect">
                                  <p:stCondLst>
                                    <p:cond delay="700"/>
                                  </p:stCondLst>
                                  <p:childTnLst>
                                    <p:set>
                                      <p:cBhvr>
                                        <p:cTn id="157" dur="1" fill="hold">
                                          <p:stCondLst>
                                            <p:cond delay="0"/>
                                          </p:stCondLst>
                                        </p:cTn>
                                        <p:tgtEl>
                                          <p:spTgt spid="59"/>
                                        </p:tgtEl>
                                        <p:attrNameLst>
                                          <p:attrName>style.visibility</p:attrName>
                                        </p:attrNameLst>
                                      </p:cBhvr>
                                      <p:to>
                                        <p:strVal val="visible"/>
                                      </p:to>
                                    </p:set>
                                    <p:animEffect transition="in" filter="fade">
                                      <p:cBhvr>
                                        <p:cTn id="158" dur="500"/>
                                        <p:tgtEl>
                                          <p:spTgt spid="59"/>
                                        </p:tgtEl>
                                      </p:cBhvr>
                                    </p:animEffect>
                                    <p:anim calcmode="lin" valueType="num">
                                      <p:cBhvr>
                                        <p:cTn id="159" dur="500" decel="100000" fill="hold"/>
                                        <p:tgtEl>
                                          <p:spTgt spid="59"/>
                                        </p:tgtEl>
                                        <p:attrNameLst>
                                          <p:attrName>ppt_y</p:attrName>
                                        </p:attrNameLst>
                                      </p:cBhvr>
                                      <p:tavLst>
                                        <p:tav tm="0">
                                          <p:val>
                                            <p:strVal val="#ppt_y+0.04"/>
                                          </p:val>
                                        </p:tav>
                                        <p:tav tm="100000">
                                          <p:val>
                                            <p:strVal val="#ppt_y"/>
                                          </p:val>
                                        </p:tav>
                                      </p:tavLst>
                                    </p:anim>
                                  </p:childTnLst>
                                </p:cTn>
                              </p:par>
                              <p:par>
                                <p:cTn id="160" presetID="42" presetClass="entr" presetSubtype="0" fill="hold" grpId="0" nodeType="withEffect">
                                  <p:stCondLst>
                                    <p:cond delay="840"/>
                                  </p:stCondLst>
                                  <p:childTnLst>
                                    <p:set>
                                      <p:cBhvr>
                                        <p:cTn id="161" dur="1" fill="hold">
                                          <p:stCondLst>
                                            <p:cond delay="0"/>
                                          </p:stCondLst>
                                        </p:cTn>
                                        <p:tgtEl>
                                          <p:spTgt spid="60"/>
                                        </p:tgtEl>
                                        <p:attrNameLst>
                                          <p:attrName>style.visibility</p:attrName>
                                        </p:attrNameLst>
                                      </p:cBhvr>
                                      <p:to>
                                        <p:strVal val="visible"/>
                                      </p:to>
                                    </p:set>
                                    <p:animEffect transition="in" filter="fade">
                                      <p:cBhvr>
                                        <p:cTn id="162" dur="500"/>
                                        <p:tgtEl>
                                          <p:spTgt spid="60"/>
                                        </p:tgtEl>
                                      </p:cBhvr>
                                    </p:animEffect>
                                    <p:anim calcmode="lin" valueType="num">
                                      <p:cBhvr>
                                        <p:cTn id="163" dur="500" decel="100000" fill="hold"/>
                                        <p:tgtEl>
                                          <p:spTgt spid="60"/>
                                        </p:tgtEl>
                                        <p:attrNameLst>
                                          <p:attrName>ppt_y</p:attrName>
                                        </p:attrNameLst>
                                      </p:cBhvr>
                                      <p:tavLst>
                                        <p:tav tm="0">
                                          <p:val>
                                            <p:strVal val="#ppt_y+0.04"/>
                                          </p:val>
                                        </p:tav>
                                        <p:tav tm="100000">
                                          <p:val>
                                            <p:strVal val="#ppt_y"/>
                                          </p:val>
                                        </p:tav>
                                      </p:tavLst>
                                    </p:anim>
                                  </p:childTnLst>
                                </p:cTn>
                              </p:par>
                              <p:par>
                                <p:cTn id="164" presetID="42" presetClass="entr" presetSubtype="0" fill="hold" grpId="0" nodeType="withEffect">
                                  <p:stCondLst>
                                    <p:cond delay="840"/>
                                  </p:stCondLst>
                                  <p:childTnLst>
                                    <p:set>
                                      <p:cBhvr>
                                        <p:cTn id="165" dur="1" fill="hold">
                                          <p:stCondLst>
                                            <p:cond delay="0"/>
                                          </p:stCondLst>
                                        </p:cTn>
                                        <p:tgtEl>
                                          <p:spTgt spid="61"/>
                                        </p:tgtEl>
                                        <p:attrNameLst>
                                          <p:attrName>style.visibility</p:attrName>
                                        </p:attrNameLst>
                                      </p:cBhvr>
                                      <p:to>
                                        <p:strVal val="visible"/>
                                      </p:to>
                                    </p:set>
                                    <p:animEffect transition="in" filter="fade">
                                      <p:cBhvr>
                                        <p:cTn id="166" dur="500"/>
                                        <p:tgtEl>
                                          <p:spTgt spid="61"/>
                                        </p:tgtEl>
                                      </p:cBhvr>
                                    </p:animEffect>
                                    <p:anim calcmode="lin" valueType="num">
                                      <p:cBhvr>
                                        <p:cTn id="167" dur="500" decel="100000" fill="hold"/>
                                        <p:tgtEl>
                                          <p:spTgt spid="6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8" grpId="0" animBg="1"/>
      <p:bldP spid="29" grpId="0" animBg="1"/>
      <p:bldP spid="30" grpId="0" animBg="1"/>
      <p:bldP spid="31" grpId="0" animBg="1"/>
      <p:bldP spid="32"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09  ·  FINDINGS &amp; LIMITATIONS</a:t>
            </a:r>
            <a:endParaRPr lang="en-US" sz="1200" dirty="0"/>
          </a:p>
        </p:txBody>
      </p:sp>
      <p:sp>
        <p:nvSpPr>
          <p:cNvPr id="3" name="!!title"/>
          <p:cNvSpPr txBox="1"/>
          <p:nvPr/>
        </p:nvSpPr>
        <p:spPr>
          <a:xfrm>
            <a:off x="548640" y="804672"/>
            <a:ext cx="1042416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More context helps, up to a point and at a price</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09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91440" cy="91440"/>
          </a:xfrm>
          <a:prstGeom prst="roundRect">
            <a:avLst>
              <a:gd name="adj" fmla="val 50000"/>
            </a:avLst>
          </a:prstGeom>
          <a:solidFill>
            <a:srgbClr val="C97700">
              <a:alpha val="45000"/>
            </a:srgbClr>
          </a:solidFill>
          <a:ln/>
        </p:spPr>
      </p:sp>
      <p:sp>
        <p:nvSpPr>
          <p:cNvPr id="10" name="!!dot5"/>
          <p:cNvSpPr/>
          <p:nvPr/>
        </p:nvSpPr>
        <p:spPr>
          <a:xfrm>
            <a:off x="10378440" y="6451092"/>
            <a:ext cx="91440" cy="91440"/>
          </a:xfrm>
          <a:prstGeom prst="roundRect">
            <a:avLst>
              <a:gd name="adj" fmla="val 50000"/>
            </a:avLst>
          </a:prstGeom>
          <a:solidFill>
            <a:srgbClr val="C97700">
              <a:alpha val="45000"/>
            </a:srgbClr>
          </a:solidFill>
          <a:ln/>
        </p:spPr>
      </p:sp>
      <p:sp>
        <p:nvSpPr>
          <p:cNvPr id="11" name="!!dot6"/>
          <p:cNvSpPr/>
          <p:nvPr/>
        </p:nvSpPr>
        <p:spPr>
          <a:xfrm>
            <a:off x="10561320" y="6451092"/>
            <a:ext cx="91440" cy="91440"/>
          </a:xfrm>
          <a:prstGeom prst="roundRect">
            <a:avLst>
              <a:gd name="adj" fmla="val 50000"/>
            </a:avLst>
          </a:prstGeom>
          <a:solidFill>
            <a:srgbClr val="C97700">
              <a:alpha val="45000"/>
            </a:srgbClr>
          </a:solidFill>
          <a:ln/>
        </p:spPr>
      </p:sp>
      <p:sp>
        <p:nvSpPr>
          <p:cNvPr id="12" name="!!dot7"/>
          <p:cNvSpPr/>
          <p:nvPr/>
        </p:nvSpPr>
        <p:spPr>
          <a:xfrm>
            <a:off x="10744200" y="6451092"/>
            <a:ext cx="91440" cy="91440"/>
          </a:xfrm>
          <a:prstGeom prst="roundRect">
            <a:avLst>
              <a:gd name="adj" fmla="val 50000"/>
            </a:avLst>
          </a:prstGeom>
          <a:solidFill>
            <a:srgbClr val="C97700">
              <a:alpha val="45000"/>
            </a:srgbClr>
          </a:solidFill>
          <a:ln/>
        </p:spPr>
      </p:sp>
      <p:sp>
        <p:nvSpPr>
          <p:cNvPr id="13" name="!!dot8"/>
          <p:cNvSpPr/>
          <p:nvPr/>
        </p:nvSpPr>
        <p:spPr>
          <a:xfrm>
            <a:off x="10927080" y="6451092"/>
            <a:ext cx="91440" cy="91440"/>
          </a:xfrm>
          <a:prstGeom prst="roundRect">
            <a:avLst>
              <a:gd name="adj" fmla="val 50000"/>
            </a:avLst>
          </a:prstGeom>
          <a:solidFill>
            <a:srgbClr val="C97700">
              <a:alpha val="45000"/>
            </a:srgbClr>
          </a:solidFill>
          <a:ln/>
        </p:spPr>
      </p:sp>
      <p:sp>
        <p:nvSpPr>
          <p:cNvPr id="14" name="!!dot9"/>
          <p:cNvSpPr/>
          <p:nvPr/>
        </p:nvSpPr>
        <p:spPr>
          <a:xfrm>
            <a:off x="11109960" y="6451092"/>
            <a:ext cx="365760" cy="91440"/>
          </a:xfrm>
          <a:prstGeom prst="roundRect">
            <a:avLst>
              <a:gd name="adj" fmla="val 50000"/>
            </a:avLst>
          </a:prstGeom>
          <a:solidFill>
            <a:srgbClr val="C97700"/>
          </a:solidFill>
          <a:ln/>
        </p:spPr>
      </p:sp>
      <p:sp>
        <p:nvSpPr>
          <p:cNvPr id="15" name="!!dot10"/>
          <p:cNvSpPr/>
          <p:nvPr/>
        </p:nvSpPr>
        <p:spPr>
          <a:xfrm>
            <a:off x="11567160" y="6451092"/>
            <a:ext cx="91440" cy="91440"/>
          </a:xfrm>
          <a:prstGeom prst="roundRect">
            <a:avLst>
              <a:gd name="adj" fmla="val 50000"/>
            </a:avLst>
          </a:prstGeom>
          <a:solidFill>
            <a:srgbClr val="D9DCE8"/>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fL"/>
          <p:cNvSpPr txBox="1"/>
          <p:nvPr/>
        </p:nvSpPr>
        <p:spPr>
          <a:xfrm>
            <a:off x="548640" y="1810512"/>
            <a:ext cx="2743200" cy="256032"/>
          </a:xfrm>
          <a:prstGeom prst="rect">
            <a:avLst/>
          </a:prstGeom>
          <a:noFill/>
          <a:ln/>
        </p:spPr>
        <p:txBody>
          <a:bodyPr wrap="square" lIns="0" tIns="0" rIns="0" bIns="0" rtlCol="0" anchor="t"/>
          <a:lstStyle/>
          <a:p>
            <a:pPr indent="0" marL="0">
              <a:buNone/>
            </a:pPr>
            <a:r>
              <a:rPr lang="en-US" sz="1100" spc="200" kern="0" dirty="0">
                <a:solidFill>
                  <a:srgbClr val="C97700"/>
                </a:solidFill>
                <a:latin typeface="Consolas" pitchFamily="34" charset="0"/>
                <a:ea typeface="Consolas" pitchFamily="34" charset="-122"/>
                <a:cs typeface="Consolas" pitchFamily="34" charset="-120"/>
              </a:rPr>
              <a:t>FINDINGS</a:t>
            </a:r>
            <a:endParaRPr lang="en-US" sz="1100" dirty="0"/>
          </a:p>
        </p:txBody>
      </p:sp>
      <p:sp>
        <p:nvSpPr>
          <p:cNvPr id="18" name="fI0"/>
          <p:cNvSpPr/>
          <p:nvPr/>
        </p:nvSpPr>
        <p:spPr>
          <a:xfrm>
            <a:off x="548640" y="2194560"/>
            <a:ext cx="603504" cy="603504"/>
          </a:xfrm>
          <a:prstGeom prst="ellipse">
            <a:avLst/>
          </a:prstGeom>
          <a:solidFill>
            <a:srgbClr val="C97700">
              <a:alpha val="18000"/>
            </a:srgbClr>
          </a:solidFill>
          <a:ln/>
        </p:spPr>
      </p:sp>
      <p:pic>
        <p:nvPicPr>
          <p:cNvPr id="19" name="fI0_i" descr="preencoded.png">    </p:cNvPr>
          <p:cNvPicPr>
            <a:picLocks noChangeAspect="1"/>
          </p:cNvPicPr>
          <p:nvPr/>
        </p:nvPicPr>
        <p:blipFill>
          <a:blip r:embed="rId1"/>
          <a:stretch>
            <a:fillRect/>
          </a:stretch>
        </p:blipFill>
        <p:spPr>
          <a:xfrm>
            <a:off x="693481" y="2339401"/>
            <a:ext cx="313822" cy="313822"/>
          </a:xfrm>
          <a:prstGeom prst="rect">
            <a:avLst/>
          </a:prstGeom>
        </p:spPr>
      </p:pic>
      <p:sp>
        <p:nvSpPr>
          <p:cNvPr id="20" name="fN0"/>
          <p:cNvSpPr txBox="1"/>
          <p:nvPr/>
        </p:nvSpPr>
        <p:spPr>
          <a:xfrm>
            <a:off x="1371600" y="2176272"/>
            <a:ext cx="5120640" cy="310896"/>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Accuracy</a:t>
            </a:r>
            <a:endParaRPr lang="en-US" sz="1600" dirty="0"/>
          </a:p>
        </p:txBody>
      </p:sp>
      <p:sp>
        <p:nvSpPr>
          <p:cNvPr id="21" name="fD0"/>
          <p:cNvSpPr txBox="1"/>
          <p:nvPr/>
        </p:nvSpPr>
        <p:spPr>
          <a:xfrm>
            <a:off x="1371600" y="2487168"/>
            <a:ext cx="5303520" cy="548640"/>
          </a:xfrm>
          <a:prstGeom prst="rect">
            <a:avLst/>
          </a:prstGeom>
          <a:noFill/>
          <a:ln/>
        </p:spPr>
        <p:txBody>
          <a:bodyPr wrap="square" lIns="0" tIns="0" rIns="0" bIns="0" rtlCol="0" anchor="t"/>
          <a:lstStyle/>
          <a:p>
            <a:pPr indent="0" marL="0">
              <a:buNone/>
            </a:pPr>
            <a:r>
              <a:rPr lang="en-US" sz="1400" dirty="0">
                <a:solidFill>
                  <a:srgbClr val="565B75"/>
                </a:solidFill>
                <a:latin typeface="Calibri" pitchFamily="34" charset="0"/>
                <a:ea typeface="Calibri" pitchFamily="34" charset="-122"/>
                <a:cs typeface="Calibri" pitchFamily="34" charset="-120"/>
              </a:rPr>
              <a:t>32% → 51% → 59%: a significant gain up to K = 3, then a plateau (H1 supported)</a:t>
            </a:r>
            <a:endParaRPr lang="en-US" sz="1400" dirty="0"/>
          </a:p>
        </p:txBody>
      </p:sp>
      <p:sp>
        <p:nvSpPr>
          <p:cNvPr id="22" name="fI1"/>
          <p:cNvSpPr/>
          <p:nvPr/>
        </p:nvSpPr>
        <p:spPr>
          <a:xfrm>
            <a:off x="548640" y="3154680"/>
            <a:ext cx="603504" cy="603504"/>
          </a:xfrm>
          <a:prstGeom prst="ellipse">
            <a:avLst/>
          </a:prstGeom>
          <a:solidFill>
            <a:srgbClr val="0E9C86">
              <a:alpha val="18000"/>
            </a:srgbClr>
          </a:solidFill>
          <a:ln/>
        </p:spPr>
      </p:sp>
      <p:pic>
        <p:nvPicPr>
          <p:cNvPr id="23" name="fI1_i" descr="preencoded.png">    </p:cNvPr>
          <p:cNvPicPr>
            <a:picLocks noChangeAspect="1"/>
          </p:cNvPicPr>
          <p:nvPr/>
        </p:nvPicPr>
        <p:blipFill>
          <a:blip r:embed="rId2"/>
          <a:stretch>
            <a:fillRect/>
          </a:stretch>
        </p:blipFill>
        <p:spPr>
          <a:xfrm>
            <a:off x="693481" y="3299521"/>
            <a:ext cx="313822" cy="313822"/>
          </a:xfrm>
          <a:prstGeom prst="rect">
            <a:avLst/>
          </a:prstGeom>
        </p:spPr>
      </p:pic>
      <p:sp>
        <p:nvSpPr>
          <p:cNvPr id="24" name="fN1"/>
          <p:cNvSpPr txBox="1"/>
          <p:nvPr/>
        </p:nvSpPr>
        <p:spPr>
          <a:xfrm>
            <a:off x="1371600" y="3136392"/>
            <a:ext cx="5120640" cy="310896"/>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Context relevance</a:t>
            </a:r>
            <a:endParaRPr lang="en-US" sz="1600" dirty="0"/>
          </a:p>
        </p:txBody>
      </p:sp>
      <p:sp>
        <p:nvSpPr>
          <p:cNvPr id="25" name="fD1"/>
          <p:cNvSpPr txBox="1"/>
          <p:nvPr/>
        </p:nvSpPr>
        <p:spPr>
          <a:xfrm>
            <a:off x="1371600" y="3447288"/>
            <a:ext cx="5303520" cy="548640"/>
          </a:xfrm>
          <a:prstGeom prst="rect">
            <a:avLst/>
          </a:prstGeom>
          <a:noFill/>
          <a:ln/>
        </p:spPr>
        <p:txBody>
          <a:bodyPr wrap="square" lIns="0" tIns="0" rIns="0" bIns="0" rtlCol="0" anchor="t"/>
          <a:lstStyle/>
          <a:p>
            <a:pPr indent="0" marL="0">
              <a:buNone/>
            </a:pPr>
            <a:r>
              <a:rPr lang="en-US" sz="1400" dirty="0">
                <a:solidFill>
                  <a:srgbClr val="565B75"/>
                </a:solidFill>
                <a:latin typeface="Calibri" pitchFamily="34" charset="0"/>
                <a:ea typeface="Calibri" pitchFamily="34" charset="-122"/>
                <a:cs typeface="Calibri" pitchFamily="34" charset="-120"/>
              </a:rPr>
              <a:t>Fact recall 46% → 87%, but chunk precision 78% → 50% (H2 supported)</a:t>
            </a:r>
            <a:endParaRPr lang="en-US" sz="1400" dirty="0"/>
          </a:p>
        </p:txBody>
      </p:sp>
      <p:sp>
        <p:nvSpPr>
          <p:cNvPr id="26" name="fI2"/>
          <p:cNvSpPr/>
          <p:nvPr/>
        </p:nvSpPr>
        <p:spPr>
          <a:xfrm>
            <a:off x="548640" y="4114800"/>
            <a:ext cx="603504" cy="603504"/>
          </a:xfrm>
          <a:prstGeom prst="ellipse">
            <a:avLst/>
          </a:prstGeom>
          <a:solidFill>
            <a:srgbClr val="E0474C">
              <a:alpha val="18000"/>
            </a:srgbClr>
          </a:solidFill>
          <a:ln/>
        </p:spPr>
      </p:sp>
      <p:pic>
        <p:nvPicPr>
          <p:cNvPr id="27" name="fI2_i" descr="preencoded.png">    </p:cNvPr>
          <p:cNvPicPr>
            <a:picLocks noChangeAspect="1"/>
          </p:cNvPicPr>
          <p:nvPr/>
        </p:nvPicPr>
        <p:blipFill>
          <a:blip r:embed="rId3"/>
          <a:stretch>
            <a:fillRect/>
          </a:stretch>
        </p:blipFill>
        <p:spPr>
          <a:xfrm>
            <a:off x="693481" y="4259641"/>
            <a:ext cx="313822" cy="313822"/>
          </a:xfrm>
          <a:prstGeom prst="rect">
            <a:avLst/>
          </a:prstGeom>
        </p:spPr>
      </p:pic>
      <p:sp>
        <p:nvSpPr>
          <p:cNvPr id="28" name="fN2"/>
          <p:cNvSpPr txBox="1"/>
          <p:nvPr/>
        </p:nvSpPr>
        <p:spPr>
          <a:xfrm>
            <a:off x="1371600" y="4096512"/>
            <a:ext cx="5120640" cy="310896"/>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Hallucination</a:t>
            </a:r>
            <a:endParaRPr lang="en-US" sz="1600" dirty="0"/>
          </a:p>
        </p:txBody>
      </p:sp>
      <p:sp>
        <p:nvSpPr>
          <p:cNvPr id="29" name="fD2"/>
          <p:cNvSpPr txBox="1"/>
          <p:nvPr/>
        </p:nvSpPr>
        <p:spPr>
          <a:xfrm>
            <a:off x="1371600" y="4407408"/>
            <a:ext cx="5303520" cy="548640"/>
          </a:xfrm>
          <a:prstGeom prst="rect">
            <a:avLst/>
          </a:prstGeom>
          <a:noFill/>
          <a:ln/>
        </p:spPr>
        <p:txBody>
          <a:bodyPr wrap="square" lIns="0" tIns="0" rIns="0" bIns="0" rtlCol="0" anchor="t"/>
          <a:lstStyle/>
          <a:p>
            <a:pPr indent="0" marL="0">
              <a:buNone/>
            </a:pPr>
            <a:r>
              <a:rPr lang="en-US" sz="1400" dirty="0">
                <a:solidFill>
                  <a:srgbClr val="565B75"/>
                </a:solidFill>
                <a:latin typeface="Calibri" pitchFamily="34" charset="0"/>
                <a:ea typeface="Calibri" pitchFamily="34" charset="-122"/>
                <a:cs typeface="Calibri" pitchFamily="34" charset="-120"/>
              </a:rPr>
              <a:t>Unsupported claims fall 54% → 7% as more evidence is supplied</a:t>
            </a:r>
            <a:endParaRPr lang="en-US" sz="1400" dirty="0"/>
          </a:p>
        </p:txBody>
      </p:sp>
      <p:sp>
        <p:nvSpPr>
          <p:cNvPr id="30" name="fI3"/>
          <p:cNvSpPr/>
          <p:nvPr/>
        </p:nvSpPr>
        <p:spPr>
          <a:xfrm>
            <a:off x="548640" y="5074920"/>
            <a:ext cx="603504" cy="603504"/>
          </a:xfrm>
          <a:prstGeom prst="ellipse">
            <a:avLst/>
          </a:prstGeom>
          <a:solidFill>
            <a:srgbClr val="7656E0">
              <a:alpha val="18000"/>
            </a:srgbClr>
          </a:solidFill>
          <a:ln/>
        </p:spPr>
      </p:sp>
      <p:pic>
        <p:nvPicPr>
          <p:cNvPr id="31" name="fI3_i" descr="preencoded.png">    </p:cNvPr>
          <p:cNvPicPr>
            <a:picLocks noChangeAspect="1"/>
          </p:cNvPicPr>
          <p:nvPr/>
        </p:nvPicPr>
        <p:blipFill>
          <a:blip r:embed="rId4"/>
          <a:stretch>
            <a:fillRect/>
          </a:stretch>
        </p:blipFill>
        <p:spPr>
          <a:xfrm>
            <a:off x="693481" y="5219761"/>
            <a:ext cx="313822" cy="313822"/>
          </a:xfrm>
          <a:prstGeom prst="rect">
            <a:avLst/>
          </a:prstGeom>
        </p:spPr>
      </p:pic>
      <p:sp>
        <p:nvSpPr>
          <p:cNvPr id="32" name="fN3"/>
          <p:cNvSpPr txBox="1"/>
          <p:nvPr/>
        </p:nvSpPr>
        <p:spPr>
          <a:xfrm>
            <a:off x="1371600" y="5056632"/>
            <a:ext cx="5120640" cy="310896"/>
          </a:xfrm>
          <a:prstGeom prst="rect">
            <a:avLst/>
          </a:prstGeom>
          <a:noFill/>
          <a:ln/>
        </p:spPr>
        <p:txBody>
          <a:bodyPr wrap="square" lIns="0" tIns="0" rIns="0" bIns="0" rtlCol="0" anchor="t"/>
          <a:lstStyle/>
          <a:p>
            <a:pPr indent="0" marL="0">
              <a:buNone/>
            </a:pPr>
            <a:r>
              <a:rPr lang="en-US" sz="1600" b="1" dirty="0">
                <a:solidFill>
                  <a:srgbClr val="16182B"/>
                </a:solidFill>
                <a:latin typeface="Calibri" pitchFamily="34" charset="0"/>
                <a:ea typeface="Calibri" pitchFamily="34" charset="-122"/>
                <a:cs typeface="Calibri" pitchFamily="34" charset="-120"/>
              </a:rPr>
              <a:t>Response time</a:t>
            </a:r>
            <a:endParaRPr lang="en-US" sz="1600" dirty="0"/>
          </a:p>
        </p:txBody>
      </p:sp>
      <p:sp>
        <p:nvSpPr>
          <p:cNvPr id="33" name="fD3"/>
          <p:cNvSpPr txBox="1"/>
          <p:nvPr/>
        </p:nvSpPr>
        <p:spPr>
          <a:xfrm>
            <a:off x="1371600" y="5367528"/>
            <a:ext cx="5303520" cy="548640"/>
          </a:xfrm>
          <a:prstGeom prst="rect">
            <a:avLst/>
          </a:prstGeom>
          <a:noFill/>
          <a:ln/>
        </p:spPr>
        <p:txBody>
          <a:bodyPr wrap="square" lIns="0" tIns="0" rIns="0" bIns="0" rtlCol="0" anchor="t"/>
          <a:lstStyle/>
          <a:p>
            <a:pPr indent="0" marL="0">
              <a:buNone/>
            </a:pPr>
            <a:r>
              <a:rPr lang="en-US" sz="1400" dirty="0">
                <a:solidFill>
                  <a:srgbClr val="565B75"/>
                </a:solidFill>
                <a:latin typeface="Calibri" pitchFamily="34" charset="0"/>
                <a:ea typeface="Calibri" pitchFamily="34" charset="-122"/>
                <a:cs typeface="Calibri" pitchFamily="34" charset="-120"/>
              </a:rPr>
              <a:t>7.0 s → 51.5 s median; prompts grow 1.1k → 8.7k tokens (H3 supported)</a:t>
            </a:r>
            <a:endParaRPr lang="en-US" sz="1400" dirty="0"/>
          </a:p>
        </p:txBody>
      </p:sp>
      <p:sp>
        <p:nvSpPr>
          <p:cNvPr id="34" name="!!lensGlow"/>
          <p:cNvSpPr/>
          <p:nvPr/>
        </p:nvSpPr>
        <p:spPr>
          <a:xfrm>
            <a:off x="456743" y="2102663"/>
            <a:ext cx="787298" cy="787298"/>
          </a:xfrm>
          <a:prstGeom prst="ellipse">
            <a:avLst/>
          </a:prstGeom>
          <a:solidFill>
            <a:srgbClr val="C97700">
              <a:alpha val="8000"/>
            </a:srgbClr>
          </a:solidFill>
          <a:ln/>
        </p:spPr>
      </p:sp>
      <p:sp>
        <p:nvSpPr>
          <p:cNvPr id="35" name="!!lensInner"/>
          <p:cNvSpPr/>
          <p:nvPr/>
        </p:nvSpPr>
        <p:spPr>
          <a:xfrm>
            <a:off x="533552" y="2179472"/>
            <a:ext cx="633679" cy="633679"/>
          </a:xfrm>
          <a:prstGeom prst="ellipse">
            <a:avLst/>
          </a:prstGeom>
          <a:ln w="12700">
            <a:solidFill>
              <a:srgbClr val="0E9C86">
                <a:alpha val="45000"/>
              </a:srgbClr>
            </a:solidFill>
            <a:prstDash val="solid"/>
          </a:ln>
        </p:spPr>
      </p:sp>
      <p:sp>
        <p:nvSpPr>
          <p:cNvPr id="36" name="!!lensRing"/>
          <p:cNvSpPr/>
          <p:nvPr/>
        </p:nvSpPr>
        <p:spPr>
          <a:xfrm>
            <a:off x="370332" y="2016252"/>
            <a:ext cx="960120" cy="960120"/>
          </a:xfrm>
          <a:prstGeom prst="ellipse">
            <a:avLst/>
          </a:prstGeom>
          <a:ln w="25400">
            <a:solidFill>
              <a:srgbClr val="C97700"/>
            </a:solidFill>
            <a:prstDash val="solid"/>
          </a:ln>
        </p:spPr>
      </p:sp>
      <p:sp>
        <p:nvSpPr>
          <p:cNvPr id="37" name="!!lensGlint"/>
          <p:cNvSpPr/>
          <p:nvPr/>
        </p:nvSpPr>
        <p:spPr>
          <a:xfrm>
            <a:off x="1144126" y="2111138"/>
            <a:ext cx="91440" cy="91440"/>
          </a:xfrm>
          <a:prstGeom prst="ellipse">
            <a:avLst/>
          </a:prstGeom>
          <a:solidFill>
            <a:srgbClr val="C97700"/>
          </a:solidFill>
          <a:ln/>
        </p:spPr>
      </p:sp>
      <p:sp>
        <p:nvSpPr>
          <p:cNvPr id="38" name="lim"/>
          <p:cNvSpPr/>
          <p:nvPr/>
        </p:nvSpPr>
        <p:spPr>
          <a:xfrm>
            <a:off x="7178040" y="1783080"/>
            <a:ext cx="4434840" cy="4069080"/>
          </a:xfrm>
          <a:prstGeom prst="roundRect">
            <a:avLst>
              <a:gd name="adj" fmla="val 3146"/>
            </a:avLst>
          </a:prstGeom>
          <a:solidFill>
            <a:srgbClr val="FFFFFF"/>
          </a:solidFill>
          <a:ln w="9525">
            <a:solidFill>
              <a:srgbClr val="D9DCE8"/>
            </a:solidFill>
            <a:prstDash val="solid"/>
          </a:ln>
          <a:effectLst>
            <a:outerShdw sx="100000" sy="100000" kx="0" ky="0" algn="bl" rotWithShape="0" blurRad="177800" dist="50800" dir="5400000">
              <a:srgbClr val="1B2140">
                <a:alpha val="10000"/>
              </a:srgbClr>
            </a:outerShdw>
          </a:effectLst>
        </p:spPr>
      </p:sp>
      <p:sp>
        <p:nvSpPr>
          <p:cNvPr id="39" name="limL"/>
          <p:cNvSpPr txBox="1"/>
          <p:nvPr/>
        </p:nvSpPr>
        <p:spPr>
          <a:xfrm>
            <a:off x="7452360" y="2011680"/>
            <a:ext cx="3657600" cy="256032"/>
          </a:xfrm>
          <a:prstGeom prst="rect">
            <a:avLst/>
          </a:prstGeom>
          <a:noFill/>
          <a:ln/>
        </p:spPr>
        <p:txBody>
          <a:bodyPr wrap="square" lIns="0" tIns="0" rIns="0" bIns="0" rtlCol="0" anchor="t"/>
          <a:lstStyle/>
          <a:p>
            <a:pPr indent="0" marL="0">
              <a:buNone/>
            </a:pPr>
            <a:r>
              <a:rPr lang="en-US" sz="1100" spc="200" kern="0" dirty="0">
                <a:solidFill>
                  <a:srgbClr val="E0474C"/>
                </a:solidFill>
                <a:latin typeface="Consolas" pitchFamily="34" charset="0"/>
                <a:ea typeface="Consolas" pitchFamily="34" charset="-122"/>
                <a:cs typeface="Consolas" pitchFamily="34" charset="-120"/>
              </a:rPr>
              <a:t>LIMITATIONS</a:t>
            </a:r>
            <a:endParaRPr lang="en-US" sz="1100" dirty="0"/>
          </a:p>
        </p:txBody>
      </p:sp>
      <p:sp>
        <p:nvSpPr>
          <p:cNvPr id="40" name="limB"/>
          <p:cNvSpPr txBox="1"/>
          <p:nvPr/>
        </p:nvSpPr>
        <p:spPr>
          <a:xfrm>
            <a:off x="7452360" y="2423160"/>
            <a:ext cx="3977640" cy="3291840"/>
          </a:xfrm>
          <a:prstGeom prst="rect">
            <a:avLst/>
          </a:prstGeom>
          <a:noFill/>
          <a:ln/>
        </p:spPr>
        <p:txBody>
          <a:bodyPr wrap="square" lIns="0" tIns="0" rIns="0" bIns="0" rtlCol="0" anchor="t"/>
          <a:lstStyle/>
          <a:p>
            <a:pPr marL="203200" indent="-203200">
              <a:spcAft>
                <a:spcPts val="2000"/>
              </a:spcAft>
              <a:buSzPct val="100000"/>
              <a:buChar char="•"/>
            </a:pPr>
            <a:r>
              <a:rPr lang="en-US" sz="1500" dirty="0">
                <a:solidFill>
                  <a:srgbClr val="16182B"/>
                </a:solidFill>
                <a:latin typeface="Calibri" pitchFamily="34" charset="0"/>
                <a:ea typeface="Calibri" pitchFamily="34" charset="-122"/>
                <a:cs typeface="Calibri" pitchFamily="34" charset="-120"/>
              </a:rPr>
              <a:t>Two brochures, 62 pages: one narrow domain</a:t>
            </a:r>
            <a:endParaRPr lang="en-US" sz="1500" dirty="0"/>
          </a:p>
          <a:p>
            <a:pPr marL="203200" indent="-203200">
              <a:spcAft>
                <a:spcPts val="2000"/>
              </a:spcAft>
              <a:buSzPct val="100000"/>
              <a:buChar char="•"/>
            </a:pPr>
            <a:r>
              <a:rPr lang="en-US" sz="1500" dirty="0">
                <a:solidFill>
                  <a:srgbClr val="16182B"/>
                </a:solidFill>
                <a:latin typeface="Calibri" pitchFamily="34" charset="0"/>
                <a:ea typeface="Calibri" pitchFamily="34" charset="-122"/>
                <a:cs typeface="Calibri" pitchFamily="34" charset="-120"/>
              </a:rPr>
              <a:t>Lightweight MiniLM embeddings, no re-ranker</a:t>
            </a:r>
            <a:endParaRPr lang="en-US" sz="1500" dirty="0"/>
          </a:p>
          <a:p>
            <a:pPr marL="203200" indent="-203200">
              <a:spcAft>
                <a:spcPts val="2000"/>
              </a:spcAft>
              <a:buSzPct val="100000"/>
              <a:buChar char="•"/>
            </a:pPr>
            <a:r>
              <a:rPr lang="en-US" sz="1500" dirty="0">
                <a:solidFill>
                  <a:srgbClr val="16182B"/>
                </a:solidFill>
                <a:latin typeface="Calibri" pitchFamily="34" charset="0"/>
                <a:ea typeface="Calibri" pitchFamily="34" charset="-122"/>
                <a:cs typeface="Calibri" pitchFamily="34" charset="-120"/>
              </a:rPr>
              <a:t>Rule-based lexical scoring, not human-validated</a:t>
            </a:r>
            <a:endParaRPr lang="en-US" sz="1500" dirty="0"/>
          </a:p>
          <a:p>
            <a:pPr marL="203200" indent="-203200">
              <a:spcAft>
                <a:spcPts val="2000"/>
              </a:spcAft>
              <a:buSzPct val="100000"/>
              <a:buChar char="•"/>
            </a:pPr>
            <a:r>
              <a:rPr lang="en-US" sz="1500" dirty="0">
                <a:solidFill>
                  <a:srgbClr val="16182B"/>
                </a:solidFill>
                <a:latin typeface="Calibri" pitchFamily="34" charset="0"/>
                <a:ea typeface="Calibri" pitchFamily="34" charset="-122"/>
                <a:cs typeface="Calibri" pitchFamily="34" charset="-120"/>
              </a:rPr>
              <a:t>Questions generated from the PDFs, not by experts</a:t>
            </a:r>
            <a:endParaRPr lang="en-US" sz="1500" dirty="0"/>
          </a:p>
          <a:p>
            <a:pPr marL="203200" indent="-203200">
              <a:spcAft>
                <a:spcPts val="2000"/>
              </a:spcAft>
              <a:buSzPct val="100000"/>
              <a:buChar char="•"/>
            </a:pPr>
            <a:r>
              <a:rPr lang="en-US" sz="1500" dirty="0">
                <a:solidFill>
                  <a:srgbClr val="16182B"/>
                </a:solidFill>
                <a:latin typeface="Calibri" pitchFamily="34" charset="0"/>
                <a:ea typeface="Calibri" pitchFamily="34" charset="-122"/>
                <a:cs typeface="Calibri" pitchFamily="34" charset="-120"/>
              </a:rPr>
              <a:t>Fixed 500 / 80 chunking, never swept</a:t>
            </a:r>
            <a:endParaRPr lang="en-US" sz="1500" dirty="0"/>
          </a:p>
          <a:p>
            <a:pPr marL="203200" indent="-203200">
              <a:spcAft>
                <a:spcPts val="2000"/>
              </a:spcAft>
              <a:buSzPct val="100000"/>
              <a:buChar char="•"/>
            </a:pPr>
            <a:r>
              <a:rPr lang="en-US" sz="1500" dirty="0">
                <a:solidFill>
                  <a:srgbClr val="16182B"/>
                </a:solidFill>
                <a:latin typeface="Calibri" pitchFamily="34" charset="0"/>
                <a:ea typeface="Calibri" pitchFamily="34" charset="-122"/>
                <a:cs typeface="Calibri" pitchFamily="34" charset="-120"/>
              </a:rPr>
              <a:t>50 questions, one 4B model: moderate power</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4"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00"/>
                                        <p:tgtEl>
                                          <p:spTgt spid="17"/>
                                        </p:tgtEl>
                                      </p:cBhvr>
                                    </p:animEffect>
                                    <p:anim calcmode="lin" valueType="num">
                                      <p:cBhvr>
                                        <p:cTn id="7" dur="500" decel="100000" fill="hold"/>
                                        <p:tgtEl>
                                          <p:spTgt spid="17"/>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14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anim calcmode="lin" valueType="num">
                                      <p:cBhvr>
                                        <p:cTn id="11" dur="500" decel="100000" fill="hold"/>
                                        <p:tgtEl>
                                          <p:spTgt spid="18"/>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14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anim calcmode="lin" valueType="num">
                                      <p:cBhvr>
                                        <p:cTn id="15" dur="500" decel="100000" fill="hold"/>
                                        <p:tgtEl>
                                          <p:spTgt spid="19"/>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14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anim calcmode="lin" valueType="num">
                                      <p:cBhvr>
                                        <p:cTn id="19" dur="500" decel="100000" fill="hold"/>
                                        <p:tgtEl>
                                          <p:spTgt spid="20"/>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14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anim calcmode="lin" valueType="num">
                                      <p:cBhvr>
                                        <p:cTn id="23" dur="500" decel="100000" fill="hold"/>
                                        <p:tgtEl>
                                          <p:spTgt spid="21"/>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28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anim calcmode="lin" valueType="num">
                                      <p:cBhvr>
                                        <p:cTn id="27" dur="500" decel="100000" fill="hold"/>
                                        <p:tgtEl>
                                          <p:spTgt spid="22"/>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28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anim calcmode="lin" valueType="num">
                                      <p:cBhvr>
                                        <p:cTn id="31" dur="500" decel="100000" fill="hold"/>
                                        <p:tgtEl>
                                          <p:spTgt spid="23"/>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28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anim calcmode="lin" valueType="num">
                                      <p:cBhvr>
                                        <p:cTn id="35" dur="500" decel="100000" fill="hold"/>
                                        <p:tgtEl>
                                          <p:spTgt spid="24"/>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280"/>
                                  </p:stCondLst>
                                  <p:childTnLst>
                                    <p:set>
                                      <p:cBhvr>
                                        <p:cTn id="37" dur="1" fill="hold">
                                          <p:stCondLst>
                                            <p:cond delay="0"/>
                                          </p:stCondLst>
                                        </p:cTn>
                                        <p:tgtEl>
                                          <p:spTgt spid="25"/>
                                        </p:tgtEl>
                                        <p:attrNameLst>
                                          <p:attrName>style.visibility</p:attrName>
                                        </p:attrNameLst>
                                      </p:cBhvr>
                                      <p:to>
                                        <p:strVal val="visible"/>
                                      </p:to>
                                    </p:set>
                                    <p:animEffect transition="in" filter="fade">
                                      <p:cBhvr>
                                        <p:cTn id="38" dur="500"/>
                                        <p:tgtEl>
                                          <p:spTgt spid="25"/>
                                        </p:tgtEl>
                                      </p:cBhvr>
                                    </p:animEffect>
                                    <p:anim calcmode="lin" valueType="num">
                                      <p:cBhvr>
                                        <p:cTn id="39" dur="500" decel="100000" fill="hold"/>
                                        <p:tgtEl>
                                          <p:spTgt spid="25"/>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42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anim calcmode="lin" valueType="num">
                                      <p:cBhvr>
                                        <p:cTn id="43" dur="500" decel="100000" fill="hold"/>
                                        <p:tgtEl>
                                          <p:spTgt spid="26"/>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42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anim calcmode="lin" valueType="num">
                                      <p:cBhvr>
                                        <p:cTn id="47" dur="500" decel="100000" fill="hold"/>
                                        <p:tgtEl>
                                          <p:spTgt spid="27"/>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42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anim calcmode="lin" valueType="num">
                                      <p:cBhvr>
                                        <p:cTn id="51" dur="500" decel="100000" fill="hold"/>
                                        <p:tgtEl>
                                          <p:spTgt spid="28"/>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420"/>
                                  </p:stCondLst>
                                  <p:childTnLst>
                                    <p:set>
                                      <p:cBhvr>
                                        <p:cTn id="53" dur="1" fill="hold">
                                          <p:stCondLst>
                                            <p:cond delay="0"/>
                                          </p:stCondLst>
                                        </p:cTn>
                                        <p:tgtEl>
                                          <p:spTgt spid="29"/>
                                        </p:tgtEl>
                                        <p:attrNameLst>
                                          <p:attrName>style.visibility</p:attrName>
                                        </p:attrNameLst>
                                      </p:cBhvr>
                                      <p:to>
                                        <p:strVal val="visible"/>
                                      </p:to>
                                    </p:set>
                                    <p:animEffect transition="in" filter="fade">
                                      <p:cBhvr>
                                        <p:cTn id="54" dur="500"/>
                                        <p:tgtEl>
                                          <p:spTgt spid="29"/>
                                        </p:tgtEl>
                                      </p:cBhvr>
                                    </p:animEffect>
                                    <p:anim calcmode="lin" valueType="num">
                                      <p:cBhvr>
                                        <p:cTn id="55" dur="500" decel="100000" fill="hold"/>
                                        <p:tgtEl>
                                          <p:spTgt spid="29"/>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56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500"/>
                                        <p:tgtEl>
                                          <p:spTgt spid="30"/>
                                        </p:tgtEl>
                                      </p:cBhvr>
                                    </p:animEffect>
                                    <p:anim calcmode="lin" valueType="num">
                                      <p:cBhvr>
                                        <p:cTn id="59" dur="500" decel="100000" fill="hold"/>
                                        <p:tgtEl>
                                          <p:spTgt spid="30"/>
                                        </p:tgtEl>
                                        <p:attrNameLst>
                                          <p:attrName>ppt_y</p:attrName>
                                        </p:attrNameLst>
                                      </p:cBhvr>
                                      <p:tavLst>
                                        <p:tav tm="0">
                                          <p:val>
                                            <p:strVal val="#ppt_y+0.04"/>
                                          </p:val>
                                        </p:tav>
                                        <p:tav tm="100000">
                                          <p:val>
                                            <p:strVal val="#ppt_y"/>
                                          </p:val>
                                        </p:tav>
                                      </p:tavLst>
                                    </p:anim>
                                  </p:childTnLst>
                                </p:cTn>
                              </p:par>
                              <p:par>
                                <p:cTn id="60" presetID="42" presetClass="entr" presetSubtype="0" fill="hold" grpId="0" nodeType="withEffect">
                                  <p:stCondLst>
                                    <p:cond delay="560"/>
                                  </p:stCondLst>
                                  <p:childTnLst>
                                    <p:set>
                                      <p:cBhvr>
                                        <p:cTn id="61" dur="1" fill="hold">
                                          <p:stCondLst>
                                            <p:cond delay="0"/>
                                          </p:stCondLst>
                                        </p:cTn>
                                        <p:tgtEl>
                                          <p:spTgt spid="31"/>
                                        </p:tgtEl>
                                        <p:attrNameLst>
                                          <p:attrName>style.visibility</p:attrName>
                                        </p:attrNameLst>
                                      </p:cBhvr>
                                      <p:to>
                                        <p:strVal val="visible"/>
                                      </p:to>
                                    </p:set>
                                    <p:animEffect transition="in" filter="fade">
                                      <p:cBhvr>
                                        <p:cTn id="62" dur="500"/>
                                        <p:tgtEl>
                                          <p:spTgt spid="31"/>
                                        </p:tgtEl>
                                      </p:cBhvr>
                                    </p:animEffect>
                                    <p:anim calcmode="lin" valueType="num">
                                      <p:cBhvr>
                                        <p:cTn id="63" dur="500" decel="100000" fill="hold"/>
                                        <p:tgtEl>
                                          <p:spTgt spid="31"/>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56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500"/>
                                        <p:tgtEl>
                                          <p:spTgt spid="32"/>
                                        </p:tgtEl>
                                      </p:cBhvr>
                                    </p:animEffect>
                                    <p:anim calcmode="lin" valueType="num">
                                      <p:cBhvr>
                                        <p:cTn id="67" dur="500" decel="100000" fill="hold"/>
                                        <p:tgtEl>
                                          <p:spTgt spid="32"/>
                                        </p:tgtEl>
                                        <p:attrNameLst>
                                          <p:attrName>ppt_y</p:attrName>
                                        </p:attrNameLst>
                                      </p:cBhvr>
                                      <p:tavLst>
                                        <p:tav tm="0">
                                          <p:val>
                                            <p:strVal val="#ppt_y+0.04"/>
                                          </p:val>
                                        </p:tav>
                                        <p:tav tm="100000">
                                          <p:val>
                                            <p:strVal val="#ppt_y"/>
                                          </p:val>
                                        </p:tav>
                                      </p:tavLst>
                                    </p:anim>
                                  </p:childTnLst>
                                </p:cTn>
                              </p:par>
                              <p:par>
                                <p:cTn id="68" presetID="42" presetClass="entr" presetSubtype="0" fill="hold" grpId="0" nodeType="withEffect">
                                  <p:stCondLst>
                                    <p:cond delay="56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500"/>
                                        <p:tgtEl>
                                          <p:spTgt spid="33"/>
                                        </p:tgtEl>
                                      </p:cBhvr>
                                    </p:animEffect>
                                    <p:anim calcmode="lin" valueType="num">
                                      <p:cBhvr>
                                        <p:cTn id="71" dur="500" decel="100000" fill="hold"/>
                                        <p:tgtEl>
                                          <p:spTgt spid="33"/>
                                        </p:tgtEl>
                                        <p:attrNameLst>
                                          <p:attrName>ppt_y</p:attrName>
                                        </p:attrNameLst>
                                      </p:cBhvr>
                                      <p:tavLst>
                                        <p:tav tm="0">
                                          <p:val>
                                            <p:strVal val="#ppt_y+0.04"/>
                                          </p:val>
                                        </p:tav>
                                        <p:tav tm="100000">
                                          <p:val>
                                            <p:strVal val="#ppt_y"/>
                                          </p:val>
                                        </p:tav>
                                      </p:tavLst>
                                    </p:anim>
                                  </p:childTnLst>
                                </p:cTn>
                              </p:par>
                              <p:par>
                                <p:cTn id="72" presetID="42" presetClass="entr" presetSubtype="0" fill="hold" grpId="0" nodeType="withEffect">
                                  <p:stCondLst>
                                    <p:cond delay="70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anim calcmode="lin" valueType="num">
                                      <p:cBhvr>
                                        <p:cTn id="75" dur="500" decel="100000" fill="hold"/>
                                        <p:tgtEl>
                                          <p:spTgt spid="38"/>
                                        </p:tgtEl>
                                        <p:attrNameLst>
                                          <p:attrName>ppt_y</p:attrName>
                                        </p:attrNameLst>
                                      </p:cBhvr>
                                      <p:tavLst>
                                        <p:tav tm="0">
                                          <p:val>
                                            <p:strVal val="#ppt_y+0.04"/>
                                          </p:val>
                                        </p:tav>
                                        <p:tav tm="100000">
                                          <p:val>
                                            <p:strVal val="#ppt_y"/>
                                          </p:val>
                                        </p:tav>
                                      </p:tavLst>
                                    </p:anim>
                                  </p:childTnLst>
                                </p:cTn>
                              </p:par>
                              <p:par>
                                <p:cTn id="76" presetID="42" presetClass="entr" presetSubtype="0" fill="hold" grpId="0" nodeType="withEffect">
                                  <p:stCondLst>
                                    <p:cond delay="700"/>
                                  </p:stCondLst>
                                  <p:childTnLst>
                                    <p:set>
                                      <p:cBhvr>
                                        <p:cTn id="77" dur="1" fill="hold">
                                          <p:stCondLst>
                                            <p:cond delay="0"/>
                                          </p:stCondLst>
                                        </p:cTn>
                                        <p:tgtEl>
                                          <p:spTgt spid="39"/>
                                        </p:tgtEl>
                                        <p:attrNameLst>
                                          <p:attrName>style.visibility</p:attrName>
                                        </p:attrNameLst>
                                      </p:cBhvr>
                                      <p:to>
                                        <p:strVal val="visible"/>
                                      </p:to>
                                    </p:set>
                                    <p:animEffect transition="in" filter="fade">
                                      <p:cBhvr>
                                        <p:cTn id="78" dur="500"/>
                                        <p:tgtEl>
                                          <p:spTgt spid="39"/>
                                        </p:tgtEl>
                                      </p:cBhvr>
                                    </p:animEffect>
                                    <p:anim calcmode="lin" valueType="num">
                                      <p:cBhvr>
                                        <p:cTn id="79" dur="500" decel="100000" fill="hold"/>
                                        <p:tgtEl>
                                          <p:spTgt spid="39"/>
                                        </p:tgtEl>
                                        <p:attrNameLst>
                                          <p:attrName>ppt_y</p:attrName>
                                        </p:attrNameLst>
                                      </p:cBhvr>
                                      <p:tavLst>
                                        <p:tav tm="0">
                                          <p:val>
                                            <p:strVal val="#ppt_y+0.04"/>
                                          </p:val>
                                        </p:tav>
                                        <p:tav tm="100000">
                                          <p:val>
                                            <p:strVal val="#ppt_y"/>
                                          </p:val>
                                        </p:tav>
                                      </p:tavLst>
                                    </p:anim>
                                  </p:childTnLst>
                                </p:cTn>
                              </p:par>
                              <p:par>
                                <p:cTn id="80" presetID="42" presetClass="entr" presetSubtype="0" fill="hold" grpId="0" nodeType="withEffect">
                                  <p:stCondLst>
                                    <p:cond delay="840"/>
                                  </p:stCondLst>
                                  <p:childTnLst>
                                    <p:set>
                                      <p:cBhvr>
                                        <p:cTn id="81" dur="1" fill="hold">
                                          <p:stCondLst>
                                            <p:cond delay="0"/>
                                          </p:stCondLst>
                                        </p:cTn>
                                        <p:tgtEl>
                                          <p:spTgt spid="40"/>
                                        </p:tgtEl>
                                        <p:attrNameLst>
                                          <p:attrName>style.visibility</p:attrName>
                                        </p:attrNameLst>
                                      </p:cBhvr>
                                      <p:to>
                                        <p:strVal val="visible"/>
                                      </p:to>
                                    </p:set>
                                    <p:animEffect transition="in" filter="fade">
                                      <p:cBhvr>
                                        <p:cTn id="82" dur="500"/>
                                        <p:tgtEl>
                                          <p:spTgt spid="40"/>
                                        </p:tgtEl>
                                      </p:cBhvr>
                                    </p:animEffect>
                                    <p:anim calcmode="lin" valueType="num">
                                      <p:cBhvr>
                                        <p:cTn id="83" dur="500" decel="100000" fill="hold"/>
                                        <p:tgtEl>
                                          <p:spTgt spid="40"/>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P spid="22" grpId="0" animBg="1"/>
      <p:bldP spid="24" grpId="0" animBg="1"/>
      <p:bldP spid="25" grpId="0" animBg="1"/>
      <p:bldP spid="26" grpId="0" animBg="1"/>
      <p:bldP spid="28" grpId="0" animBg="1"/>
      <p:bldP spid="29" grpId="0" animBg="1"/>
      <p:bldP spid="30" grpId="0" animBg="1"/>
      <p:bldP spid="32" grpId="0" animBg="1"/>
      <p:bldP spid="33" grpId="0" animBg="1"/>
      <p:bldP spid="38" grpId="0" animBg="1"/>
      <p:bldP spid="39" grpId="0" animBg="1"/>
      <p:bldP spid="4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b="1" spc="200" kern="0" dirty="0">
                <a:solidFill>
                  <a:srgbClr val="C97700"/>
                </a:solidFill>
                <a:latin typeface="Consolas" pitchFamily="34" charset="0"/>
                <a:ea typeface="Consolas" pitchFamily="34" charset="-122"/>
                <a:cs typeface="Consolas" pitchFamily="34" charset="-120"/>
              </a:rPr>
              <a:t>10  ·  CONCLUSION &amp; FUTURE WORK</a:t>
            </a:r>
            <a:endParaRPr lang="en-US" sz="1200" dirty="0"/>
          </a:p>
        </p:txBody>
      </p:sp>
      <p:sp>
        <p:nvSpPr>
          <p:cNvPr id="3" name="!!title"/>
          <p:cNvSpPr txBox="1"/>
          <p:nvPr/>
        </p:nvSpPr>
        <p:spPr>
          <a:xfrm>
            <a:off x="548640" y="804672"/>
            <a:ext cx="10424160" cy="777240"/>
          </a:xfrm>
          <a:prstGeom prst="rect">
            <a:avLst/>
          </a:prstGeom>
          <a:noFill/>
          <a:ln/>
        </p:spPr>
        <p:txBody>
          <a:bodyPr wrap="square" lIns="0" tIns="0" rIns="0" bIns="0" rtlCol="0" anchor="t"/>
          <a:lstStyle/>
          <a:p>
            <a:pPr indent="0" marL="0">
              <a:buNone/>
            </a:pPr>
            <a:r>
              <a:rPr lang="en-US" sz="3200" b="1" dirty="0">
                <a:solidFill>
                  <a:srgbClr val="16182B"/>
                </a:solidFill>
                <a:latin typeface="Cambria" pitchFamily="34" charset="0"/>
                <a:ea typeface="Cambria" pitchFamily="34" charset="-122"/>
                <a:cs typeface="Cambria" pitchFamily="34" charset="-120"/>
              </a:rPr>
              <a:t>K is a hyperparameter to tune, not to maximise</a:t>
            </a:r>
            <a:endParaRPr lang="en-US" sz="32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10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91440" cy="91440"/>
          </a:xfrm>
          <a:prstGeom prst="roundRect">
            <a:avLst>
              <a:gd name="adj" fmla="val 50000"/>
            </a:avLst>
          </a:prstGeom>
          <a:solidFill>
            <a:srgbClr val="C97700">
              <a:alpha val="45000"/>
            </a:srgbClr>
          </a:solidFill>
          <a:ln/>
        </p:spPr>
      </p:sp>
      <p:sp>
        <p:nvSpPr>
          <p:cNvPr id="10" name="!!dot5"/>
          <p:cNvSpPr/>
          <p:nvPr/>
        </p:nvSpPr>
        <p:spPr>
          <a:xfrm>
            <a:off x="10378440" y="6451092"/>
            <a:ext cx="91440" cy="91440"/>
          </a:xfrm>
          <a:prstGeom prst="roundRect">
            <a:avLst>
              <a:gd name="adj" fmla="val 50000"/>
            </a:avLst>
          </a:prstGeom>
          <a:solidFill>
            <a:srgbClr val="C97700">
              <a:alpha val="45000"/>
            </a:srgbClr>
          </a:solidFill>
          <a:ln/>
        </p:spPr>
      </p:sp>
      <p:sp>
        <p:nvSpPr>
          <p:cNvPr id="11" name="!!dot6"/>
          <p:cNvSpPr/>
          <p:nvPr/>
        </p:nvSpPr>
        <p:spPr>
          <a:xfrm>
            <a:off x="10561320" y="6451092"/>
            <a:ext cx="91440" cy="91440"/>
          </a:xfrm>
          <a:prstGeom prst="roundRect">
            <a:avLst>
              <a:gd name="adj" fmla="val 50000"/>
            </a:avLst>
          </a:prstGeom>
          <a:solidFill>
            <a:srgbClr val="C97700">
              <a:alpha val="45000"/>
            </a:srgbClr>
          </a:solidFill>
          <a:ln/>
        </p:spPr>
      </p:sp>
      <p:sp>
        <p:nvSpPr>
          <p:cNvPr id="12" name="!!dot7"/>
          <p:cNvSpPr/>
          <p:nvPr/>
        </p:nvSpPr>
        <p:spPr>
          <a:xfrm>
            <a:off x="10744200" y="6451092"/>
            <a:ext cx="91440" cy="91440"/>
          </a:xfrm>
          <a:prstGeom prst="roundRect">
            <a:avLst>
              <a:gd name="adj" fmla="val 50000"/>
            </a:avLst>
          </a:prstGeom>
          <a:solidFill>
            <a:srgbClr val="C97700">
              <a:alpha val="45000"/>
            </a:srgbClr>
          </a:solidFill>
          <a:ln/>
        </p:spPr>
      </p:sp>
      <p:sp>
        <p:nvSpPr>
          <p:cNvPr id="13" name="!!dot8"/>
          <p:cNvSpPr/>
          <p:nvPr/>
        </p:nvSpPr>
        <p:spPr>
          <a:xfrm>
            <a:off x="10927080" y="6451092"/>
            <a:ext cx="91440" cy="91440"/>
          </a:xfrm>
          <a:prstGeom prst="roundRect">
            <a:avLst>
              <a:gd name="adj" fmla="val 50000"/>
            </a:avLst>
          </a:prstGeom>
          <a:solidFill>
            <a:srgbClr val="C97700">
              <a:alpha val="45000"/>
            </a:srgbClr>
          </a:solidFill>
          <a:ln/>
        </p:spPr>
      </p:sp>
      <p:sp>
        <p:nvSpPr>
          <p:cNvPr id="14" name="!!dot9"/>
          <p:cNvSpPr/>
          <p:nvPr/>
        </p:nvSpPr>
        <p:spPr>
          <a:xfrm>
            <a:off x="11109960" y="6451092"/>
            <a:ext cx="91440" cy="91440"/>
          </a:xfrm>
          <a:prstGeom prst="roundRect">
            <a:avLst>
              <a:gd name="adj" fmla="val 50000"/>
            </a:avLst>
          </a:prstGeom>
          <a:solidFill>
            <a:srgbClr val="C97700">
              <a:alpha val="45000"/>
            </a:srgbClr>
          </a:solidFill>
          <a:ln/>
        </p:spPr>
      </p:sp>
      <p:sp>
        <p:nvSpPr>
          <p:cNvPr id="15" name="!!dot10"/>
          <p:cNvSpPr/>
          <p:nvPr/>
        </p:nvSpPr>
        <p:spPr>
          <a:xfrm>
            <a:off x="11292840" y="6451092"/>
            <a:ext cx="365760" cy="91440"/>
          </a:xfrm>
          <a:prstGeom prst="roundRect">
            <a:avLst>
              <a:gd name="adj" fmla="val 50000"/>
            </a:avLst>
          </a:prstGeom>
          <a:solidFill>
            <a:srgbClr val="C97700"/>
          </a:solidFill>
          <a:ln/>
        </p:spPr>
      </p:sp>
      <p:sp>
        <p:nvSpPr>
          <p:cNvPr id="16" name="!!dot11"/>
          <p:cNvSpPr/>
          <p:nvPr/>
        </p:nvSpPr>
        <p:spPr>
          <a:xfrm>
            <a:off x="11750040" y="6451092"/>
            <a:ext cx="91440" cy="91440"/>
          </a:xfrm>
          <a:prstGeom prst="roundRect">
            <a:avLst>
              <a:gd name="adj" fmla="val 50000"/>
            </a:avLst>
          </a:prstGeom>
          <a:solidFill>
            <a:srgbClr val="D9DCE8"/>
          </a:solidFill>
          <a:ln/>
        </p:spPr>
      </p:sp>
      <p:sp>
        <p:nvSpPr>
          <p:cNvPr id="17" name="cN0"/>
          <p:cNvSpPr txBox="1"/>
          <p:nvPr/>
        </p:nvSpPr>
        <p:spPr>
          <a:xfrm>
            <a:off x="548640" y="1874520"/>
            <a:ext cx="685800" cy="457200"/>
          </a:xfrm>
          <a:prstGeom prst="rect">
            <a:avLst/>
          </a:prstGeom>
          <a:noFill/>
          <a:ln/>
        </p:spPr>
        <p:txBody>
          <a:bodyPr wrap="square" lIns="0" tIns="0" rIns="0" bIns="0" rtlCol="0" anchor="t"/>
          <a:lstStyle/>
          <a:p>
            <a:pPr indent="0" marL="0">
              <a:buNone/>
            </a:pPr>
            <a:r>
              <a:rPr lang="en-US" sz="2600" b="1" dirty="0">
                <a:solidFill>
                  <a:srgbClr val="C97700"/>
                </a:solidFill>
                <a:latin typeface="Cambria" pitchFamily="34" charset="0"/>
                <a:ea typeface="Cambria" pitchFamily="34" charset="-122"/>
                <a:cs typeface="Cambria" pitchFamily="34" charset="-120"/>
              </a:rPr>
              <a:t>01</a:t>
            </a:r>
            <a:endParaRPr lang="en-US" sz="2600" dirty="0"/>
          </a:p>
        </p:txBody>
      </p:sp>
      <p:sp>
        <p:nvSpPr>
          <p:cNvPr id="18" name="cT0"/>
          <p:cNvSpPr txBox="1"/>
          <p:nvPr/>
        </p:nvSpPr>
        <p:spPr>
          <a:xfrm>
            <a:off x="1280160" y="1911096"/>
            <a:ext cx="5943600" cy="777240"/>
          </a:xfrm>
          <a:prstGeom prst="rect">
            <a:avLst/>
          </a:prstGeom>
          <a:noFill/>
          <a:ln/>
        </p:spPr>
        <p:txBody>
          <a:bodyPr wrap="square" lIns="0" tIns="0" rIns="0" bIns="0" rtlCol="0" anchor="t"/>
          <a:lstStyle/>
          <a:p>
            <a:pPr indent="0" marL="0">
              <a:buNone/>
            </a:pPr>
            <a:r>
              <a:rPr lang="en-US" sz="1600" dirty="0">
                <a:solidFill>
                  <a:srgbClr val="16182B"/>
                </a:solidFill>
                <a:latin typeface="Calibri" pitchFamily="34" charset="0"/>
                <a:ea typeface="Calibri" pitchFamily="34" charset="-122"/>
                <a:cs typeface="Calibri" pitchFamily="34" charset="-120"/>
              </a:rPr>
              <a:t>More context helped this system, but accuracy gains flattened after K = 3 while latency grew almost linearly.</a:t>
            </a:r>
            <a:endParaRPr lang="en-US" sz="1600" dirty="0"/>
          </a:p>
        </p:txBody>
      </p:sp>
      <p:sp>
        <p:nvSpPr>
          <p:cNvPr id="19" name="cN1"/>
          <p:cNvSpPr txBox="1"/>
          <p:nvPr/>
        </p:nvSpPr>
        <p:spPr>
          <a:xfrm>
            <a:off x="548640" y="2807208"/>
            <a:ext cx="685800" cy="457200"/>
          </a:xfrm>
          <a:prstGeom prst="rect">
            <a:avLst/>
          </a:prstGeom>
          <a:noFill/>
          <a:ln/>
        </p:spPr>
        <p:txBody>
          <a:bodyPr wrap="square" lIns="0" tIns="0" rIns="0" bIns="0" rtlCol="0" anchor="t"/>
          <a:lstStyle/>
          <a:p>
            <a:pPr indent="0" marL="0">
              <a:buNone/>
            </a:pPr>
            <a:r>
              <a:rPr lang="en-US" sz="2600" b="1" dirty="0">
                <a:solidFill>
                  <a:srgbClr val="C97700"/>
                </a:solidFill>
                <a:latin typeface="Cambria" pitchFamily="34" charset="0"/>
                <a:ea typeface="Cambria" pitchFamily="34" charset="-122"/>
                <a:cs typeface="Cambria" pitchFamily="34" charset="-120"/>
              </a:rPr>
              <a:t>02</a:t>
            </a:r>
            <a:endParaRPr lang="en-US" sz="2600" dirty="0"/>
          </a:p>
        </p:txBody>
      </p:sp>
      <p:sp>
        <p:nvSpPr>
          <p:cNvPr id="20" name="cT1"/>
          <p:cNvSpPr txBox="1"/>
          <p:nvPr/>
        </p:nvSpPr>
        <p:spPr>
          <a:xfrm>
            <a:off x="1280160" y="2843784"/>
            <a:ext cx="5943600" cy="777240"/>
          </a:xfrm>
          <a:prstGeom prst="rect">
            <a:avLst/>
          </a:prstGeom>
          <a:noFill/>
          <a:ln/>
        </p:spPr>
        <p:txBody>
          <a:bodyPr wrap="square" lIns="0" tIns="0" rIns="0" bIns="0" rtlCol="0" anchor="t"/>
          <a:lstStyle/>
          <a:p>
            <a:pPr indent="0" marL="0">
              <a:buNone/>
            </a:pPr>
            <a:r>
              <a:rPr lang="en-US" sz="1600" dirty="0">
                <a:solidFill>
                  <a:srgbClr val="16182B"/>
                </a:solidFill>
                <a:latin typeface="Calibri" pitchFamily="34" charset="0"/>
                <a:ea typeface="Calibri" pitchFamily="34" charset="-122"/>
                <a:cs typeface="Calibri" pitchFamily="34" charset="-120"/>
              </a:rPr>
              <a:t>Retrieval precision matters more than raw K: on the same 25 questions, the gold-page oracle matched Top-10 (72% vs 70%) in 1/13 of the time.</a:t>
            </a:r>
            <a:endParaRPr lang="en-US" sz="1600" dirty="0"/>
          </a:p>
        </p:txBody>
      </p:sp>
      <p:sp>
        <p:nvSpPr>
          <p:cNvPr id="21" name="cN2"/>
          <p:cNvSpPr txBox="1"/>
          <p:nvPr/>
        </p:nvSpPr>
        <p:spPr>
          <a:xfrm>
            <a:off x="548640" y="3739896"/>
            <a:ext cx="685800" cy="457200"/>
          </a:xfrm>
          <a:prstGeom prst="rect">
            <a:avLst/>
          </a:prstGeom>
          <a:noFill/>
          <a:ln/>
        </p:spPr>
        <p:txBody>
          <a:bodyPr wrap="square" lIns="0" tIns="0" rIns="0" bIns="0" rtlCol="0" anchor="t"/>
          <a:lstStyle/>
          <a:p>
            <a:pPr indent="0" marL="0">
              <a:buNone/>
            </a:pPr>
            <a:r>
              <a:rPr lang="en-US" sz="2600" b="1" dirty="0">
                <a:solidFill>
                  <a:srgbClr val="C97700"/>
                </a:solidFill>
                <a:latin typeface="Cambria" pitchFamily="34" charset="0"/>
                <a:ea typeface="Cambria" pitchFamily="34" charset="-122"/>
                <a:cs typeface="Cambria" pitchFamily="34" charset="-120"/>
              </a:rPr>
              <a:t>03</a:t>
            </a:r>
            <a:endParaRPr lang="en-US" sz="2600" dirty="0"/>
          </a:p>
        </p:txBody>
      </p:sp>
      <p:sp>
        <p:nvSpPr>
          <p:cNvPr id="22" name="cT2"/>
          <p:cNvSpPr txBox="1"/>
          <p:nvPr/>
        </p:nvSpPr>
        <p:spPr>
          <a:xfrm>
            <a:off x="1280160" y="3776472"/>
            <a:ext cx="5943600" cy="777240"/>
          </a:xfrm>
          <a:prstGeom prst="rect">
            <a:avLst/>
          </a:prstGeom>
          <a:noFill/>
          <a:ln/>
        </p:spPr>
        <p:txBody>
          <a:bodyPr wrap="square" lIns="0" tIns="0" rIns="0" bIns="0" rtlCol="0" anchor="t"/>
          <a:lstStyle/>
          <a:p>
            <a:pPr indent="0" marL="0">
              <a:buNone/>
            </a:pPr>
            <a:r>
              <a:rPr lang="en-US" sz="1600" dirty="0">
                <a:solidFill>
                  <a:srgbClr val="16182B"/>
                </a:solidFill>
                <a:latin typeface="Calibri" pitchFamily="34" charset="0"/>
                <a:ea typeface="Calibri" pitchFamily="34" charset="-122"/>
                <a:cs typeface="Calibri" pitchFamily="34" charset="-120"/>
              </a:rPr>
              <a:t>For this corpus, K = 3–5 captured most of Top-10’s accuracy at 30–53% of its latency.</a:t>
            </a:r>
            <a:endParaRPr lang="en-US" sz="1600" dirty="0"/>
          </a:p>
        </p:txBody>
      </p:sp>
      <p:sp>
        <p:nvSpPr>
          <p:cNvPr id="23" name="!!lensGlow"/>
          <p:cNvSpPr/>
          <p:nvPr/>
        </p:nvSpPr>
        <p:spPr>
          <a:xfrm>
            <a:off x="8149590" y="1748790"/>
            <a:ext cx="2811780" cy="2811780"/>
          </a:xfrm>
          <a:prstGeom prst="ellipse">
            <a:avLst/>
          </a:prstGeom>
          <a:solidFill>
            <a:srgbClr val="C97700">
              <a:alpha val="12000"/>
            </a:srgbClr>
          </a:solidFill>
          <a:ln/>
        </p:spPr>
      </p:sp>
      <p:sp>
        <p:nvSpPr>
          <p:cNvPr id="24" name="!!lensInner"/>
          <p:cNvSpPr/>
          <p:nvPr/>
        </p:nvSpPr>
        <p:spPr>
          <a:xfrm>
            <a:off x="8423910" y="2023110"/>
            <a:ext cx="2263140" cy="2263140"/>
          </a:xfrm>
          <a:prstGeom prst="ellipse">
            <a:avLst/>
          </a:prstGeom>
          <a:ln w="12700">
            <a:solidFill>
              <a:srgbClr val="0E9C86">
                <a:alpha val="45000"/>
              </a:srgbClr>
            </a:solidFill>
            <a:prstDash val="solid"/>
          </a:ln>
        </p:spPr>
      </p:sp>
      <p:sp>
        <p:nvSpPr>
          <p:cNvPr id="25" name="!!lensRing"/>
          <p:cNvSpPr/>
          <p:nvPr/>
        </p:nvSpPr>
        <p:spPr>
          <a:xfrm>
            <a:off x="7840980" y="1440180"/>
            <a:ext cx="3429000" cy="3429000"/>
          </a:xfrm>
          <a:prstGeom prst="ellipse">
            <a:avLst/>
          </a:prstGeom>
          <a:ln w="38100">
            <a:solidFill>
              <a:srgbClr val="C97700"/>
            </a:solidFill>
            <a:prstDash val="solid"/>
          </a:ln>
        </p:spPr>
      </p:sp>
      <p:sp>
        <p:nvSpPr>
          <p:cNvPr id="26" name="!!lensGlint"/>
          <p:cNvSpPr/>
          <p:nvPr/>
        </p:nvSpPr>
        <p:spPr>
          <a:xfrm>
            <a:off x="10647800" y="1822330"/>
            <a:ext cx="240030" cy="240030"/>
          </a:xfrm>
          <a:prstGeom prst="ellipse">
            <a:avLst/>
          </a:prstGeom>
          <a:solidFill>
            <a:srgbClr val="C97700"/>
          </a:solidFill>
          <a:ln/>
        </p:spPr>
      </p:sp>
      <p:sp>
        <p:nvSpPr>
          <p:cNvPr id="27" name="!!k1"/>
          <p:cNvSpPr/>
          <p:nvPr/>
        </p:nvSpPr>
        <p:spPr>
          <a:xfrm>
            <a:off x="8503920" y="2514600"/>
            <a:ext cx="1005840" cy="457200"/>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400" b="1" dirty="0">
                <a:solidFill>
                  <a:srgbClr val="C97700"/>
                </a:solidFill>
                <a:latin typeface="Consolas" pitchFamily="34" charset="0"/>
                <a:ea typeface="Consolas" pitchFamily="34" charset="-122"/>
                <a:cs typeface="Consolas" pitchFamily="34" charset="-120"/>
              </a:rPr>
              <a:t>K = 1</a:t>
            </a:r>
            <a:endParaRPr lang="en-US" sz="1400" dirty="0"/>
          </a:p>
        </p:txBody>
      </p:sp>
      <p:sp>
        <p:nvSpPr>
          <p:cNvPr id="28" name="!!k3"/>
          <p:cNvSpPr/>
          <p:nvPr/>
        </p:nvSpPr>
        <p:spPr>
          <a:xfrm>
            <a:off x="9601200" y="2514600"/>
            <a:ext cx="1005840" cy="457200"/>
          </a:xfrm>
          <a:prstGeom prst="roundRect">
            <a:avLst>
              <a:gd name="adj" fmla="val 50000"/>
            </a:avLst>
          </a:prstGeom>
          <a:solidFill>
            <a:srgbClr val="C97700"/>
          </a:solidFill>
          <a:ln w="12700">
            <a:solidFill>
              <a:srgbClr val="C9770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K = 3</a:t>
            </a:r>
            <a:endParaRPr lang="en-US" sz="1400" dirty="0"/>
          </a:p>
        </p:txBody>
      </p:sp>
      <p:sp>
        <p:nvSpPr>
          <p:cNvPr id="29" name="!!k5"/>
          <p:cNvSpPr/>
          <p:nvPr/>
        </p:nvSpPr>
        <p:spPr>
          <a:xfrm>
            <a:off x="8503920" y="3108960"/>
            <a:ext cx="1005840" cy="457200"/>
          </a:xfrm>
          <a:prstGeom prst="roundRect">
            <a:avLst>
              <a:gd name="adj" fmla="val 50000"/>
            </a:avLst>
          </a:prstGeom>
          <a:solidFill>
            <a:srgbClr val="C97700"/>
          </a:solidFill>
          <a:ln w="12700">
            <a:solidFill>
              <a:srgbClr val="C9770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K = 5</a:t>
            </a:r>
            <a:endParaRPr lang="en-US" sz="1400" dirty="0"/>
          </a:p>
        </p:txBody>
      </p:sp>
      <p:sp>
        <p:nvSpPr>
          <p:cNvPr id="30" name="!!k10"/>
          <p:cNvSpPr/>
          <p:nvPr/>
        </p:nvSpPr>
        <p:spPr>
          <a:xfrm>
            <a:off x="9601200" y="3108960"/>
            <a:ext cx="1005840" cy="457200"/>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400" b="1" dirty="0">
                <a:solidFill>
                  <a:srgbClr val="C97700"/>
                </a:solidFill>
                <a:latin typeface="Consolas" pitchFamily="34" charset="0"/>
                <a:ea typeface="Consolas" pitchFamily="34" charset="-122"/>
                <a:cs typeface="Consolas" pitchFamily="34" charset="-120"/>
              </a:rPr>
              <a:t>K = 10</a:t>
            </a:r>
            <a:endParaRPr lang="en-US" sz="1400" dirty="0"/>
          </a:p>
        </p:txBody>
      </p:sp>
      <p:sp>
        <p:nvSpPr>
          <p:cNvPr id="31" name="sweet"/>
          <p:cNvSpPr txBox="1"/>
          <p:nvPr/>
        </p:nvSpPr>
        <p:spPr>
          <a:xfrm>
            <a:off x="8229600" y="3749040"/>
            <a:ext cx="2651760" cy="365760"/>
          </a:xfrm>
          <a:prstGeom prst="rect">
            <a:avLst/>
          </a:prstGeom>
          <a:noFill/>
          <a:ln/>
        </p:spPr>
        <p:txBody>
          <a:bodyPr wrap="square" lIns="0" tIns="0" rIns="0" bIns="0" rtlCol="0" anchor="t"/>
          <a:lstStyle/>
          <a:p>
            <a:pPr algn="ctr" indent="0" marL="0">
              <a:buNone/>
            </a:pPr>
            <a:r>
              <a:rPr lang="en-US" sz="1500" i="1" dirty="0">
                <a:solidFill>
                  <a:srgbClr val="16182B"/>
                </a:solidFill>
                <a:latin typeface="Cambria" pitchFamily="34" charset="0"/>
                <a:ea typeface="Cambria" pitchFamily="34" charset="-122"/>
                <a:cs typeface="Cambria" pitchFamily="34" charset="-120"/>
              </a:rPr>
              <a:t>sweet spot for this corpus</a:t>
            </a:r>
            <a:endParaRPr lang="en-US" sz="1500" dirty="0"/>
          </a:p>
        </p:txBody>
      </p:sp>
      <p:sp>
        <p:nvSpPr>
          <p:cNvPr id="32" name="fwL"/>
          <p:cNvSpPr txBox="1"/>
          <p:nvPr/>
        </p:nvSpPr>
        <p:spPr>
          <a:xfrm>
            <a:off x="548640" y="4800600"/>
            <a:ext cx="2743200" cy="256032"/>
          </a:xfrm>
          <a:prstGeom prst="rect">
            <a:avLst/>
          </a:prstGeom>
          <a:noFill/>
          <a:ln/>
        </p:spPr>
        <p:txBody>
          <a:bodyPr wrap="square" lIns="0" tIns="0" rIns="0" bIns="0" rtlCol="0" anchor="t"/>
          <a:lstStyle/>
          <a:p>
            <a:pPr indent="0" marL="0">
              <a:buNone/>
            </a:pPr>
            <a:r>
              <a:rPr lang="en-US" sz="1100" spc="200" kern="0" dirty="0">
                <a:solidFill>
                  <a:srgbClr val="0E9C86"/>
                </a:solidFill>
                <a:latin typeface="Consolas" pitchFamily="34" charset="0"/>
                <a:ea typeface="Consolas" pitchFamily="34" charset="-122"/>
                <a:cs typeface="Consolas" pitchFamily="34" charset="-120"/>
              </a:rPr>
              <a:t>FUTURE WORK</a:t>
            </a:r>
            <a:endParaRPr lang="en-US" sz="1100" dirty="0"/>
          </a:p>
        </p:txBody>
      </p:sp>
      <p:sp>
        <p:nvSpPr>
          <p:cNvPr id="33" name="fw0"/>
          <p:cNvSpPr/>
          <p:nvPr/>
        </p:nvSpPr>
        <p:spPr>
          <a:xfrm>
            <a:off x="548640" y="5138928"/>
            <a:ext cx="3769157" cy="365760"/>
          </a:xfrm>
          <a:prstGeom prst="roundRect">
            <a:avLst>
              <a:gd name="adj" fmla="val 47500"/>
            </a:avLst>
          </a:prstGeom>
          <a:solidFill>
            <a:srgbClr val="EEF0F7"/>
          </a:solidFill>
          <a:ln w="9525">
            <a:solidFill>
              <a:srgbClr val="0E9C86"/>
            </a:solidFill>
          </a:ln>
        </p:spPr>
        <p:txBody>
          <a:bodyPr wrap="square" lIns="0" tIns="0" rIns="0" bIns="0" rtlCol="0" anchor="ctr"/>
          <a:lstStyle/>
          <a:p>
            <a:pPr algn="ctr" indent="0" marL="0">
              <a:buNone/>
            </a:pPr>
            <a:r>
              <a:rPr lang="en-US" sz="1300" dirty="0">
                <a:solidFill>
                  <a:srgbClr val="16182B"/>
                </a:solidFill>
              </a:rPr>
              <a:t>Adaptive K from query type and retrieval confidence</a:t>
            </a:r>
            <a:endParaRPr lang="en-US" sz="1300" dirty="0"/>
          </a:p>
        </p:txBody>
      </p:sp>
      <p:sp>
        <p:nvSpPr>
          <p:cNvPr id="34" name="fw1"/>
          <p:cNvSpPr/>
          <p:nvPr/>
        </p:nvSpPr>
        <p:spPr>
          <a:xfrm>
            <a:off x="4427525" y="5138928"/>
            <a:ext cx="3308299" cy="365760"/>
          </a:xfrm>
          <a:prstGeom prst="roundRect">
            <a:avLst>
              <a:gd name="adj" fmla="val 47500"/>
            </a:avLst>
          </a:prstGeom>
          <a:solidFill>
            <a:srgbClr val="EEF0F7"/>
          </a:solidFill>
          <a:ln w="9525">
            <a:solidFill>
              <a:srgbClr val="0E9C86"/>
            </a:solidFill>
          </a:ln>
        </p:spPr>
        <p:txBody>
          <a:bodyPr wrap="square" lIns="0" tIns="0" rIns="0" bIns="0" rtlCol="0" anchor="ctr"/>
          <a:lstStyle/>
          <a:p>
            <a:pPr algn="ctr" indent="0" marL="0">
              <a:buNone/>
            </a:pPr>
            <a:r>
              <a:rPr lang="en-US" sz="1300" dirty="0">
                <a:solidFill>
                  <a:srgbClr val="16182B"/>
                </a:solidFill>
              </a:rPr>
              <a:t>Re-ranking and stronger embeddings (E5, BGE)</a:t>
            </a:r>
            <a:endParaRPr lang="en-US" sz="1300" dirty="0"/>
          </a:p>
        </p:txBody>
      </p:sp>
      <p:sp>
        <p:nvSpPr>
          <p:cNvPr id="35" name="fw2"/>
          <p:cNvSpPr/>
          <p:nvPr/>
        </p:nvSpPr>
        <p:spPr>
          <a:xfrm>
            <a:off x="7845552" y="5138928"/>
            <a:ext cx="2320747" cy="365760"/>
          </a:xfrm>
          <a:prstGeom prst="roundRect">
            <a:avLst>
              <a:gd name="adj" fmla="val 47500"/>
            </a:avLst>
          </a:prstGeom>
          <a:solidFill>
            <a:srgbClr val="EEF0F7"/>
          </a:solidFill>
          <a:ln w="9525">
            <a:solidFill>
              <a:srgbClr val="0E9C86"/>
            </a:solidFill>
          </a:ln>
        </p:spPr>
        <p:txBody>
          <a:bodyPr wrap="square" lIns="0" tIns="0" rIns="0" bIns="0" rtlCol="0" anchor="ctr"/>
          <a:lstStyle/>
          <a:p>
            <a:pPr algn="ctr" indent="0" marL="0">
              <a:buNone/>
            </a:pPr>
            <a:r>
              <a:rPr lang="en-US" sz="1300" dirty="0">
                <a:solidFill>
                  <a:srgbClr val="16182B"/>
                </a:solidFill>
              </a:rPr>
              <a:t>Context compression at high K</a:t>
            </a:r>
            <a:endParaRPr lang="en-US" sz="1300" dirty="0"/>
          </a:p>
        </p:txBody>
      </p:sp>
      <p:sp>
        <p:nvSpPr>
          <p:cNvPr id="36" name="fw3"/>
          <p:cNvSpPr/>
          <p:nvPr/>
        </p:nvSpPr>
        <p:spPr>
          <a:xfrm>
            <a:off x="548640" y="5596128"/>
            <a:ext cx="2320747" cy="365760"/>
          </a:xfrm>
          <a:prstGeom prst="roundRect">
            <a:avLst>
              <a:gd name="adj" fmla="val 47500"/>
            </a:avLst>
          </a:prstGeom>
          <a:solidFill>
            <a:srgbClr val="EEF0F7"/>
          </a:solidFill>
          <a:ln w="9525">
            <a:solidFill>
              <a:srgbClr val="0E9C86"/>
            </a:solidFill>
          </a:ln>
        </p:spPr>
        <p:txBody>
          <a:bodyPr wrap="square" lIns="0" tIns="0" rIns="0" bIns="0" rtlCol="0" anchor="ctr"/>
          <a:lstStyle/>
          <a:p>
            <a:pPr algn="ctr" indent="0" marL="0">
              <a:buNone/>
            </a:pPr>
            <a:r>
              <a:rPr lang="en-US" sz="1300" dirty="0">
                <a:solidFill>
                  <a:srgbClr val="16182B"/>
                </a:solidFill>
              </a:rPr>
              <a:t>Human or LLM-judge evaluation</a:t>
            </a:r>
            <a:endParaRPr lang="en-US" sz="1300" dirty="0"/>
          </a:p>
        </p:txBody>
      </p:sp>
      <p:sp>
        <p:nvSpPr>
          <p:cNvPr id="37" name="fw4"/>
          <p:cNvSpPr/>
          <p:nvPr/>
        </p:nvSpPr>
        <p:spPr>
          <a:xfrm>
            <a:off x="2979115" y="5596128"/>
            <a:ext cx="2584094" cy="365760"/>
          </a:xfrm>
          <a:prstGeom prst="roundRect">
            <a:avLst>
              <a:gd name="adj" fmla="val 47500"/>
            </a:avLst>
          </a:prstGeom>
          <a:solidFill>
            <a:srgbClr val="EEF0F7"/>
          </a:solidFill>
          <a:ln w="9525">
            <a:solidFill>
              <a:srgbClr val="0E9C86"/>
            </a:solidFill>
          </a:ln>
        </p:spPr>
        <p:txBody>
          <a:bodyPr wrap="square" lIns="0" tIns="0" rIns="0" bIns="0" rtlCol="0" anchor="ctr"/>
          <a:lstStyle/>
          <a:p>
            <a:pPr algn="ctr" indent="0" marL="0">
              <a:buNone/>
            </a:pPr>
            <a:r>
              <a:rPr lang="en-US" sz="1300" dirty="0">
                <a:solidFill>
                  <a:srgbClr val="16182B"/>
                </a:solidFill>
              </a:rPr>
              <a:t>Multi-hop questions, more domains</a:t>
            </a:r>
            <a:endParaRPr lang="en-US" sz="1300" dirty="0"/>
          </a:p>
        </p:txBody>
      </p:sp>
      <p:sp>
        <p:nvSpPr>
          <p:cNvPr id="38" name="repo">
            <a:hlinkClick r:id="rId1" tooltip=""/>
          </p:cNvPr>
          <p:cNvSpPr txBox="1"/>
          <p:nvPr/>
        </p:nvSpPr>
        <p:spPr>
          <a:xfrm>
            <a:off x="4343400" y="6382512"/>
            <a:ext cx="4297680" cy="228600"/>
          </a:xfrm>
          <a:prstGeom prst="rect">
            <a:avLst/>
          </a:prstGeom>
          <a:noFill/>
          <a:ln/>
        </p:spPr>
        <p:txBody>
          <a:bodyPr wrap="square" lIns="0" tIns="0" rIns="0" bIns="0" rtlCol="0" anchor="t"/>
          <a:lstStyle/>
          <a:p>
            <a:pPr indent="0" marL="0">
              <a:buNone/>
            </a:pPr>
            <a:r>
              <a:rPr lang="en-US" sz="1000" u="sng" dirty="0">
                <a:solidFill>
                  <a:srgbClr val="565B75"/>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github.com/taranggg/MTech-AIML-Project_16_ContextLens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0"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00"/>
                                        <p:tgtEl>
                                          <p:spTgt spid="17"/>
                                        </p:tgtEl>
                                      </p:cBhvr>
                                    </p:animEffect>
                                    <p:anim calcmode="lin" valueType="num">
                                      <p:cBhvr>
                                        <p:cTn id="7" dur="500" decel="100000" fill="hold"/>
                                        <p:tgtEl>
                                          <p:spTgt spid="17"/>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anim calcmode="lin" valueType="num">
                                      <p:cBhvr>
                                        <p:cTn id="11" dur="500" decel="100000" fill="hold"/>
                                        <p:tgtEl>
                                          <p:spTgt spid="18"/>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14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anim calcmode="lin" valueType="num">
                                      <p:cBhvr>
                                        <p:cTn id="15" dur="500" decel="100000" fill="hold"/>
                                        <p:tgtEl>
                                          <p:spTgt spid="19"/>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14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anim calcmode="lin" valueType="num">
                                      <p:cBhvr>
                                        <p:cTn id="19" dur="500" decel="100000" fill="hold"/>
                                        <p:tgtEl>
                                          <p:spTgt spid="20"/>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2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anim calcmode="lin" valueType="num">
                                      <p:cBhvr>
                                        <p:cTn id="23" dur="500" decel="100000" fill="hold"/>
                                        <p:tgtEl>
                                          <p:spTgt spid="21"/>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28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anim calcmode="lin" valueType="num">
                                      <p:cBhvr>
                                        <p:cTn id="27" dur="500" decel="100000" fill="hold"/>
                                        <p:tgtEl>
                                          <p:spTgt spid="22"/>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42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anim calcmode="lin" valueType="num">
                                      <p:cBhvr>
                                        <p:cTn id="31" dur="500" decel="100000" fill="hold"/>
                                        <p:tgtEl>
                                          <p:spTgt spid="31"/>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56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500"/>
                                        <p:tgtEl>
                                          <p:spTgt spid="32"/>
                                        </p:tgtEl>
                                      </p:cBhvr>
                                    </p:animEffect>
                                    <p:anim calcmode="lin" valueType="num">
                                      <p:cBhvr>
                                        <p:cTn id="35" dur="500" decel="100000" fill="hold"/>
                                        <p:tgtEl>
                                          <p:spTgt spid="32"/>
                                        </p:tgtEl>
                                        <p:attrNameLst>
                                          <p:attrName>ppt_y</p:attrName>
                                        </p:attrNameLst>
                                      </p:cBhvr>
                                      <p:tavLst>
                                        <p:tav tm="0">
                                          <p:val>
                                            <p:strVal val="#ppt_y+0.04"/>
                                          </p:val>
                                        </p:tav>
                                        <p:tav tm="100000">
                                          <p:val>
                                            <p:strVal val="#ppt_y"/>
                                          </p:val>
                                        </p:tav>
                                      </p:tavLst>
                                    </p:anim>
                                  </p:childTnLst>
                                </p:cTn>
                              </p:par>
                              <p:par>
                                <p:cTn id="36" presetID="42" presetClass="entr" presetSubtype="0" fill="hold" grpId="0" nodeType="withEffect">
                                  <p:stCondLst>
                                    <p:cond delay="70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anim calcmode="lin" valueType="num">
                                      <p:cBhvr>
                                        <p:cTn id="39" dur="500" decel="100000" fill="hold"/>
                                        <p:tgtEl>
                                          <p:spTgt spid="33"/>
                                        </p:tgtEl>
                                        <p:attrNameLst>
                                          <p:attrName>ppt_y</p:attrName>
                                        </p:attrNameLst>
                                      </p:cBhvr>
                                      <p:tavLst>
                                        <p:tav tm="0">
                                          <p:val>
                                            <p:strVal val="#ppt_y+0.04"/>
                                          </p:val>
                                        </p:tav>
                                        <p:tav tm="100000">
                                          <p:val>
                                            <p:strVal val="#ppt_y"/>
                                          </p:val>
                                        </p:tav>
                                      </p:tavLst>
                                    </p:anim>
                                  </p:childTnLst>
                                </p:cTn>
                              </p:par>
                              <p:par>
                                <p:cTn id="40" presetID="42" presetClass="entr" presetSubtype="0" fill="hold" grpId="0" nodeType="withEffect">
                                  <p:stCondLst>
                                    <p:cond delay="84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500"/>
                                        <p:tgtEl>
                                          <p:spTgt spid="34"/>
                                        </p:tgtEl>
                                      </p:cBhvr>
                                    </p:animEffect>
                                    <p:anim calcmode="lin" valueType="num">
                                      <p:cBhvr>
                                        <p:cTn id="43" dur="500" decel="100000" fill="hold"/>
                                        <p:tgtEl>
                                          <p:spTgt spid="34"/>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98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500"/>
                                        <p:tgtEl>
                                          <p:spTgt spid="35"/>
                                        </p:tgtEl>
                                      </p:cBhvr>
                                    </p:animEffect>
                                    <p:anim calcmode="lin" valueType="num">
                                      <p:cBhvr>
                                        <p:cTn id="47" dur="500" decel="100000" fill="hold"/>
                                        <p:tgtEl>
                                          <p:spTgt spid="35"/>
                                        </p:tgtEl>
                                        <p:attrNameLst>
                                          <p:attrName>ppt_y</p:attrName>
                                        </p:attrNameLst>
                                      </p:cBhvr>
                                      <p:tavLst>
                                        <p:tav tm="0">
                                          <p:val>
                                            <p:strVal val="#ppt_y+0.04"/>
                                          </p:val>
                                        </p:tav>
                                        <p:tav tm="100000">
                                          <p:val>
                                            <p:strVal val="#ppt_y"/>
                                          </p:val>
                                        </p:tav>
                                      </p:tavLst>
                                    </p:anim>
                                  </p:childTnLst>
                                </p:cTn>
                              </p:par>
                              <p:par>
                                <p:cTn id="48" presetID="42" presetClass="entr" presetSubtype="0" fill="hold" grpId="0" nodeType="withEffect">
                                  <p:stCondLst>
                                    <p:cond delay="112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500"/>
                                        <p:tgtEl>
                                          <p:spTgt spid="36"/>
                                        </p:tgtEl>
                                      </p:cBhvr>
                                    </p:animEffect>
                                    <p:anim calcmode="lin" valueType="num">
                                      <p:cBhvr>
                                        <p:cTn id="51" dur="500" decel="100000" fill="hold"/>
                                        <p:tgtEl>
                                          <p:spTgt spid="36"/>
                                        </p:tgtEl>
                                        <p:attrNameLst>
                                          <p:attrName>ppt_y</p:attrName>
                                        </p:attrNameLst>
                                      </p:cBhvr>
                                      <p:tavLst>
                                        <p:tav tm="0">
                                          <p:val>
                                            <p:strVal val="#ppt_y+0.04"/>
                                          </p:val>
                                        </p:tav>
                                        <p:tav tm="100000">
                                          <p:val>
                                            <p:strVal val="#ppt_y"/>
                                          </p:val>
                                        </p:tav>
                                      </p:tavLst>
                                    </p:anim>
                                  </p:childTnLst>
                                </p:cTn>
                              </p:par>
                              <p:par>
                                <p:cTn id="52" presetID="42" presetClass="entr" presetSubtype="0" fill="hold" grpId="0" nodeType="withEffect">
                                  <p:stCondLst>
                                    <p:cond delay="126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500"/>
                                        <p:tgtEl>
                                          <p:spTgt spid="37"/>
                                        </p:tgtEl>
                                      </p:cBhvr>
                                    </p:animEffect>
                                    <p:anim calcmode="lin" valueType="num">
                                      <p:cBhvr>
                                        <p:cTn id="55" dur="500" decel="100000" fill="hold"/>
                                        <p:tgtEl>
                                          <p:spTgt spid="37"/>
                                        </p:tgtEl>
                                        <p:attrNameLst>
                                          <p:attrName>ppt_y</p:attrName>
                                        </p:attrNameLst>
                                      </p:cBhvr>
                                      <p:tavLst>
                                        <p:tav tm="0">
                                          <p:val>
                                            <p:strVal val="#ppt_y+0.04"/>
                                          </p:val>
                                        </p:tav>
                                        <p:tav tm="100000">
                                          <p:val>
                                            <p:strVal val="#ppt_y"/>
                                          </p:val>
                                        </p:tav>
                                      </p:tavLst>
                                    </p:anim>
                                  </p:childTnLst>
                                </p:cTn>
                              </p:par>
                              <p:par>
                                <p:cTn id="56" presetID="42" presetClass="entr" presetSubtype="0" fill="hold" grpId="0" nodeType="withEffect">
                                  <p:stCondLst>
                                    <p:cond delay="140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500"/>
                                        <p:tgtEl>
                                          <p:spTgt spid="38"/>
                                        </p:tgtEl>
                                      </p:cBhvr>
                                    </p:animEffect>
                                    <p:anim calcmode="lin" valueType="num">
                                      <p:cBhvr>
                                        <p:cTn id="59" dur="500" decel="100000" fill="hold"/>
                                        <p:tgtEl>
                                          <p:spTgt spid="3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3355848" y="502920"/>
            <a:ext cx="5486400" cy="274320"/>
          </a:xfrm>
          <a:prstGeom prst="rect">
            <a:avLst/>
          </a:prstGeom>
          <a:noFill/>
          <a:ln/>
        </p:spPr>
        <p:txBody>
          <a:bodyPr wrap="square" lIns="0" tIns="0" rIns="0" bIns="0" rtlCol="0" anchor="t"/>
          <a:lstStyle/>
          <a:p>
            <a:pPr algn="ctr" indent="0" marL="0">
              <a:buNone/>
            </a:pPr>
            <a:r>
              <a:rPr lang="en-US" sz="1200" b="1" spc="200" kern="0" dirty="0">
                <a:solidFill>
                  <a:srgbClr val="C97700"/>
                </a:solidFill>
                <a:latin typeface="Consolas" pitchFamily="34" charset="0"/>
                <a:ea typeface="Consolas" pitchFamily="34" charset="-122"/>
                <a:cs typeface="Consolas" pitchFamily="34" charset="-120"/>
              </a:rPr>
              <a:t>CONTEXTLENS  ·  GROUP 16</a:t>
            </a:r>
            <a:endParaRPr lang="en-US" sz="1200" dirty="0"/>
          </a:p>
        </p:txBody>
      </p:sp>
      <p:sp>
        <p:nvSpPr>
          <p:cNvPr id="3" name="!!title"/>
          <p:cNvSpPr txBox="1"/>
          <p:nvPr/>
        </p:nvSpPr>
        <p:spPr>
          <a:xfrm>
            <a:off x="3813048" y="2331720"/>
            <a:ext cx="4572000" cy="1005840"/>
          </a:xfrm>
          <a:prstGeom prst="rect">
            <a:avLst/>
          </a:prstGeom>
          <a:noFill/>
          <a:ln/>
        </p:spPr>
        <p:txBody>
          <a:bodyPr wrap="square" lIns="0" tIns="0" rIns="0" bIns="0" rtlCol="0" anchor="t"/>
          <a:lstStyle/>
          <a:p>
            <a:pPr algn="ctr" indent="0" marL="0">
              <a:buNone/>
            </a:pPr>
            <a:r>
              <a:rPr lang="en-US" sz="6000" b="1" dirty="0">
                <a:solidFill>
                  <a:srgbClr val="16182B"/>
                </a:solidFill>
                <a:latin typeface="Cambria" pitchFamily="34" charset="0"/>
                <a:ea typeface="Cambria" pitchFamily="34" charset="-122"/>
                <a:cs typeface="Cambria" pitchFamily="34" charset="-120"/>
              </a:rPr>
              <a:t>Thank you</a:t>
            </a:r>
            <a:endParaRPr lang="en-US" sz="6000" dirty="0"/>
          </a:p>
        </p:txBody>
      </p:sp>
      <p:sp>
        <p:nvSpPr>
          <p:cNvPr id="4" name="!!footer"/>
          <p:cNvSpPr txBox="1"/>
          <p:nvPr/>
        </p:nvSpPr>
        <p:spPr>
          <a:xfrm>
            <a:off x="548640" y="6382512"/>
            <a:ext cx="4572000" cy="228600"/>
          </a:xfrm>
          <a:prstGeom prst="rect">
            <a:avLst/>
          </a:prstGeom>
          <a:noFill/>
          <a:ln/>
        </p:spPr>
        <p:txBody>
          <a:bodyPr wrap="square" lIns="0" tIns="0" rIns="0" bIns="0" rtlCol="0" anchor="t"/>
          <a:lstStyle/>
          <a:p>
            <a:pPr indent="0" marL="0">
              <a:buNone/>
            </a:pPr>
            <a:r>
              <a:rPr lang="en-US" sz="1000" dirty="0">
                <a:solidFill>
                  <a:srgbClr val="8A8EA6"/>
                </a:solidFill>
                <a:latin typeface="Calibri" pitchFamily="34" charset="0"/>
                <a:ea typeface="Calibri" pitchFamily="34" charset="-122"/>
                <a:cs typeface="Calibri" pitchFamily="34" charset="-120"/>
              </a:rPr>
              <a:t>ContextLens  ·  M.Tech AIML  ·  Group 16</a:t>
            </a:r>
            <a:endParaRPr lang="en-US" sz="1000" dirty="0"/>
          </a:p>
        </p:txBody>
      </p:sp>
      <p:sp>
        <p:nvSpPr>
          <p:cNvPr id="5" name="!!num"/>
          <p:cNvSpPr txBox="1"/>
          <p:nvPr/>
        </p:nvSpPr>
        <p:spPr>
          <a:xfrm>
            <a:off x="8732520" y="6382512"/>
            <a:ext cx="777240" cy="228600"/>
          </a:xfrm>
          <a:prstGeom prst="rect">
            <a:avLst/>
          </a:prstGeom>
          <a:noFill/>
          <a:ln/>
        </p:spPr>
        <p:txBody>
          <a:bodyPr wrap="square" lIns="0" tIns="0" rIns="0" bIns="0" rtlCol="0" anchor="t"/>
          <a:lstStyle/>
          <a:p>
            <a:pPr algn="r" indent="0" marL="0">
              <a:buNone/>
            </a:pPr>
            <a:r>
              <a:rPr lang="en-US" sz="1000" dirty="0">
                <a:solidFill>
                  <a:srgbClr val="565B75"/>
                </a:solidFill>
                <a:latin typeface="Consolas" pitchFamily="34" charset="0"/>
                <a:ea typeface="Consolas" pitchFamily="34" charset="-122"/>
                <a:cs typeface="Consolas" pitchFamily="34" charset="-120"/>
              </a:rPr>
              <a:t>11 / 11</a:t>
            </a:r>
            <a:endParaRPr lang="en-US" sz="1000" dirty="0"/>
          </a:p>
        </p:txBody>
      </p:sp>
      <p:sp>
        <p:nvSpPr>
          <p:cNvPr id="6" name="!!dot1"/>
          <p:cNvSpPr/>
          <p:nvPr/>
        </p:nvSpPr>
        <p:spPr>
          <a:xfrm>
            <a:off x="9646920" y="6451092"/>
            <a:ext cx="91440" cy="91440"/>
          </a:xfrm>
          <a:prstGeom prst="roundRect">
            <a:avLst>
              <a:gd name="adj" fmla="val 50000"/>
            </a:avLst>
          </a:prstGeom>
          <a:solidFill>
            <a:srgbClr val="C97700">
              <a:alpha val="45000"/>
            </a:srgbClr>
          </a:solidFill>
          <a:ln/>
        </p:spPr>
      </p:sp>
      <p:sp>
        <p:nvSpPr>
          <p:cNvPr id="7" name="!!dot2"/>
          <p:cNvSpPr/>
          <p:nvPr/>
        </p:nvSpPr>
        <p:spPr>
          <a:xfrm>
            <a:off x="9829800" y="6451092"/>
            <a:ext cx="91440" cy="91440"/>
          </a:xfrm>
          <a:prstGeom prst="roundRect">
            <a:avLst>
              <a:gd name="adj" fmla="val 50000"/>
            </a:avLst>
          </a:prstGeom>
          <a:solidFill>
            <a:srgbClr val="C97700">
              <a:alpha val="45000"/>
            </a:srgbClr>
          </a:solidFill>
          <a:ln/>
        </p:spPr>
      </p:sp>
      <p:sp>
        <p:nvSpPr>
          <p:cNvPr id="8" name="!!dot3"/>
          <p:cNvSpPr/>
          <p:nvPr/>
        </p:nvSpPr>
        <p:spPr>
          <a:xfrm>
            <a:off x="10012680" y="6451092"/>
            <a:ext cx="91440" cy="91440"/>
          </a:xfrm>
          <a:prstGeom prst="roundRect">
            <a:avLst>
              <a:gd name="adj" fmla="val 50000"/>
            </a:avLst>
          </a:prstGeom>
          <a:solidFill>
            <a:srgbClr val="C97700">
              <a:alpha val="45000"/>
            </a:srgbClr>
          </a:solidFill>
          <a:ln/>
        </p:spPr>
      </p:sp>
      <p:sp>
        <p:nvSpPr>
          <p:cNvPr id="9" name="!!dot4"/>
          <p:cNvSpPr/>
          <p:nvPr/>
        </p:nvSpPr>
        <p:spPr>
          <a:xfrm>
            <a:off x="10195560" y="6451092"/>
            <a:ext cx="91440" cy="91440"/>
          </a:xfrm>
          <a:prstGeom prst="roundRect">
            <a:avLst>
              <a:gd name="adj" fmla="val 50000"/>
            </a:avLst>
          </a:prstGeom>
          <a:solidFill>
            <a:srgbClr val="C97700">
              <a:alpha val="45000"/>
            </a:srgbClr>
          </a:solidFill>
          <a:ln/>
        </p:spPr>
      </p:sp>
      <p:sp>
        <p:nvSpPr>
          <p:cNvPr id="10" name="!!dot5"/>
          <p:cNvSpPr/>
          <p:nvPr/>
        </p:nvSpPr>
        <p:spPr>
          <a:xfrm>
            <a:off x="10378440" y="6451092"/>
            <a:ext cx="91440" cy="91440"/>
          </a:xfrm>
          <a:prstGeom prst="roundRect">
            <a:avLst>
              <a:gd name="adj" fmla="val 50000"/>
            </a:avLst>
          </a:prstGeom>
          <a:solidFill>
            <a:srgbClr val="C97700">
              <a:alpha val="45000"/>
            </a:srgbClr>
          </a:solidFill>
          <a:ln/>
        </p:spPr>
      </p:sp>
      <p:sp>
        <p:nvSpPr>
          <p:cNvPr id="11" name="!!dot6"/>
          <p:cNvSpPr/>
          <p:nvPr/>
        </p:nvSpPr>
        <p:spPr>
          <a:xfrm>
            <a:off x="10561320" y="6451092"/>
            <a:ext cx="91440" cy="91440"/>
          </a:xfrm>
          <a:prstGeom prst="roundRect">
            <a:avLst>
              <a:gd name="adj" fmla="val 50000"/>
            </a:avLst>
          </a:prstGeom>
          <a:solidFill>
            <a:srgbClr val="C97700">
              <a:alpha val="45000"/>
            </a:srgbClr>
          </a:solidFill>
          <a:ln/>
        </p:spPr>
      </p:sp>
      <p:sp>
        <p:nvSpPr>
          <p:cNvPr id="12" name="!!dot7"/>
          <p:cNvSpPr/>
          <p:nvPr/>
        </p:nvSpPr>
        <p:spPr>
          <a:xfrm>
            <a:off x="10744200" y="6451092"/>
            <a:ext cx="91440" cy="91440"/>
          </a:xfrm>
          <a:prstGeom prst="roundRect">
            <a:avLst>
              <a:gd name="adj" fmla="val 50000"/>
            </a:avLst>
          </a:prstGeom>
          <a:solidFill>
            <a:srgbClr val="C97700">
              <a:alpha val="45000"/>
            </a:srgbClr>
          </a:solidFill>
          <a:ln/>
        </p:spPr>
      </p:sp>
      <p:sp>
        <p:nvSpPr>
          <p:cNvPr id="13" name="!!dot8"/>
          <p:cNvSpPr/>
          <p:nvPr/>
        </p:nvSpPr>
        <p:spPr>
          <a:xfrm>
            <a:off x="10927080" y="6451092"/>
            <a:ext cx="91440" cy="91440"/>
          </a:xfrm>
          <a:prstGeom prst="roundRect">
            <a:avLst>
              <a:gd name="adj" fmla="val 50000"/>
            </a:avLst>
          </a:prstGeom>
          <a:solidFill>
            <a:srgbClr val="C97700">
              <a:alpha val="45000"/>
            </a:srgbClr>
          </a:solidFill>
          <a:ln/>
        </p:spPr>
      </p:sp>
      <p:sp>
        <p:nvSpPr>
          <p:cNvPr id="14" name="!!dot9"/>
          <p:cNvSpPr/>
          <p:nvPr/>
        </p:nvSpPr>
        <p:spPr>
          <a:xfrm>
            <a:off x="11109960" y="6451092"/>
            <a:ext cx="91440" cy="91440"/>
          </a:xfrm>
          <a:prstGeom prst="roundRect">
            <a:avLst>
              <a:gd name="adj" fmla="val 50000"/>
            </a:avLst>
          </a:prstGeom>
          <a:solidFill>
            <a:srgbClr val="C97700">
              <a:alpha val="45000"/>
            </a:srgbClr>
          </a:solidFill>
          <a:ln/>
        </p:spPr>
      </p:sp>
      <p:sp>
        <p:nvSpPr>
          <p:cNvPr id="15" name="!!dot10"/>
          <p:cNvSpPr/>
          <p:nvPr/>
        </p:nvSpPr>
        <p:spPr>
          <a:xfrm>
            <a:off x="11292840" y="6451092"/>
            <a:ext cx="91440" cy="91440"/>
          </a:xfrm>
          <a:prstGeom prst="roundRect">
            <a:avLst>
              <a:gd name="adj" fmla="val 50000"/>
            </a:avLst>
          </a:prstGeom>
          <a:solidFill>
            <a:srgbClr val="C97700">
              <a:alpha val="45000"/>
            </a:srgbClr>
          </a:solidFill>
          <a:ln/>
        </p:spPr>
      </p:sp>
      <p:sp>
        <p:nvSpPr>
          <p:cNvPr id="16" name="!!dot11"/>
          <p:cNvSpPr/>
          <p:nvPr/>
        </p:nvSpPr>
        <p:spPr>
          <a:xfrm>
            <a:off x="11475720" y="6451092"/>
            <a:ext cx="365760" cy="91440"/>
          </a:xfrm>
          <a:prstGeom prst="roundRect">
            <a:avLst>
              <a:gd name="adj" fmla="val 50000"/>
            </a:avLst>
          </a:prstGeom>
          <a:solidFill>
            <a:srgbClr val="C97700"/>
          </a:solidFill>
          <a:ln/>
        </p:spPr>
      </p:sp>
      <p:sp>
        <p:nvSpPr>
          <p:cNvPr id="17" name="!!lensGlow"/>
          <p:cNvSpPr/>
          <p:nvPr/>
        </p:nvSpPr>
        <p:spPr>
          <a:xfrm>
            <a:off x="4374490" y="1338682"/>
            <a:ext cx="3449117" cy="3449117"/>
          </a:xfrm>
          <a:prstGeom prst="ellipse">
            <a:avLst/>
          </a:prstGeom>
          <a:solidFill>
            <a:srgbClr val="C97700">
              <a:alpha val="14000"/>
            </a:srgbClr>
          </a:solidFill>
          <a:ln/>
        </p:spPr>
      </p:sp>
      <p:sp>
        <p:nvSpPr>
          <p:cNvPr id="18" name="!!lensInner"/>
          <p:cNvSpPr/>
          <p:nvPr/>
        </p:nvSpPr>
        <p:spPr>
          <a:xfrm>
            <a:off x="4710989" y="1675181"/>
            <a:ext cx="2776118" cy="2776118"/>
          </a:xfrm>
          <a:prstGeom prst="ellipse">
            <a:avLst/>
          </a:prstGeom>
          <a:ln w="12700">
            <a:solidFill>
              <a:srgbClr val="0E9C86">
                <a:alpha val="45000"/>
              </a:srgbClr>
            </a:solidFill>
            <a:prstDash val="solid"/>
          </a:ln>
        </p:spPr>
      </p:sp>
      <p:sp>
        <p:nvSpPr>
          <p:cNvPr id="19" name="!!lensRing"/>
          <p:cNvSpPr/>
          <p:nvPr/>
        </p:nvSpPr>
        <p:spPr>
          <a:xfrm>
            <a:off x="3995928" y="960120"/>
            <a:ext cx="4206240" cy="4206240"/>
          </a:xfrm>
          <a:prstGeom prst="ellipse">
            <a:avLst/>
          </a:prstGeom>
          <a:ln w="38100">
            <a:solidFill>
              <a:srgbClr val="C97700"/>
            </a:solidFill>
            <a:prstDash val="solid"/>
          </a:ln>
        </p:spPr>
      </p:sp>
      <p:sp>
        <p:nvSpPr>
          <p:cNvPr id="20" name="!!lensGlint"/>
          <p:cNvSpPr/>
          <p:nvPr/>
        </p:nvSpPr>
        <p:spPr>
          <a:xfrm>
            <a:off x="7438960" y="1428891"/>
            <a:ext cx="294437" cy="294437"/>
          </a:xfrm>
          <a:prstGeom prst="ellipse">
            <a:avLst/>
          </a:prstGeom>
          <a:solidFill>
            <a:srgbClr val="C97700"/>
          </a:solidFill>
          <a:ln/>
        </p:spPr>
      </p:sp>
      <p:sp>
        <p:nvSpPr>
          <p:cNvPr id="21" name="tyQ"/>
          <p:cNvSpPr txBox="1"/>
          <p:nvPr/>
        </p:nvSpPr>
        <p:spPr>
          <a:xfrm>
            <a:off x="4270248" y="3383280"/>
            <a:ext cx="3657600" cy="457200"/>
          </a:xfrm>
          <a:prstGeom prst="rect">
            <a:avLst/>
          </a:prstGeom>
          <a:noFill/>
          <a:ln/>
        </p:spPr>
        <p:txBody>
          <a:bodyPr wrap="square" lIns="0" tIns="0" rIns="0" bIns="0" rtlCol="0" anchor="t"/>
          <a:lstStyle/>
          <a:p>
            <a:pPr algn="ctr" indent="0" marL="0">
              <a:buNone/>
            </a:pPr>
            <a:r>
              <a:rPr lang="en-US" sz="2400" i="1" dirty="0">
                <a:solidFill>
                  <a:srgbClr val="C97700"/>
                </a:solidFill>
                <a:latin typeface="Cambria" pitchFamily="34" charset="0"/>
                <a:ea typeface="Cambria" pitchFamily="34" charset="-122"/>
                <a:cs typeface="Cambria" pitchFamily="34" charset="-120"/>
              </a:rPr>
              <a:t>Questions?</a:t>
            </a:r>
            <a:endParaRPr lang="en-US" sz="2400" dirty="0"/>
          </a:p>
        </p:txBody>
      </p:sp>
      <p:sp>
        <p:nvSpPr>
          <p:cNvPr id="22" name="tyK"/>
          <p:cNvSpPr txBox="1"/>
          <p:nvPr/>
        </p:nvSpPr>
        <p:spPr>
          <a:xfrm>
            <a:off x="4270248" y="3931920"/>
            <a:ext cx="3657600" cy="274320"/>
          </a:xfrm>
          <a:prstGeom prst="rect">
            <a:avLst/>
          </a:prstGeom>
          <a:noFill/>
          <a:ln/>
        </p:spPr>
        <p:txBody>
          <a:bodyPr wrap="square" lIns="0" tIns="0" rIns="0" bIns="0" rtlCol="0" anchor="t"/>
          <a:lstStyle/>
          <a:p>
            <a:pPr algn="ctr" indent="0" marL="0">
              <a:buNone/>
            </a:pPr>
            <a:r>
              <a:rPr lang="en-US" sz="1300" dirty="0">
                <a:solidFill>
                  <a:srgbClr val="565B75"/>
                </a:solidFill>
                <a:latin typeface="Calibri" pitchFamily="34" charset="0"/>
                <a:ea typeface="Calibri" pitchFamily="34" charset="-122"/>
                <a:cs typeface="Calibri" pitchFamily="34" charset="-120"/>
              </a:rPr>
              <a:t>K is a hyperparameter: tune it, don't maximise it</a:t>
            </a:r>
            <a:endParaRPr lang="en-US" sz="1300" dirty="0"/>
          </a:p>
        </p:txBody>
      </p:sp>
      <p:sp>
        <p:nvSpPr>
          <p:cNvPr id="23" name="!!k1"/>
          <p:cNvSpPr/>
          <p:nvPr/>
        </p:nvSpPr>
        <p:spPr>
          <a:xfrm>
            <a:off x="2514600" y="1417320"/>
            <a:ext cx="1097280" cy="47548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500" b="1" dirty="0">
                <a:solidFill>
                  <a:srgbClr val="C97700"/>
                </a:solidFill>
                <a:latin typeface="Consolas" pitchFamily="34" charset="0"/>
                <a:ea typeface="Consolas" pitchFamily="34" charset="-122"/>
                <a:cs typeface="Consolas" pitchFamily="34" charset="-120"/>
              </a:rPr>
              <a:t>K = 1</a:t>
            </a:r>
            <a:endParaRPr lang="en-US" sz="1500" dirty="0"/>
          </a:p>
        </p:txBody>
      </p:sp>
      <p:sp>
        <p:nvSpPr>
          <p:cNvPr id="24" name="!!k3"/>
          <p:cNvSpPr/>
          <p:nvPr/>
        </p:nvSpPr>
        <p:spPr>
          <a:xfrm>
            <a:off x="8595360" y="1417320"/>
            <a:ext cx="1097280" cy="475488"/>
          </a:xfrm>
          <a:prstGeom prst="roundRect">
            <a:avLst>
              <a:gd name="adj" fmla="val 50000"/>
            </a:avLst>
          </a:prstGeom>
          <a:solidFill>
            <a:srgbClr val="C97700"/>
          </a:solidFill>
          <a:ln w="12700">
            <a:solidFill>
              <a:srgbClr val="C97700"/>
            </a:solid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K = 3</a:t>
            </a:r>
            <a:endParaRPr lang="en-US" sz="1500" dirty="0"/>
          </a:p>
        </p:txBody>
      </p:sp>
      <p:sp>
        <p:nvSpPr>
          <p:cNvPr id="25" name="!!k5"/>
          <p:cNvSpPr/>
          <p:nvPr/>
        </p:nvSpPr>
        <p:spPr>
          <a:xfrm>
            <a:off x="2514600" y="4251960"/>
            <a:ext cx="1097280" cy="475488"/>
          </a:xfrm>
          <a:prstGeom prst="roundRect">
            <a:avLst>
              <a:gd name="adj" fmla="val 50000"/>
            </a:avLst>
          </a:prstGeom>
          <a:solidFill>
            <a:srgbClr val="C97700"/>
          </a:solidFill>
          <a:ln w="12700">
            <a:solidFill>
              <a:srgbClr val="C97700"/>
            </a:solid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K = 5</a:t>
            </a:r>
            <a:endParaRPr lang="en-US" sz="1500" dirty="0"/>
          </a:p>
        </p:txBody>
      </p:sp>
      <p:sp>
        <p:nvSpPr>
          <p:cNvPr id="26" name="!!k10"/>
          <p:cNvSpPr/>
          <p:nvPr/>
        </p:nvSpPr>
        <p:spPr>
          <a:xfrm>
            <a:off x="8595360" y="4251960"/>
            <a:ext cx="1097280" cy="475488"/>
          </a:xfrm>
          <a:prstGeom prst="roundRect">
            <a:avLst>
              <a:gd name="adj" fmla="val 50000"/>
            </a:avLst>
          </a:prstGeom>
          <a:solidFill>
            <a:srgbClr val="EEF0F7"/>
          </a:solidFill>
          <a:ln w="12700">
            <a:solidFill>
              <a:srgbClr val="C97700"/>
            </a:solidFill>
          </a:ln>
        </p:spPr>
        <p:txBody>
          <a:bodyPr wrap="square" lIns="0" tIns="0" rIns="0" bIns="0" rtlCol="0" anchor="ctr"/>
          <a:lstStyle/>
          <a:p>
            <a:pPr algn="ctr" indent="0" marL="0">
              <a:buNone/>
            </a:pPr>
            <a:r>
              <a:rPr lang="en-US" sz="1500" b="1" dirty="0">
                <a:solidFill>
                  <a:srgbClr val="C97700"/>
                </a:solidFill>
                <a:latin typeface="Consolas" pitchFamily="34" charset="0"/>
                <a:ea typeface="Consolas" pitchFamily="34" charset="-122"/>
                <a:cs typeface="Consolas" pitchFamily="34" charset="-120"/>
              </a:rPr>
              <a:t>K = 10</a:t>
            </a:r>
            <a:endParaRPr lang="en-US" sz="1500" dirty="0"/>
          </a:p>
        </p:txBody>
      </p:sp>
      <p:sp>
        <p:nvSpPr>
          <p:cNvPr id="27" name="tyLink0"/>
          <p:cNvSpPr/>
          <p:nvPr/>
        </p:nvSpPr>
        <p:spPr>
          <a:xfrm>
            <a:off x="3611880" y="1655064"/>
            <a:ext cx="685800" cy="0"/>
          </a:xfrm>
          <a:prstGeom prst="line">
            <a:avLst/>
          </a:prstGeom>
          <a:noFill/>
          <a:ln w="12700">
            <a:solidFill>
              <a:srgbClr val="C97700">
                <a:alpha val="60000"/>
              </a:srgbClr>
            </a:solidFill>
            <a:prstDash val="dash"/>
          </a:ln>
        </p:spPr>
      </p:sp>
      <p:sp>
        <p:nvSpPr>
          <p:cNvPr id="28" name="tyLink1"/>
          <p:cNvSpPr/>
          <p:nvPr/>
        </p:nvSpPr>
        <p:spPr>
          <a:xfrm>
            <a:off x="7882128" y="1655064"/>
            <a:ext cx="713232" cy="0"/>
          </a:xfrm>
          <a:prstGeom prst="line">
            <a:avLst/>
          </a:prstGeom>
          <a:noFill/>
          <a:ln w="12700">
            <a:solidFill>
              <a:srgbClr val="C97700">
                <a:alpha val="60000"/>
              </a:srgbClr>
            </a:solidFill>
            <a:prstDash val="dash"/>
          </a:ln>
        </p:spPr>
      </p:sp>
      <p:sp>
        <p:nvSpPr>
          <p:cNvPr id="29" name="tyLink2"/>
          <p:cNvSpPr/>
          <p:nvPr/>
        </p:nvSpPr>
        <p:spPr>
          <a:xfrm>
            <a:off x="3611880" y="4489704"/>
            <a:ext cx="685800" cy="0"/>
          </a:xfrm>
          <a:prstGeom prst="line">
            <a:avLst/>
          </a:prstGeom>
          <a:noFill/>
          <a:ln w="12700">
            <a:solidFill>
              <a:srgbClr val="C97700">
                <a:alpha val="60000"/>
              </a:srgbClr>
            </a:solidFill>
            <a:prstDash val="dash"/>
          </a:ln>
        </p:spPr>
      </p:sp>
      <p:sp>
        <p:nvSpPr>
          <p:cNvPr id="30" name="tyLink3"/>
          <p:cNvSpPr/>
          <p:nvPr/>
        </p:nvSpPr>
        <p:spPr>
          <a:xfrm>
            <a:off x="7882128" y="4489704"/>
            <a:ext cx="713232" cy="0"/>
          </a:xfrm>
          <a:prstGeom prst="line">
            <a:avLst/>
          </a:prstGeom>
          <a:noFill/>
          <a:ln w="12700">
            <a:solidFill>
              <a:srgbClr val="C97700">
                <a:alpha val="60000"/>
              </a:srgbClr>
            </a:solidFill>
            <a:prstDash val="dash"/>
          </a:ln>
        </p:spPr>
      </p:sp>
      <p:sp>
        <p:nvSpPr>
          <p:cNvPr id="31" name="tyTeam"/>
          <p:cNvSpPr txBox="1"/>
          <p:nvPr/>
        </p:nvSpPr>
        <p:spPr>
          <a:xfrm>
            <a:off x="2898648" y="5394960"/>
            <a:ext cx="6400800" cy="365760"/>
          </a:xfrm>
          <a:prstGeom prst="rect">
            <a:avLst/>
          </a:prstGeom>
          <a:noFill/>
          <a:ln/>
        </p:spPr>
        <p:txBody>
          <a:bodyPr wrap="square" lIns="0" tIns="0" rIns="0" bIns="0" rtlCol="0" anchor="t"/>
          <a:lstStyle/>
          <a:p>
            <a:pPr algn="ctr" indent="0" marL="0">
              <a:buNone/>
            </a:pPr>
            <a:r>
              <a:rPr lang="en-US" sz="1800" b="1" dirty="0">
                <a:solidFill>
                  <a:srgbClr val="16182B"/>
                </a:solidFill>
                <a:latin typeface="Calibri" pitchFamily="34" charset="0"/>
                <a:ea typeface="Calibri" pitchFamily="34" charset="-122"/>
                <a:cs typeface="Calibri" pitchFamily="34" charset="-120"/>
              </a:rPr>
              <a:t>Tarang Kumar   ·   Inderneel Saunik</a:t>
            </a:r>
            <a:endParaRPr lang="en-US" sz="1800" dirty="0"/>
          </a:p>
        </p:txBody>
      </p:sp>
      <p:sp>
        <p:nvSpPr>
          <p:cNvPr id="32" name="tyRepo">
            <a:hlinkClick r:id="rId1" tooltip=""/>
          </p:cNvPr>
          <p:cNvSpPr txBox="1"/>
          <p:nvPr/>
        </p:nvSpPr>
        <p:spPr>
          <a:xfrm>
            <a:off x="2898648" y="5806440"/>
            <a:ext cx="6400800" cy="274320"/>
          </a:xfrm>
          <a:prstGeom prst="rect">
            <a:avLst/>
          </a:prstGeom>
          <a:noFill/>
          <a:ln/>
        </p:spPr>
        <p:txBody>
          <a:bodyPr wrap="square" lIns="0" tIns="0" rIns="0" bIns="0" rtlCol="0" anchor="t"/>
          <a:lstStyle/>
          <a:p>
            <a:pPr algn="ctr" indent="0" marL="0">
              <a:buNone/>
            </a:pPr>
            <a:r>
              <a:rPr lang="en-US" sz="1200" u="sng" dirty="0">
                <a:solidFill>
                  <a:srgbClr val="565B75"/>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github.com/taranggg/MTech-AIML-Project_16_ContextLens</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6" fill="hold">
                            <p:stCondLst>
                              <p:cond delay="0"/>
                            </p:stCondLst>
                            <p:childTnLst>
                              <p:par>
                                <p:cTn id="4" presetID="42"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00"/>
                                        <p:tgtEl>
                                          <p:spTgt spid="21"/>
                                        </p:tgtEl>
                                      </p:cBhvr>
                                    </p:animEffect>
                                    <p:anim calcmode="lin" valueType="num">
                                      <p:cBhvr>
                                        <p:cTn id="7" dur="500" decel="100000" fill="hold"/>
                                        <p:tgtEl>
                                          <p:spTgt spid="21"/>
                                        </p:tgtEl>
                                        <p:attrNameLst>
                                          <p:attrName>ppt_y</p:attrName>
                                        </p:attrNameLst>
                                      </p:cBhvr>
                                      <p:tavLst>
                                        <p:tav tm="0">
                                          <p:val>
                                            <p:strVal val="#ppt_y+0.04"/>
                                          </p:val>
                                        </p:tav>
                                        <p:tav tm="100000">
                                          <p:val>
                                            <p:strVal val="#ppt_y"/>
                                          </p:val>
                                        </p:tav>
                                      </p:tavLst>
                                    </p:anim>
                                  </p:childTnLst>
                                </p:cTn>
                              </p:par>
                              <p:par>
                                <p:cTn id="8" presetID="42" presetClass="entr" presetSubtype="0" fill="hold" grpId="0" nodeType="withEffect">
                                  <p:stCondLst>
                                    <p:cond delay="14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anim calcmode="lin" valueType="num">
                                      <p:cBhvr>
                                        <p:cTn id="11" dur="500" decel="100000" fill="hold"/>
                                        <p:tgtEl>
                                          <p:spTgt spid="22"/>
                                        </p:tgtEl>
                                        <p:attrNameLst>
                                          <p:attrName>ppt_y</p:attrName>
                                        </p:attrNameLst>
                                      </p:cBhvr>
                                      <p:tavLst>
                                        <p:tav tm="0">
                                          <p:val>
                                            <p:strVal val="#ppt_y+0.04"/>
                                          </p:val>
                                        </p:tav>
                                        <p:tav tm="100000">
                                          <p:val>
                                            <p:strVal val="#ppt_y"/>
                                          </p:val>
                                        </p:tav>
                                      </p:tavLst>
                                    </p:anim>
                                  </p:childTnLst>
                                </p:cTn>
                              </p:par>
                              <p:par>
                                <p:cTn id="12" presetID="42" presetClass="entr" presetSubtype="0" fill="hold" grpId="0" nodeType="withEffect">
                                  <p:stCondLst>
                                    <p:cond delay="28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500"/>
                                        <p:tgtEl>
                                          <p:spTgt spid="27"/>
                                        </p:tgtEl>
                                      </p:cBhvr>
                                    </p:animEffect>
                                    <p:anim calcmode="lin" valueType="num">
                                      <p:cBhvr>
                                        <p:cTn id="15" dur="500" decel="100000" fill="hold"/>
                                        <p:tgtEl>
                                          <p:spTgt spid="27"/>
                                        </p:tgtEl>
                                        <p:attrNameLst>
                                          <p:attrName>ppt_y</p:attrName>
                                        </p:attrNameLst>
                                      </p:cBhvr>
                                      <p:tavLst>
                                        <p:tav tm="0">
                                          <p:val>
                                            <p:strVal val="#ppt_y+0.04"/>
                                          </p:val>
                                        </p:tav>
                                        <p:tav tm="100000">
                                          <p:val>
                                            <p:strVal val="#ppt_y"/>
                                          </p:val>
                                        </p:tav>
                                      </p:tavLst>
                                    </p:anim>
                                  </p:childTnLst>
                                </p:cTn>
                              </p:par>
                              <p:par>
                                <p:cTn id="16" presetID="42" presetClass="entr" presetSubtype="0" fill="hold" grpId="0" nodeType="withEffect">
                                  <p:stCondLst>
                                    <p:cond delay="28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anim calcmode="lin" valueType="num">
                                      <p:cBhvr>
                                        <p:cTn id="19" dur="500" decel="100000" fill="hold"/>
                                        <p:tgtEl>
                                          <p:spTgt spid="28"/>
                                        </p:tgtEl>
                                        <p:attrNameLst>
                                          <p:attrName>ppt_y</p:attrName>
                                        </p:attrNameLst>
                                      </p:cBhvr>
                                      <p:tavLst>
                                        <p:tav tm="0">
                                          <p:val>
                                            <p:strVal val="#ppt_y+0.04"/>
                                          </p:val>
                                        </p:tav>
                                        <p:tav tm="100000">
                                          <p:val>
                                            <p:strVal val="#ppt_y"/>
                                          </p:val>
                                        </p:tav>
                                      </p:tavLst>
                                    </p:anim>
                                  </p:childTnLst>
                                </p:cTn>
                              </p:par>
                              <p:par>
                                <p:cTn id="20" presetID="42" presetClass="entr" presetSubtype="0" fill="hold" grpId="0" nodeType="withEffect">
                                  <p:stCondLst>
                                    <p:cond delay="28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anim calcmode="lin" valueType="num">
                                      <p:cBhvr>
                                        <p:cTn id="23" dur="500" decel="100000" fill="hold"/>
                                        <p:tgtEl>
                                          <p:spTgt spid="29"/>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28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anim calcmode="lin" valueType="num">
                                      <p:cBhvr>
                                        <p:cTn id="27" dur="500" decel="100000" fill="hold"/>
                                        <p:tgtEl>
                                          <p:spTgt spid="30"/>
                                        </p:tgtEl>
                                        <p:attrNameLst>
                                          <p:attrName>ppt_y</p:attrName>
                                        </p:attrNameLst>
                                      </p:cBhvr>
                                      <p:tavLst>
                                        <p:tav tm="0">
                                          <p:val>
                                            <p:strVal val="#ppt_y+0.04"/>
                                          </p:val>
                                        </p:tav>
                                        <p:tav tm="100000">
                                          <p:val>
                                            <p:strVal val="#ppt_y"/>
                                          </p:val>
                                        </p:tav>
                                      </p:tavLst>
                                    </p:anim>
                                  </p:childTnLst>
                                </p:cTn>
                              </p:par>
                              <p:par>
                                <p:cTn id="28" presetID="42" presetClass="entr" presetSubtype="0" fill="hold" grpId="0" nodeType="withEffect">
                                  <p:stCondLst>
                                    <p:cond delay="42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anim calcmode="lin" valueType="num">
                                      <p:cBhvr>
                                        <p:cTn id="31" dur="500" decel="100000" fill="hold"/>
                                        <p:tgtEl>
                                          <p:spTgt spid="31"/>
                                        </p:tgtEl>
                                        <p:attrNameLst>
                                          <p:attrName>ppt_y</p:attrName>
                                        </p:attrNameLst>
                                      </p:cBhvr>
                                      <p:tavLst>
                                        <p:tav tm="0">
                                          <p:val>
                                            <p:strVal val="#ppt_y+0.04"/>
                                          </p:val>
                                        </p:tav>
                                        <p:tav tm="100000">
                                          <p:val>
                                            <p:strVal val="#ppt_y"/>
                                          </p:val>
                                        </p:tav>
                                      </p:tavLst>
                                    </p:anim>
                                  </p:childTnLst>
                                </p:cTn>
                              </p:par>
                              <p:par>
                                <p:cTn id="32" presetID="42" presetClass="entr" presetSubtype="0" fill="hold" grpId="0" nodeType="withEffect">
                                  <p:stCondLst>
                                    <p:cond delay="56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500"/>
                                        <p:tgtEl>
                                          <p:spTgt spid="32"/>
                                        </p:tgtEl>
                                      </p:cBhvr>
                                    </p:animEffect>
                                    <p:anim calcmode="lin" valueType="num">
                                      <p:cBhvr>
                                        <p:cTn id="35" dur="500" decel="100000" fill="hold"/>
                                        <p:tgtEl>
                                          <p:spTgt spid="3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7" grpId="0" animBg="1"/>
      <p:bldP spid="28" grpId="0" animBg="1"/>
      <p:bldP spid="29" grpId="0" animBg="1"/>
      <p:bldP spid="30" grpId="0" animBg="1"/>
      <p:bldP spid="31" grpId="0" animBg="1"/>
      <p:bldP spid="32" grpId="0" animBg="1"/>
    </p:bldLst>
  </p:timing>
</p:sld>
</file>

<file path=ppt/theme/theme1.xml><?xml version="1.0" encoding="utf-8"?>
<a:theme xmlns:a="http://schemas.openxmlformats.org/drawingml/2006/main" name="ContextLens">
  <a:themeElements>
    <a:clrScheme name="ContextLens">
      <a:dk1>
        <a:srgbClr val="16182B"/>
      </a:dk1>
      <a:lt1>
        <a:srgbClr val="FFFFFF"/>
      </a:lt1>
      <a:dk2>
        <a:srgbClr val="565B75"/>
      </a:dk2>
      <a:lt2>
        <a:srgbClr val="F5F6FA"/>
      </a:lt2>
      <a:accent1>
        <a:srgbClr val="C97700"/>
      </a:accent1>
      <a:accent2>
        <a:srgbClr val="0E9C86"/>
      </a:accent2>
      <a:accent3>
        <a:srgbClr val="7656E0"/>
      </a:accent3>
      <a:accent4>
        <a:srgbClr val="E0474C"/>
      </a:accent4>
      <a:accent5>
        <a:srgbClr val="94A3B8"/>
      </a:accent5>
      <a:accent6>
        <a:srgbClr val="5C6390"/>
      </a:accent6>
      <a:hlink>
        <a:srgbClr val="0E9C86"/>
      </a:hlink>
      <a:folHlink>
        <a:srgbClr val="7656E0"/>
      </a:folHlink>
    </a:clrScheme>
    <a:fontScheme name="ContextLe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M.Tech AIML — Group 16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ContextLens — Does More Context Make RAG Smarter?</dc:title>
  <dc:subject>PptxGenJS Presentation</dc:subject>
  <dc:creator>Tarang Kumar, Inderneel Saunik</dc:creator>
  <cp:lastModifiedBy>Tarang Kumar, Inderneel Saunik</cp:lastModifiedBy>
  <cp:revision>1</cp:revision>
  <dcterms:created xsi:type="dcterms:W3CDTF">2026-10-20T13:15:10Z</dcterms:created>
  <dcterms:modified xsi:type="dcterms:W3CDTF">2026-10-20T13:15:10Z</dcterms:modified>
</cp:coreProperties>
</file>